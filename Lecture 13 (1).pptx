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40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8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7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5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1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6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0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05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0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86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93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8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04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1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A72522E-ADF5-4C39-B302-A7CB76F9D3C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02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Semester II</a:t>
            </a:r>
            <a:br>
              <a:rPr lang="en-US" dirty="0" smtClean="0"/>
            </a:br>
            <a:r>
              <a:rPr lang="en-US" dirty="0" smtClean="0"/>
              <a:t>Lecturer: Sir </a:t>
            </a:r>
            <a:r>
              <a:rPr lang="en-US" dirty="0" err="1" smtClean="0"/>
              <a:t>Talha</a:t>
            </a:r>
            <a:r>
              <a:rPr lang="en-US" dirty="0" smtClean="0"/>
              <a:t> </a:t>
            </a:r>
            <a:r>
              <a:rPr lang="en-US" dirty="0" err="1" smtClean="0"/>
              <a:t>Ghouri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5343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Abstract Base Classes using ABC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-1" y="769441"/>
            <a:ext cx="1196447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An Abstract Base Class (ABC) is a class that cannot be used to create objects directly.</a:t>
            </a:r>
          </a:p>
          <a:p>
            <a:r>
              <a:rPr lang="en-US" sz="2200" b="1" dirty="0"/>
              <a:t>It is used as a blueprint for other classes.</a:t>
            </a:r>
          </a:p>
          <a:p>
            <a:r>
              <a:rPr lang="en-US" sz="2200" b="1" dirty="0"/>
              <a:t>Abstract classes define: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common structure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required methods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rules for child classes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030119"/>
            <a:ext cx="6096000" cy="22929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Why Use Abstract Base Classes?</a:t>
            </a:r>
          </a:p>
          <a:p>
            <a:r>
              <a:rPr lang="en-US" sz="2200" b="1" dirty="0"/>
              <a:t>Abstract classes help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enforce method implementation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provide common design structure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support polymorphism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improve code organization</a:t>
            </a:r>
          </a:p>
        </p:txBody>
      </p:sp>
    </p:spTree>
    <p:extLst>
      <p:ext uri="{BB962C8B-B14F-4D97-AF65-F5344CB8AC3E}">
        <p14:creationId xmlns:p14="http://schemas.microsoft.com/office/powerpoint/2010/main" val="1838440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7647"/>
            <a:ext cx="554029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Importing ABC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97088"/>
            <a:ext cx="424404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To create an abstract class, import: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04919"/>
            <a:ext cx="463678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/>
              <a:t>Syntax</a:t>
            </a:r>
          </a:p>
          <a:p>
            <a:r>
              <a:rPr lang="en-US" sz="2200" b="1" dirty="0" smtClean="0"/>
              <a:t>from </a:t>
            </a:r>
            <a:r>
              <a:rPr lang="en-US" sz="2200" b="1" dirty="0" err="1"/>
              <a:t>abc</a:t>
            </a:r>
            <a:r>
              <a:rPr lang="en-US" sz="2200" b="1" dirty="0"/>
              <a:t> import ABC, </a:t>
            </a:r>
            <a:r>
              <a:rPr lang="en-US" sz="2200" b="1" dirty="0" err="1"/>
              <a:t>abstractmethod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0" y="2251304"/>
            <a:ext cx="766530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Basic Structure of Abstract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097689"/>
            <a:ext cx="489397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from </a:t>
            </a:r>
            <a:r>
              <a:rPr lang="en-US" sz="2200" b="1" dirty="0" err="1"/>
              <a:t>abc</a:t>
            </a:r>
            <a:r>
              <a:rPr lang="en-US" sz="2200" b="1" dirty="0"/>
              <a:t> import ABC, 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</a:t>
            </a:r>
            <a:r>
              <a:rPr lang="en-US" sz="2200" b="1" dirty="0" err="1"/>
              <a:t>ParentClass</a:t>
            </a:r>
            <a:r>
              <a:rPr lang="en-US" sz="2200" b="1" dirty="0"/>
              <a:t>(ABC):</a:t>
            </a:r>
          </a:p>
          <a:p>
            <a:endParaRPr lang="en-US" sz="2200" b="1" dirty="0"/>
          </a:p>
          <a:p>
            <a:r>
              <a:rPr lang="en-US" sz="2200" b="1" dirty="0"/>
              <a:t>    @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method_name</a:t>
            </a:r>
            <a:r>
              <a:rPr lang="en-US" sz="2200" b="1" dirty="0"/>
              <a:t>(self):</a:t>
            </a:r>
          </a:p>
          <a:p>
            <a:r>
              <a:rPr lang="en-US" sz="2200" b="1" dirty="0"/>
              <a:t>        pass</a:t>
            </a:r>
          </a:p>
        </p:txBody>
      </p:sp>
    </p:spTree>
    <p:extLst>
      <p:ext uri="{BB962C8B-B14F-4D97-AF65-F5344CB8AC3E}">
        <p14:creationId xmlns:p14="http://schemas.microsoft.com/office/powerpoint/2010/main" val="767380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145563"/>
              </p:ext>
            </p:extLst>
          </p:nvPr>
        </p:nvGraphicFramePr>
        <p:xfrm>
          <a:off x="557010" y="337102"/>
          <a:ext cx="10131424" cy="1706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Purpose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ABC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Makes class abstract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@abstractmethod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Declares abstract methods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Placeholder for method body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607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6282"/>
            <a:ext cx="391158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Simple Abstract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66446"/>
            <a:ext cx="443033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from </a:t>
            </a:r>
            <a:r>
              <a:rPr lang="en-US" sz="2200" b="1" dirty="0" err="1"/>
              <a:t>abc</a:t>
            </a:r>
            <a:r>
              <a:rPr lang="en-US" sz="2200" b="1" dirty="0"/>
              <a:t> import ABC, 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Animal(ABC):</a:t>
            </a:r>
          </a:p>
          <a:p>
            <a:endParaRPr lang="en-US" sz="2200" b="1" dirty="0"/>
          </a:p>
          <a:p>
            <a:r>
              <a:rPr lang="en-US" sz="2200" b="1" dirty="0"/>
              <a:t>    @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pass</a:t>
            </a:r>
          </a:p>
          <a:p>
            <a:endParaRPr lang="en-US" sz="2200" b="1" dirty="0"/>
          </a:p>
          <a:p>
            <a:r>
              <a:rPr lang="en-US" sz="2200" b="1" dirty="0"/>
              <a:t>class Dog(Animal):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print("Dog barks</a:t>
            </a:r>
            <a:r>
              <a:rPr lang="en-US" sz="2200" b="1" dirty="0" smtClean="0"/>
              <a:t>")</a:t>
            </a:r>
            <a:endParaRPr lang="en-US" sz="2200" b="1" dirty="0"/>
          </a:p>
        </p:txBody>
      </p:sp>
      <p:sp>
        <p:nvSpPr>
          <p:cNvPr id="4" name="Rectangle 3"/>
          <p:cNvSpPr/>
          <p:nvPr/>
        </p:nvSpPr>
        <p:spPr>
          <a:xfrm>
            <a:off x="3369249" y="759854"/>
            <a:ext cx="3584619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class </a:t>
            </a:r>
            <a:r>
              <a:rPr lang="en-US" sz="2200" b="1" dirty="0"/>
              <a:t>Cat(Animal):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print("Cat meows")</a:t>
            </a:r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d = Dog()</a:t>
            </a:r>
          </a:p>
          <a:p>
            <a:r>
              <a:rPr lang="en-US" sz="2200" b="1" dirty="0"/>
              <a:t>c = Cat()</a:t>
            </a:r>
          </a:p>
          <a:p>
            <a:endParaRPr lang="en-US" sz="2200" b="1" dirty="0"/>
          </a:p>
          <a:p>
            <a:r>
              <a:rPr lang="en-US" sz="2200" b="1" dirty="0" err="1"/>
              <a:t>d.sound</a:t>
            </a:r>
            <a:r>
              <a:rPr lang="en-US" sz="2200" b="1" dirty="0"/>
              <a:t>()</a:t>
            </a:r>
          </a:p>
          <a:p>
            <a:r>
              <a:rPr lang="en-US" sz="2200" b="1" dirty="0" err="1"/>
              <a:t>c.sound</a:t>
            </a:r>
            <a:r>
              <a:rPr lang="en-US" sz="2200" b="1" dirty="0"/>
              <a:t>()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3038"/>
            <a:ext cx="3090930" cy="448694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320603" y="766446"/>
            <a:ext cx="3090930" cy="381642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18456" y="4863746"/>
            <a:ext cx="15368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Dog </a:t>
            </a:r>
            <a:r>
              <a:rPr lang="en-US" sz="2200" b="1" dirty="0"/>
              <a:t>barks</a:t>
            </a:r>
          </a:p>
          <a:p>
            <a:r>
              <a:rPr lang="en-US" sz="2200" b="1" dirty="0"/>
              <a:t>Cat meows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20603" y="4863746"/>
            <a:ext cx="1534732" cy="120032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589944" y="1289665"/>
            <a:ext cx="232198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The abstract class: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41206" y="1914363"/>
            <a:ext cx="98456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/>
              <a:t>Animal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1206" y="2502087"/>
            <a:ext cx="346896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defines an abstract method: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2292" y="3163759"/>
            <a:ext cx="105670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/>
              <a:t>sound()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02292" y="3788457"/>
            <a:ext cx="560884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Every child class must implement this method.</a:t>
            </a:r>
          </a:p>
        </p:txBody>
      </p:sp>
    </p:spTree>
    <p:extLst>
      <p:ext uri="{BB962C8B-B14F-4D97-AF65-F5344CB8AC3E}">
        <p14:creationId xmlns:p14="http://schemas.microsoft.com/office/powerpoint/2010/main" val="73746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1520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What Happens If Method Is Not Implemented?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98739" y="877171"/>
            <a:ext cx="479523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from </a:t>
            </a:r>
            <a:r>
              <a:rPr lang="en-US" sz="2200" b="1" dirty="0" err="1"/>
              <a:t>abc</a:t>
            </a:r>
            <a:r>
              <a:rPr lang="en-US" sz="2200" b="1" dirty="0"/>
              <a:t> import ABC, 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Vehicle(ABC):</a:t>
            </a:r>
          </a:p>
          <a:p>
            <a:endParaRPr lang="en-US" sz="2200" b="1" dirty="0"/>
          </a:p>
          <a:p>
            <a:r>
              <a:rPr lang="en-US" sz="2200" b="1" dirty="0"/>
              <a:t>    @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start(self):</a:t>
            </a:r>
          </a:p>
          <a:p>
            <a:r>
              <a:rPr lang="en-US" sz="2200" b="1" dirty="0"/>
              <a:t>        pass</a:t>
            </a:r>
          </a:p>
          <a:p>
            <a:endParaRPr lang="en-US" sz="2200" b="1" dirty="0"/>
          </a:p>
          <a:p>
            <a:r>
              <a:rPr lang="en-US" sz="2200" b="1" dirty="0"/>
              <a:t>class Car(Vehicle):</a:t>
            </a:r>
          </a:p>
          <a:p>
            <a:r>
              <a:rPr lang="en-US" sz="2200" b="1" dirty="0"/>
              <a:t>    </a:t>
            </a:r>
            <a:r>
              <a:rPr lang="en-US" sz="2200" b="1" dirty="0" smtClean="0"/>
              <a:t>pass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 = Car()</a:t>
            </a:r>
          </a:p>
        </p:txBody>
      </p:sp>
      <p:sp>
        <p:nvSpPr>
          <p:cNvPr id="4" name="Rectangle 3"/>
          <p:cNvSpPr/>
          <p:nvPr/>
        </p:nvSpPr>
        <p:spPr>
          <a:xfrm>
            <a:off x="4990565" y="877171"/>
            <a:ext cx="451404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err="1" smtClean="0"/>
              <a:t>TypeError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Can't instantiate abstract class Car</a:t>
            </a:r>
          </a:p>
          <a:p>
            <a:r>
              <a:rPr lang="en-US" sz="2200" b="1" dirty="0"/>
              <a:t>with abstract method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39" y="877171"/>
            <a:ext cx="4653565" cy="415498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990566" y="877171"/>
            <a:ext cx="4282224" cy="155693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90565" y="3450396"/>
            <a:ext cx="28943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/>
              <a:t>Car did not implement:</a:t>
            </a:r>
            <a:endParaRPr lang="en-US" sz="2200" b="1" dirty="0"/>
          </a:p>
        </p:txBody>
      </p:sp>
      <p:sp>
        <p:nvSpPr>
          <p:cNvPr id="10" name="Rectangle 9"/>
          <p:cNvSpPr/>
          <p:nvPr/>
        </p:nvSpPr>
        <p:spPr>
          <a:xfrm>
            <a:off x="4990565" y="3952672"/>
            <a:ext cx="9033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smtClean="0"/>
              <a:t>start()</a:t>
            </a:r>
            <a:endParaRPr lang="en-US" sz="2200" b="1" dirty="0"/>
          </a:p>
        </p:txBody>
      </p:sp>
      <p:sp>
        <p:nvSpPr>
          <p:cNvPr id="11" name="Rectangle 10"/>
          <p:cNvSpPr/>
          <p:nvPr/>
        </p:nvSpPr>
        <p:spPr>
          <a:xfrm>
            <a:off x="4990565" y="4454948"/>
            <a:ext cx="436119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So Python prevents object creation.</a:t>
            </a:r>
          </a:p>
        </p:txBody>
      </p:sp>
    </p:spTree>
    <p:extLst>
      <p:ext uri="{BB962C8B-B14F-4D97-AF65-F5344CB8AC3E}">
        <p14:creationId xmlns:p14="http://schemas.microsoft.com/office/powerpoint/2010/main" val="254495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421" y="204920"/>
            <a:ext cx="90597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Abstract Class with Concrete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421" y="974361"/>
            <a:ext cx="25950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abstract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normal methods</a:t>
            </a:r>
          </a:p>
        </p:txBody>
      </p:sp>
    </p:spTree>
    <p:extLst>
      <p:ext uri="{BB962C8B-B14F-4D97-AF65-F5344CB8AC3E}">
        <p14:creationId xmlns:p14="http://schemas.microsoft.com/office/powerpoint/2010/main" val="3005724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254" y="129784"/>
            <a:ext cx="4717960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from </a:t>
            </a:r>
            <a:r>
              <a:rPr lang="en-US" sz="2200" b="1" dirty="0" err="1"/>
              <a:t>abc</a:t>
            </a:r>
            <a:r>
              <a:rPr lang="en-US" sz="2200" b="1" dirty="0"/>
              <a:t> import ABC, 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Shape(ABC):</a:t>
            </a:r>
          </a:p>
          <a:p>
            <a:endParaRPr lang="en-US" sz="2200" b="1" dirty="0"/>
          </a:p>
          <a:p>
            <a:r>
              <a:rPr lang="en-US" sz="2200" b="1" dirty="0"/>
              <a:t>    @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area(self):</a:t>
            </a:r>
          </a:p>
          <a:p>
            <a:r>
              <a:rPr lang="en-US" sz="2200" b="1" dirty="0"/>
              <a:t>        pass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display(self):</a:t>
            </a:r>
          </a:p>
          <a:p>
            <a:r>
              <a:rPr lang="en-US" sz="2200" b="1" dirty="0"/>
              <a:t>        print("This is a shape")</a:t>
            </a:r>
          </a:p>
          <a:p>
            <a:endParaRPr lang="en-US" sz="2200" b="1" dirty="0"/>
          </a:p>
          <a:p>
            <a:r>
              <a:rPr lang="en-US" sz="2200" b="1" dirty="0"/>
              <a:t>class Rectangle(Shape):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area(self):</a:t>
            </a:r>
          </a:p>
          <a:p>
            <a:r>
              <a:rPr lang="en-US" sz="2200" b="1" dirty="0"/>
              <a:t>        return 10 * 5</a:t>
            </a:r>
          </a:p>
          <a:p>
            <a:endParaRPr lang="en-US" sz="2200" b="1" dirty="0"/>
          </a:p>
          <a:p>
            <a:r>
              <a:rPr lang="en-US" sz="2200" b="1" dirty="0"/>
              <a:t>r = Rectangle</a:t>
            </a:r>
            <a:r>
              <a:rPr lang="en-US" sz="2200" b="1" dirty="0" smtClean="0"/>
              <a:t>()</a:t>
            </a:r>
            <a:endParaRPr lang="en-US" sz="2400" b="1" dirty="0"/>
          </a:p>
          <a:p>
            <a:r>
              <a:rPr lang="en-US" sz="2400" b="1" dirty="0" err="1"/>
              <a:t>r.display</a:t>
            </a:r>
            <a:r>
              <a:rPr lang="en-US" sz="2400" b="1" dirty="0"/>
              <a:t>()</a:t>
            </a:r>
          </a:p>
          <a:p>
            <a:r>
              <a:rPr lang="en-US" sz="2400" b="1" dirty="0"/>
              <a:t>print(</a:t>
            </a:r>
            <a:r>
              <a:rPr lang="en-US" sz="2400" b="1" dirty="0" err="1"/>
              <a:t>r.area</a:t>
            </a:r>
            <a:r>
              <a:rPr lang="en-US" sz="2400" b="1" dirty="0" smtClean="0"/>
              <a:t>())</a:t>
            </a:r>
            <a:endParaRPr lang="en-US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4868214" y="129784"/>
            <a:ext cx="236112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This </a:t>
            </a:r>
            <a:r>
              <a:rPr lang="en-US" sz="2200" b="1" dirty="0"/>
              <a:t>is a shape</a:t>
            </a:r>
          </a:p>
          <a:p>
            <a:r>
              <a:rPr lang="en-US" sz="2200" b="1" dirty="0"/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254" y="129784"/>
            <a:ext cx="4602050" cy="658641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68214" y="129784"/>
            <a:ext cx="2163651" cy="110799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31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3711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Difference Between Abstract Class and Normal Class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651352"/>
              </p:ext>
            </p:extLst>
          </p:nvPr>
        </p:nvGraphicFramePr>
        <p:xfrm>
          <a:off x="672921" y="878015"/>
          <a:ext cx="10131424" cy="1706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Abstract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Normal Class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Cannot create objects directly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Can create objects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Contains abstract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Usually contains complete methods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Used as blueprint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Used for object creation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655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4768"/>
            <a:ext cx="56690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ABC and Polymorphism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84209"/>
            <a:ext cx="68251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Abstract classes are commonly used with polymorphism.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1617" y="1315096"/>
            <a:ext cx="503993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from </a:t>
            </a:r>
            <a:r>
              <a:rPr lang="en-US" sz="2200" b="1" dirty="0" err="1"/>
              <a:t>abc</a:t>
            </a:r>
            <a:r>
              <a:rPr lang="en-US" sz="2200" b="1" dirty="0"/>
              <a:t> import ABC, 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Payment(ABC):</a:t>
            </a:r>
          </a:p>
          <a:p>
            <a:endParaRPr lang="en-US" sz="2200" b="1" dirty="0"/>
          </a:p>
          <a:p>
            <a:r>
              <a:rPr lang="en-US" sz="2200" b="1" dirty="0"/>
              <a:t>    @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pay(self):</a:t>
            </a:r>
          </a:p>
          <a:p>
            <a:r>
              <a:rPr lang="en-US" sz="2200" b="1" dirty="0"/>
              <a:t>        pass</a:t>
            </a:r>
          </a:p>
          <a:p>
            <a:endParaRPr lang="en-US" sz="2200" b="1" dirty="0"/>
          </a:p>
          <a:p>
            <a:r>
              <a:rPr lang="en-US" sz="2200" b="1" dirty="0"/>
              <a:t>class </a:t>
            </a:r>
            <a:r>
              <a:rPr lang="en-US" sz="2200" b="1" dirty="0" err="1"/>
              <a:t>CreditCard</a:t>
            </a:r>
            <a:r>
              <a:rPr lang="en-US" sz="2200" b="1" dirty="0"/>
              <a:t>(Payment):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pay(self):</a:t>
            </a:r>
          </a:p>
          <a:p>
            <a:r>
              <a:rPr lang="en-US" sz="2200" b="1" dirty="0"/>
              <a:t>        print("Payment by Credit Card")</a:t>
            </a:r>
          </a:p>
          <a:p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4838163" y="1315094"/>
            <a:ext cx="447326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class </a:t>
            </a:r>
            <a:r>
              <a:rPr lang="en-US" sz="2200" b="1" dirty="0"/>
              <a:t>PayPal(Payment):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pay(self):</a:t>
            </a:r>
          </a:p>
          <a:p>
            <a:r>
              <a:rPr lang="en-US" sz="2200" b="1" dirty="0"/>
              <a:t>        print("Payment by PayPal")</a:t>
            </a:r>
          </a:p>
          <a:p>
            <a:endParaRPr lang="en-US" sz="2200" b="1" dirty="0"/>
          </a:p>
          <a:p>
            <a:r>
              <a:rPr lang="en-US" sz="2200" b="1" dirty="0"/>
              <a:t>payments = [</a:t>
            </a:r>
            <a:r>
              <a:rPr lang="en-US" sz="2200" b="1" dirty="0" err="1"/>
              <a:t>CreditCard</a:t>
            </a:r>
            <a:r>
              <a:rPr lang="en-US" sz="2200" b="1" dirty="0"/>
              <a:t>(), PayPal()]</a:t>
            </a:r>
          </a:p>
          <a:p>
            <a:endParaRPr lang="en-US" sz="2200" b="1" dirty="0"/>
          </a:p>
          <a:p>
            <a:r>
              <a:rPr lang="en-US" sz="2200" b="1" dirty="0"/>
              <a:t>for p in payments: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p.pay</a:t>
            </a:r>
            <a:r>
              <a:rPr lang="en-US" sz="2200" b="1"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1617" y="1315096"/>
            <a:ext cx="4614929" cy="430009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38163" y="1315096"/>
            <a:ext cx="4614929" cy="313932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838163" y="5162303"/>
            <a:ext cx="326264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Payment </a:t>
            </a:r>
            <a:r>
              <a:rPr lang="en-US" sz="2200" b="1" dirty="0"/>
              <a:t>by Credit Card</a:t>
            </a:r>
          </a:p>
          <a:p>
            <a:r>
              <a:rPr lang="en-US" sz="2200" b="1" dirty="0"/>
              <a:t>Payment by PayPal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857483" y="5091328"/>
            <a:ext cx="3719848" cy="124994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34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183556"/>
              </p:ext>
            </p:extLst>
          </p:nvPr>
        </p:nvGraphicFramePr>
        <p:xfrm>
          <a:off x="750195" y="1454989"/>
          <a:ext cx="10131424" cy="2133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b="1"/>
                        <a:t>ABC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Abstract Base Class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b="1"/>
                        <a:t>abstractmethod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Method that must be implemented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b="1"/>
                        <a:t>Abstract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b="1"/>
                        <a:t>Blueprint class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b="1" dirty="0"/>
                        <a:t>Concrete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Child class with complete implementation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952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761" y="0"/>
            <a:ext cx="487351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Interfaces in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4761" y="769441"/>
            <a:ext cx="995076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An interface is a structure that defines: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what methods a class must have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without giving full implementation</a:t>
            </a:r>
          </a:p>
          <a:p>
            <a:endParaRPr lang="en-US" sz="2200" b="1" dirty="0"/>
          </a:p>
          <a:p>
            <a:r>
              <a:rPr lang="en-US" sz="2200" b="1" dirty="0"/>
              <a:t>Interfaces are used to achieve: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abstraction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polymorphism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r>
              <a:rPr lang="en-US" sz="2200" b="1" dirty="0"/>
              <a:t>Python does not have a separate interface keyword like some other languages.</a:t>
            </a:r>
          </a:p>
          <a:p>
            <a:r>
              <a:rPr lang="en-US" sz="2200" b="1" dirty="0"/>
              <a:t>Instead, interfaces are usually created using: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Abstract Base Classes (ABC)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abstract methods</a:t>
            </a:r>
          </a:p>
        </p:txBody>
      </p:sp>
    </p:spTree>
    <p:extLst>
      <p:ext uri="{BB962C8B-B14F-4D97-AF65-F5344CB8AC3E}">
        <p14:creationId xmlns:p14="http://schemas.microsoft.com/office/powerpoint/2010/main" val="2102180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889"/>
            <a:ext cx="51595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What Is an Interface?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71330"/>
            <a:ext cx="834551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“Any class implementing this interface must define these methods.”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109" y="2071658"/>
            <a:ext cx="4855335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from </a:t>
            </a:r>
            <a:r>
              <a:rPr lang="en-US" sz="2200" b="1" dirty="0" err="1"/>
              <a:t>abc</a:t>
            </a:r>
            <a:r>
              <a:rPr lang="en-US" sz="2200" b="1" dirty="0"/>
              <a:t> import ABC, 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</a:t>
            </a:r>
            <a:r>
              <a:rPr lang="en-US" sz="2200" b="1" dirty="0" err="1"/>
              <a:t>VehicleInterface</a:t>
            </a:r>
            <a:r>
              <a:rPr lang="en-US" sz="2200" b="1" dirty="0"/>
              <a:t>(ABC):</a:t>
            </a:r>
          </a:p>
          <a:p>
            <a:endParaRPr lang="en-US" sz="2200" b="1" dirty="0"/>
          </a:p>
          <a:p>
            <a:r>
              <a:rPr lang="en-US" sz="2200" b="1" dirty="0"/>
              <a:t>    @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start(self):</a:t>
            </a:r>
          </a:p>
          <a:p>
            <a:r>
              <a:rPr lang="en-US" sz="2200" b="1" dirty="0"/>
              <a:t>        pass</a:t>
            </a:r>
          </a:p>
          <a:p>
            <a:endParaRPr lang="en-US" sz="2200" b="1" dirty="0"/>
          </a:p>
          <a:p>
            <a:r>
              <a:rPr lang="en-US" sz="2200" b="1" dirty="0"/>
              <a:t>    @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stop(self):</a:t>
            </a:r>
          </a:p>
          <a:p>
            <a:r>
              <a:rPr lang="en-US" sz="2200" b="1" dirty="0"/>
              <a:t>        </a:t>
            </a:r>
            <a:r>
              <a:rPr lang="en-US" sz="2200" b="1" dirty="0" smtClean="0"/>
              <a:t>pass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5031344" y="2033021"/>
            <a:ext cx="3533105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Car(</a:t>
            </a:r>
            <a:r>
              <a:rPr lang="en-US" sz="2200" b="1" dirty="0" err="1"/>
              <a:t>VehicleInterface</a:t>
            </a:r>
            <a:r>
              <a:rPr lang="en-US" sz="2200" b="1" dirty="0"/>
              <a:t>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start(self):</a:t>
            </a:r>
          </a:p>
          <a:p>
            <a:r>
              <a:rPr lang="en-US" sz="2200" b="1" dirty="0"/>
              <a:t>        print("Car starts")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stop(self):</a:t>
            </a:r>
          </a:p>
          <a:p>
            <a:r>
              <a:rPr lang="en-US" sz="2200" b="1" dirty="0"/>
              <a:t>        print("Car stops")</a:t>
            </a:r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 = Car()</a:t>
            </a:r>
          </a:p>
          <a:p>
            <a:endParaRPr lang="en-US" sz="2200" b="1" dirty="0"/>
          </a:p>
          <a:p>
            <a:r>
              <a:rPr lang="en-US" sz="2200" b="1" dirty="0" err="1"/>
              <a:t>c.start</a:t>
            </a:r>
            <a:r>
              <a:rPr lang="en-US" sz="2200" b="1" dirty="0"/>
              <a:t>()</a:t>
            </a:r>
          </a:p>
          <a:p>
            <a:r>
              <a:rPr lang="en-US" sz="2200" b="1" dirty="0" err="1"/>
              <a:t>c.stop</a:t>
            </a:r>
            <a:r>
              <a:rPr lang="en-US" sz="2200" b="1" dirty="0"/>
              <a:t>()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55335" y="1386855"/>
            <a:ext cx="499630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Implementing the Interface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0" y="-79176"/>
            <a:ext cx="18473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365" y="1471494"/>
            <a:ext cx="2667525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Basic 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4731" y="2071658"/>
            <a:ext cx="4670604" cy="381642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956508" y="2033021"/>
            <a:ext cx="3968551" cy="449353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628586" y="5334089"/>
            <a:ext cx="143384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Car </a:t>
            </a:r>
            <a:r>
              <a:rPr lang="en-US" sz="2200" b="1" dirty="0"/>
              <a:t>starts</a:t>
            </a:r>
          </a:p>
          <a:p>
            <a:r>
              <a:rPr lang="en-US" sz="2200" b="1" dirty="0"/>
              <a:t>Car stops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62434" y="2263935"/>
            <a:ext cx="180107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/>
              <a:t>The interface:</a:t>
            </a:r>
            <a:endParaRPr lang="en-US" sz="2200" b="1" dirty="0"/>
          </a:p>
        </p:txBody>
      </p:sp>
      <p:sp>
        <p:nvSpPr>
          <p:cNvPr id="16" name="Rectangle 15"/>
          <p:cNvSpPr/>
          <p:nvPr/>
        </p:nvSpPr>
        <p:spPr>
          <a:xfrm>
            <a:off x="9093108" y="2825242"/>
            <a:ext cx="207672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err="1" smtClean="0"/>
              <a:t>VehicleInterface</a:t>
            </a:r>
            <a:endParaRPr lang="en-US" sz="2200" b="1" dirty="0"/>
          </a:p>
        </p:txBody>
      </p:sp>
      <p:sp>
        <p:nvSpPr>
          <p:cNvPr id="18" name="Rectangle 17"/>
          <p:cNvSpPr/>
          <p:nvPr/>
        </p:nvSpPr>
        <p:spPr>
          <a:xfrm>
            <a:off x="9062434" y="3402627"/>
            <a:ext cx="302354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requires:</a:t>
            </a:r>
          </a:p>
          <a:p>
            <a:endParaRPr lang="en-US" sz="2200" b="1" dirty="0"/>
          </a:p>
          <a:p>
            <a:r>
              <a:rPr lang="en-US" sz="2200" b="1" dirty="0"/>
              <a:t>start()</a:t>
            </a:r>
          </a:p>
          <a:p>
            <a:r>
              <a:rPr lang="en-US" sz="2200" b="1" dirty="0"/>
              <a:t>stop()</a:t>
            </a:r>
          </a:p>
          <a:p>
            <a:endParaRPr lang="en-US" sz="2200" b="1" dirty="0"/>
          </a:p>
          <a:p>
            <a:r>
              <a:rPr lang="en-US" sz="2200" b="1" dirty="0"/>
              <a:t>Any class using this interface must implement both methods.</a:t>
            </a:r>
          </a:p>
        </p:txBody>
      </p:sp>
    </p:spTree>
    <p:extLst>
      <p:ext uri="{BB962C8B-B14F-4D97-AF65-F5344CB8AC3E}">
        <p14:creationId xmlns:p14="http://schemas.microsoft.com/office/powerpoint/2010/main" val="3382938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667" y="0"/>
            <a:ext cx="68019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Interface and Polymorphism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141667" y="769441"/>
            <a:ext cx="416229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Interfaces support polymorphism.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667" y="1538882"/>
            <a:ext cx="4803820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from </a:t>
            </a:r>
            <a:r>
              <a:rPr lang="en-US" sz="2200" b="1" dirty="0" err="1"/>
              <a:t>abc</a:t>
            </a:r>
            <a:r>
              <a:rPr lang="en-US" sz="2200" b="1" dirty="0"/>
              <a:t> import ABC, 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</a:t>
            </a:r>
            <a:r>
              <a:rPr lang="en-US" sz="2200" b="1" dirty="0" err="1"/>
              <a:t>AnimalInterface</a:t>
            </a:r>
            <a:r>
              <a:rPr lang="en-US" sz="2200" b="1" dirty="0"/>
              <a:t>(ABC):</a:t>
            </a:r>
          </a:p>
          <a:p>
            <a:endParaRPr lang="en-US" sz="2200" b="1" dirty="0"/>
          </a:p>
          <a:p>
            <a:r>
              <a:rPr lang="en-US" sz="2200" b="1" dirty="0"/>
              <a:t>    @</a:t>
            </a:r>
            <a:r>
              <a:rPr lang="en-US" sz="2200" b="1" dirty="0" err="1"/>
              <a:t>abstractmethod</a:t>
            </a:r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pass</a:t>
            </a:r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Dog(</a:t>
            </a:r>
            <a:r>
              <a:rPr lang="en-US" sz="2200" b="1" dirty="0" err="1"/>
              <a:t>AnimalInterface</a:t>
            </a:r>
            <a:r>
              <a:rPr lang="en-US" sz="2200" b="1" dirty="0"/>
              <a:t>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print("Dog barks</a:t>
            </a:r>
            <a:r>
              <a:rPr lang="en-US" sz="2200" b="1" dirty="0" smtClean="0"/>
              <a:t>")</a:t>
            </a:r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4945487" y="1538882"/>
            <a:ext cx="392805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class Cat(</a:t>
            </a:r>
            <a:r>
              <a:rPr lang="en-US" sz="2200" b="1" dirty="0" err="1" smtClean="0"/>
              <a:t>AnimalInterface</a:t>
            </a:r>
            <a:r>
              <a:rPr lang="en-US" sz="2200" b="1" dirty="0"/>
              <a:t>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print("Cat meows")</a:t>
            </a:r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animals = [Dog(), Cat()]</a:t>
            </a:r>
          </a:p>
          <a:p>
            <a:endParaRPr lang="en-US" sz="2200" b="1" dirty="0"/>
          </a:p>
          <a:p>
            <a:r>
              <a:rPr lang="en-US" sz="2200" b="1" dirty="0"/>
              <a:t>for a in animals: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a.sound</a:t>
            </a:r>
            <a:r>
              <a:rPr lang="en-US" sz="2200" b="1"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67" y="1538882"/>
            <a:ext cx="4610637" cy="47202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945488" y="1538882"/>
            <a:ext cx="3747752" cy="34778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45487" y="5262978"/>
            <a:ext cx="149824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Dog </a:t>
            </a:r>
            <a:r>
              <a:rPr lang="en-US" sz="2200" b="1" dirty="0"/>
              <a:t>barks</a:t>
            </a:r>
          </a:p>
          <a:p>
            <a:r>
              <a:rPr lang="en-US" sz="2200" b="1" dirty="0"/>
              <a:t>Cat meows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45487" y="5262978"/>
            <a:ext cx="1691425" cy="110799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28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8794"/>
            <a:ext cx="114169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/>
              <a:t>Difference Between Abstract Class and Interface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677401"/>
              </p:ext>
            </p:extLst>
          </p:nvPr>
        </p:nvGraphicFramePr>
        <p:xfrm>
          <a:off x="642774" y="1238624"/>
          <a:ext cx="10131424" cy="1706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Abstract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Interface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Can contain complete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Mostly contains abstract methods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Can have attributes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Usually method declarations only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Partial abstraction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Full abstraction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51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366" y="0"/>
            <a:ext cx="576247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Virtual Methods in 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366" y="769441"/>
            <a:ext cx="11964473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A virtual method is a method in a parent class that can be redefined (overridden) in child classes.</a:t>
            </a:r>
          </a:p>
          <a:p>
            <a:r>
              <a:rPr lang="en-US" sz="2200" b="1" dirty="0"/>
              <a:t>Virtual methods support: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inheritance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polymorphism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dynamic binding </a:t>
            </a:r>
          </a:p>
          <a:p>
            <a:r>
              <a:rPr lang="en-US" sz="2200" b="1" dirty="0" smtClean="0"/>
              <a:t>All </a:t>
            </a:r>
            <a:r>
              <a:rPr lang="en-US" sz="2200" b="1" dirty="0"/>
              <a:t>methods are virtual by default unless specifically restricted.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366" y="2893099"/>
            <a:ext cx="66569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Purpose of Virtual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366" y="3662540"/>
            <a:ext cx="1183568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Virtual methods allow child classes to provide their own behavior for inherited methods.</a:t>
            </a:r>
          </a:p>
        </p:txBody>
      </p:sp>
    </p:spTree>
    <p:extLst>
      <p:ext uri="{BB962C8B-B14F-4D97-AF65-F5344CB8AC3E}">
        <p14:creationId xmlns:p14="http://schemas.microsoft.com/office/powerpoint/2010/main" val="650309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804912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Basic Example of Virtual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69441"/>
            <a:ext cx="4520485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Animal: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print("Animal makes a sound")</a:t>
            </a:r>
          </a:p>
          <a:p>
            <a:endParaRPr lang="en-US" sz="2200" b="1" dirty="0"/>
          </a:p>
          <a:p>
            <a:r>
              <a:rPr lang="en-US" sz="2200" b="1" dirty="0"/>
              <a:t>class Dog(Animal):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print("Dog barks</a:t>
            </a:r>
            <a:r>
              <a:rPr lang="en-US" sz="2200" b="1" dirty="0" smtClean="0"/>
              <a:t>")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Cat(Animal):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sound(self):</a:t>
            </a:r>
          </a:p>
          <a:p>
            <a:r>
              <a:rPr lang="en-US" sz="2200" b="1" dirty="0"/>
              <a:t>        print("Cat meows")</a:t>
            </a:r>
          </a:p>
          <a:p>
            <a:r>
              <a:rPr lang="en-US" sz="2200" b="1" dirty="0" smtClean="0"/>
              <a:t>a </a:t>
            </a:r>
            <a:r>
              <a:rPr lang="en-US" sz="2200" b="1" dirty="0"/>
              <a:t>= Animal()</a:t>
            </a:r>
          </a:p>
          <a:p>
            <a:r>
              <a:rPr lang="en-US" sz="2200" b="1" dirty="0"/>
              <a:t>d = Dog()</a:t>
            </a:r>
          </a:p>
          <a:p>
            <a:r>
              <a:rPr lang="en-US" sz="2200" b="1" dirty="0"/>
              <a:t>c = Cat</a:t>
            </a:r>
            <a:r>
              <a:rPr lang="en-US" sz="2200" b="1" dirty="0" smtClean="0"/>
              <a:t>()</a:t>
            </a:r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4546243" y="805159"/>
            <a:ext cx="196188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err="1" smtClean="0"/>
              <a:t>a.sound</a:t>
            </a:r>
            <a:r>
              <a:rPr lang="en-US" sz="2200" b="1" dirty="0"/>
              <a:t>()</a:t>
            </a:r>
          </a:p>
          <a:p>
            <a:r>
              <a:rPr lang="en-US" sz="2200" b="1" dirty="0" err="1"/>
              <a:t>d.sound</a:t>
            </a:r>
            <a:r>
              <a:rPr lang="en-US" sz="2200" b="1" dirty="0"/>
              <a:t>()</a:t>
            </a:r>
          </a:p>
          <a:p>
            <a:r>
              <a:rPr lang="en-US" sz="2200" b="1" dirty="0" err="1"/>
              <a:t>c.sound</a:t>
            </a:r>
            <a:r>
              <a:rPr lang="en-US" sz="2200" b="1" dirty="0"/>
              <a:t>()</a:t>
            </a:r>
            <a:endParaRPr lang="en-US" sz="2200" b="1" dirty="0"/>
          </a:p>
        </p:txBody>
      </p:sp>
      <p:sp>
        <p:nvSpPr>
          <p:cNvPr id="6" name="Rectangle 5"/>
          <p:cNvSpPr/>
          <p:nvPr/>
        </p:nvSpPr>
        <p:spPr>
          <a:xfrm>
            <a:off x="25758" y="769441"/>
            <a:ext cx="4391696" cy="584775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46243" y="769440"/>
            <a:ext cx="1596980" cy="114371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55017" y="2228912"/>
            <a:ext cx="311454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Animal </a:t>
            </a:r>
            <a:r>
              <a:rPr lang="en-US" sz="2200" b="1" dirty="0"/>
              <a:t>makes a sound</a:t>
            </a:r>
            <a:br>
              <a:rPr lang="en-US" sz="2200" b="1" dirty="0"/>
            </a:br>
            <a:r>
              <a:rPr lang="en-US" sz="2200" b="1" dirty="0"/>
              <a:t>Dog barks</a:t>
            </a:r>
            <a:br>
              <a:rPr lang="en-US" sz="2200" b="1" dirty="0"/>
            </a:br>
            <a:r>
              <a:rPr lang="en-US" sz="2200" b="1" dirty="0"/>
              <a:t>Cat meows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5263" y="769440"/>
            <a:ext cx="4499020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00" b="1" dirty="0" smtClean="0">
                <a:solidFill>
                  <a:schemeClr val="bg1"/>
                </a:solidFill>
              </a:rPr>
              <a:t>Explanation</a:t>
            </a:r>
          </a:p>
          <a:p>
            <a:r>
              <a:rPr lang="en-US" sz="2200" b="1" dirty="0" smtClean="0"/>
              <a:t>The </a:t>
            </a:r>
            <a:r>
              <a:rPr lang="en-US" sz="2200" b="1" dirty="0"/>
              <a:t>method:</a:t>
            </a:r>
          </a:p>
          <a:p>
            <a:endParaRPr lang="en-US" sz="2200" b="1" dirty="0"/>
          </a:p>
          <a:p>
            <a:r>
              <a:rPr lang="en-US" sz="2200" b="1" dirty="0"/>
              <a:t>sound()</a:t>
            </a:r>
          </a:p>
          <a:p>
            <a:endParaRPr lang="en-US" sz="2200" b="1" dirty="0"/>
          </a:p>
          <a:p>
            <a:r>
              <a:rPr lang="en-US" sz="2200" b="1" dirty="0"/>
              <a:t>is inherited from Animal and overridden in: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Cat</a:t>
            </a:r>
          </a:p>
          <a:p>
            <a:endParaRPr lang="en-US" sz="2200" b="1" dirty="0"/>
          </a:p>
          <a:p>
            <a:r>
              <a:rPr lang="en-US" sz="2200" b="1" dirty="0"/>
              <a:t>Python decides at runtime which method to execute.</a:t>
            </a:r>
          </a:p>
          <a:p>
            <a:endParaRPr lang="en-US" sz="2200" b="1" dirty="0"/>
          </a:p>
          <a:p>
            <a:r>
              <a:rPr lang="en-US" sz="2200" b="1" dirty="0"/>
              <a:t>This is runtime polymorphism using virtual </a:t>
            </a:r>
            <a:r>
              <a:rPr lang="en-US" sz="2200" b="1" dirty="0" smtClean="0"/>
              <a:t>methods.</a:t>
            </a:r>
            <a:endParaRPr lang="en-US" sz="2200" b="1" dirty="0"/>
          </a:p>
        </p:txBody>
      </p:sp>
      <p:sp>
        <p:nvSpPr>
          <p:cNvPr id="11" name="Rectangle 10"/>
          <p:cNvSpPr/>
          <p:nvPr/>
        </p:nvSpPr>
        <p:spPr>
          <a:xfrm>
            <a:off x="7565263" y="769440"/>
            <a:ext cx="4321937" cy="567847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33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94398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Runtime Behavior of Virtual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3031" y="645933"/>
            <a:ext cx="455912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Shape: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draw(self):</a:t>
            </a:r>
          </a:p>
          <a:p>
            <a:r>
              <a:rPr lang="en-US" sz="2200" b="1" dirty="0"/>
              <a:t>        print("Drawing Shape")</a:t>
            </a:r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Circle(Shape):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draw(self):</a:t>
            </a:r>
          </a:p>
          <a:p>
            <a:r>
              <a:rPr lang="en-US" sz="2200" b="1" dirty="0"/>
              <a:t>        print("Drawing Circle")</a:t>
            </a:r>
          </a:p>
          <a:p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Rectangle(Shape):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draw(self):</a:t>
            </a:r>
          </a:p>
          <a:p>
            <a:r>
              <a:rPr lang="en-US" sz="2200" b="1" dirty="0"/>
              <a:t>        print("Drawing Rectangle</a:t>
            </a:r>
            <a:r>
              <a:rPr lang="en-US" sz="2200" b="1" dirty="0" smtClean="0"/>
              <a:t>")</a:t>
            </a:r>
            <a:endParaRPr lang="en-US" sz="2200" b="1" dirty="0"/>
          </a:p>
        </p:txBody>
      </p:sp>
      <p:sp>
        <p:nvSpPr>
          <p:cNvPr id="4" name="Rectangle 3"/>
          <p:cNvSpPr/>
          <p:nvPr/>
        </p:nvSpPr>
        <p:spPr>
          <a:xfrm>
            <a:off x="4471993" y="770046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 smtClean="0"/>
              <a:t>shapes </a:t>
            </a:r>
            <a:r>
              <a:rPr lang="en-US" sz="2200" b="1" dirty="0"/>
              <a:t>= [Circle(), Rectangle()]</a:t>
            </a:r>
          </a:p>
          <a:p>
            <a:endParaRPr lang="en-US" sz="2200" b="1" dirty="0"/>
          </a:p>
          <a:p>
            <a:r>
              <a:rPr lang="en-US" sz="2200" b="1" dirty="0"/>
              <a:t>for s in shapes: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s.draw</a:t>
            </a:r>
            <a:r>
              <a:rPr lang="en-US" sz="2200" b="1" dirty="0"/>
              <a:t>()</a:t>
            </a:r>
            <a:endParaRPr lang="en-US" sz="2200" b="1" dirty="0"/>
          </a:p>
        </p:txBody>
      </p:sp>
      <p:sp>
        <p:nvSpPr>
          <p:cNvPr id="6" name="Rectangle 5"/>
          <p:cNvSpPr/>
          <p:nvPr/>
        </p:nvSpPr>
        <p:spPr>
          <a:xfrm>
            <a:off x="4471993" y="2448702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O</a:t>
            </a:r>
            <a:r>
              <a:rPr lang="en-US" sz="2200" b="1" dirty="0" smtClean="0">
                <a:solidFill>
                  <a:schemeClr val="bg1"/>
                </a:solidFill>
              </a:rPr>
              <a:t>UTPUT</a:t>
            </a:r>
          </a:p>
          <a:p>
            <a:r>
              <a:rPr lang="en-US" sz="2200" b="1" dirty="0" smtClean="0"/>
              <a:t>Drawing </a:t>
            </a:r>
            <a:r>
              <a:rPr lang="en-US" sz="2200" b="1" dirty="0"/>
              <a:t>Circle</a:t>
            </a:r>
          </a:p>
          <a:p>
            <a:r>
              <a:rPr lang="en-US" sz="2200" b="1" dirty="0"/>
              <a:t>Drawing Rectangle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031" y="730804"/>
            <a:ext cx="4185634" cy="54768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471993" y="723881"/>
            <a:ext cx="3744728" cy="149271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71993" y="2448703"/>
            <a:ext cx="3744728" cy="110799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471993" y="4031475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At runtime:</a:t>
            </a:r>
          </a:p>
          <a:p>
            <a:endParaRPr lang="en-US" sz="2200" b="1" dirty="0"/>
          </a:p>
          <a:p>
            <a:r>
              <a:rPr lang="en-US" sz="2200" b="1" dirty="0" err="1"/>
              <a:t>Circle.draw</a:t>
            </a:r>
            <a:r>
              <a:rPr lang="en-US" sz="2200" b="1" dirty="0"/>
              <a:t>() is called for Circle</a:t>
            </a:r>
          </a:p>
          <a:p>
            <a:r>
              <a:rPr lang="en-US" sz="2200" b="1" dirty="0" err="1"/>
              <a:t>Rectangle.draw</a:t>
            </a:r>
            <a:r>
              <a:rPr lang="en-US" sz="2200" b="1" dirty="0"/>
              <a:t>() is called for Rectangle</a:t>
            </a:r>
          </a:p>
          <a:p>
            <a:endParaRPr lang="en-US" sz="2200" b="1" dirty="0"/>
          </a:p>
          <a:p>
            <a:r>
              <a:rPr lang="en-US" sz="2200" b="1" dirty="0"/>
              <a:t>The actual object determines behavior.</a:t>
            </a:r>
          </a:p>
        </p:txBody>
      </p:sp>
    </p:spTree>
    <p:extLst>
      <p:ext uri="{BB962C8B-B14F-4D97-AF65-F5344CB8AC3E}">
        <p14:creationId xmlns:p14="http://schemas.microsoft.com/office/powerpoint/2010/main" val="391475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7647"/>
            <a:ext cx="782554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Behavioral Substitution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37" y="897088"/>
            <a:ext cx="118657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A child object should be usable wherever a parent object is expected without breaking the program.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36" y="1666529"/>
            <a:ext cx="1089982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If</a:t>
            </a:r>
            <a:r>
              <a:rPr lang="en-US" sz="2200" b="1" dirty="0" smtClean="0"/>
              <a:t>:</a:t>
            </a:r>
            <a:endParaRPr lang="en-US" sz="2200" b="1" dirty="0"/>
          </a:p>
          <a:p>
            <a:r>
              <a:rPr lang="en-US" sz="2200" b="1" dirty="0"/>
              <a:t>Dog is a type of </a:t>
            </a:r>
            <a:r>
              <a:rPr lang="en-US" sz="2200" b="1" dirty="0" smtClean="0"/>
              <a:t>Animal</a:t>
            </a:r>
            <a:endParaRPr lang="en-US" sz="2200" b="1" dirty="0"/>
          </a:p>
          <a:p>
            <a:r>
              <a:rPr lang="en-US" sz="2200" b="1" dirty="0"/>
              <a:t>then</a:t>
            </a:r>
            <a:r>
              <a:rPr lang="en-US" sz="2200" b="1" dirty="0" smtClean="0"/>
              <a:t>:</a:t>
            </a:r>
            <a:endParaRPr lang="en-US" sz="2200" b="1" dirty="0"/>
          </a:p>
          <a:p>
            <a:r>
              <a:rPr lang="en-US" sz="2200" b="1" dirty="0"/>
              <a:t>a Dog object should behave correctly anywhere an Animal object is used.</a:t>
            </a:r>
          </a:p>
        </p:txBody>
      </p:sp>
    </p:spTree>
    <p:extLst>
      <p:ext uri="{BB962C8B-B14F-4D97-AF65-F5344CB8AC3E}">
        <p14:creationId xmlns:p14="http://schemas.microsoft.com/office/powerpoint/2010/main" val="22999933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910" y="0"/>
            <a:ext cx="74969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Correct Behavioral Substitution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15910" y="924490"/>
            <a:ext cx="6096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Bird: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move(self):</a:t>
            </a:r>
          </a:p>
          <a:p>
            <a:r>
              <a:rPr lang="en-US" sz="2200" b="1" dirty="0"/>
              <a:t>        print("Bird moves")</a:t>
            </a:r>
          </a:p>
          <a:p>
            <a:endParaRPr lang="en-US" sz="2200" b="1" dirty="0"/>
          </a:p>
          <a:p>
            <a:r>
              <a:rPr lang="en-US" sz="2200" b="1" dirty="0"/>
              <a:t>class Sparrow(Bird):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move(self):</a:t>
            </a:r>
          </a:p>
          <a:p>
            <a:r>
              <a:rPr lang="en-US" sz="2200" b="1" dirty="0"/>
              <a:t>        print("Sparrow flies")</a:t>
            </a:r>
          </a:p>
          <a:p>
            <a:endParaRPr lang="en-US" sz="2200" b="1" dirty="0"/>
          </a:p>
          <a:p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make_move</a:t>
            </a:r>
            <a:r>
              <a:rPr lang="en-US" sz="2200" b="1" dirty="0"/>
              <a:t>(bird):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bird.move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s = Sparrow()</a:t>
            </a:r>
          </a:p>
          <a:p>
            <a:endParaRPr lang="en-US" sz="2200" b="1" dirty="0"/>
          </a:p>
          <a:p>
            <a:r>
              <a:rPr lang="en-US" sz="2200" b="1" dirty="0" err="1"/>
              <a:t>make_move</a:t>
            </a:r>
            <a:r>
              <a:rPr lang="en-US" sz="2200" b="1" dirty="0"/>
              <a:t>(s)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771364" y="924490"/>
            <a:ext cx="17147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/>
              <a:t>OUTPUT</a:t>
            </a:r>
          </a:p>
          <a:p>
            <a:r>
              <a:rPr lang="en-US" sz="2200" b="1" dirty="0" smtClean="0"/>
              <a:t>Sparrow flies</a:t>
            </a:r>
            <a:endParaRPr lang="en-US" sz="2200" b="1" dirty="0"/>
          </a:p>
        </p:txBody>
      </p:sp>
      <p:sp>
        <p:nvSpPr>
          <p:cNvPr id="6" name="Rectangle 5"/>
          <p:cNvSpPr/>
          <p:nvPr/>
        </p:nvSpPr>
        <p:spPr>
          <a:xfrm>
            <a:off x="3771364" y="2019216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Sparrow successfully replaces Bird because:</a:t>
            </a:r>
          </a:p>
          <a:p>
            <a:endParaRPr lang="en-US" sz="2200" b="1" dirty="0"/>
          </a:p>
          <a:p>
            <a:r>
              <a:rPr lang="en-US" sz="2200" b="1" dirty="0"/>
              <a:t>it supports expected behavior,</a:t>
            </a:r>
          </a:p>
          <a:p>
            <a:r>
              <a:rPr lang="en-US" sz="2200" b="1" dirty="0"/>
              <a:t>it correctly overrides the method.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910" y="924490"/>
            <a:ext cx="3476675" cy="5509200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71364" y="924490"/>
            <a:ext cx="1893479" cy="769441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0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8853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Incorrect Behavioral Substitution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617" y="769441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Bird: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fly(self):</a:t>
            </a:r>
          </a:p>
          <a:p>
            <a:r>
              <a:rPr lang="en-US" sz="2200" b="1" dirty="0"/>
              <a:t>        print("Bird flies</a:t>
            </a:r>
            <a:r>
              <a:rPr lang="en-US" sz="2200" b="1" dirty="0" smtClean="0"/>
              <a:t>")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Penguin(Bird):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fly(self):</a:t>
            </a:r>
          </a:p>
          <a:p>
            <a:r>
              <a:rPr lang="en-US" sz="2200" b="1" dirty="0"/>
              <a:t>        raise Exception("Penguins cannot fly")</a:t>
            </a:r>
          </a:p>
        </p:txBody>
      </p:sp>
      <p:sp>
        <p:nvSpPr>
          <p:cNvPr id="4" name="Rectangle 3"/>
          <p:cNvSpPr/>
          <p:nvPr/>
        </p:nvSpPr>
        <p:spPr>
          <a:xfrm>
            <a:off x="6319234" y="814435"/>
            <a:ext cx="167347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 smtClean="0">
                <a:solidFill>
                  <a:schemeClr val="bg1"/>
                </a:solidFill>
              </a:rPr>
              <a:t>Problem</a:t>
            </a:r>
            <a:endParaRPr lang="en-US" sz="33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19234" y="1471776"/>
            <a:ext cx="456823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/>
              <a:t>If a program expects every Bird to fly:</a:t>
            </a:r>
            <a:endParaRPr lang="en-US" sz="2200" b="1" dirty="0"/>
          </a:p>
        </p:txBody>
      </p:sp>
      <p:sp>
        <p:nvSpPr>
          <p:cNvPr id="8" name="Rectangle 7"/>
          <p:cNvSpPr/>
          <p:nvPr/>
        </p:nvSpPr>
        <p:spPr>
          <a:xfrm>
            <a:off x="6319234" y="1959840"/>
            <a:ext cx="119039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err="1"/>
              <a:t>bird.fly</a:t>
            </a:r>
            <a:r>
              <a:rPr lang="en-US" sz="2200" b="1" dirty="0"/>
              <a:t>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9234" y="2479213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then Penguin breaks expected behavior.</a:t>
            </a:r>
          </a:p>
          <a:p>
            <a:endParaRPr lang="en-US" sz="2200" b="1" dirty="0"/>
          </a:p>
          <a:p>
            <a:r>
              <a:rPr lang="en-US" sz="2200" b="1" dirty="0"/>
              <a:t>This violates behavioral substitution principles.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617" y="769441"/>
            <a:ext cx="5194479" cy="323588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8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5387" y="0"/>
            <a:ext cx="334290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Better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115387" y="769441"/>
            <a:ext cx="373539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Bird:</a:t>
            </a:r>
          </a:p>
          <a:p>
            <a:r>
              <a:rPr lang="en-US" sz="2200" b="1" dirty="0"/>
              <a:t>    pass</a:t>
            </a:r>
          </a:p>
          <a:p>
            <a:endParaRPr lang="en-US" sz="2200" b="1" dirty="0"/>
          </a:p>
          <a:p>
            <a:r>
              <a:rPr lang="en-US" sz="2200" b="1" dirty="0"/>
              <a:t>class </a:t>
            </a:r>
            <a:r>
              <a:rPr lang="en-US" sz="2200" b="1" dirty="0" err="1"/>
              <a:t>FlyingBird</a:t>
            </a:r>
            <a:r>
              <a:rPr lang="en-US" sz="2200" b="1" dirty="0"/>
              <a:t>(Bird):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fly(self):</a:t>
            </a:r>
          </a:p>
          <a:p>
            <a:r>
              <a:rPr lang="en-US" sz="2200" b="1" dirty="0"/>
              <a:t>        print("Flying")</a:t>
            </a:r>
          </a:p>
          <a:p>
            <a:endParaRPr lang="en-US" sz="2200" b="1" dirty="0"/>
          </a:p>
          <a:p>
            <a:r>
              <a:rPr lang="en-US" sz="2200" b="1" dirty="0"/>
              <a:t>class Sparrow(</a:t>
            </a:r>
            <a:r>
              <a:rPr lang="en-US" sz="2200" b="1" dirty="0" err="1"/>
              <a:t>FlyingBird</a:t>
            </a:r>
            <a:r>
              <a:rPr lang="en-US" sz="2200" b="1" dirty="0"/>
              <a:t>):</a:t>
            </a:r>
          </a:p>
          <a:p>
            <a:r>
              <a:rPr lang="en-US" sz="2200" b="1" dirty="0"/>
              <a:t>    pass</a:t>
            </a:r>
          </a:p>
          <a:p>
            <a:endParaRPr lang="en-US" sz="2200" b="1" dirty="0"/>
          </a:p>
          <a:p>
            <a:r>
              <a:rPr lang="en-US" sz="2200" b="1" dirty="0"/>
              <a:t>class Penguin(Bird):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swim(self):</a:t>
            </a:r>
          </a:p>
          <a:p>
            <a:r>
              <a:rPr lang="en-US" sz="2200" b="1" dirty="0"/>
              <a:t>        print("Swimming")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387" y="769441"/>
            <a:ext cx="3181605" cy="517064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621836" y="92003"/>
            <a:ext cx="5646867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Advantages of Virtual </a:t>
            </a:r>
            <a:r>
              <a:rPr lang="en-US" sz="3300" b="1" dirty="0" smtClean="0">
                <a:solidFill>
                  <a:schemeClr val="bg1"/>
                </a:solidFill>
              </a:rPr>
              <a:t>Methods</a:t>
            </a:r>
            <a:endParaRPr lang="en-US" sz="3300" b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21836" y="569056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Supports polymorphism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Enables flexible software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Encourages reusable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Allows runtime method selection</a:t>
            </a:r>
            <a:endParaRPr lang="en-US" sz="2200" b="1" dirty="0"/>
          </a:p>
        </p:txBody>
      </p:sp>
      <p:sp>
        <p:nvSpPr>
          <p:cNvPr id="10" name="Rectangle 9"/>
          <p:cNvSpPr/>
          <p:nvPr/>
        </p:nvSpPr>
        <p:spPr>
          <a:xfrm>
            <a:off x="4621836" y="2115798"/>
            <a:ext cx="689246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Advantages of Behavioral Substitution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21836" y="2631489"/>
            <a:ext cx="6096000" cy="14465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Improves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Makes inheritance safer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Reduces unexpected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Improves maintainability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350501"/>
              </p:ext>
            </p:extLst>
          </p:nvPr>
        </p:nvGraphicFramePr>
        <p:xfrm>
          <a:off x="3672556" y="4262705"/>
          <a:ext cx="8356312" cy="2468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781158"/>
                <a:gridCol w="457515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Virtual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Allows overriding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Dynamic Binding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Chooses method at runtime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Polymorphism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Same interface, different behavior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Behavioral Substitution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Child objects safely replace parent objects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1402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3812</TotalTime>
  <Words>1239</Words>
  <Application>Microsoft Office PowerPoint</Application>
  <PresentationFormat>Widescreen</PresentationFormat>
  <Paragraphs>406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Celestial</vt:lpstr>
      <vt:lpstr>Object 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user</dc:creator>
  <cp:lastModifiedBy>user</cp:lastModifiedBy>
  <cp:revision>250</cp:revision>
  <dcterms:created xsi:type="dcterms:W3CDTF">2026-03-02T19:00:22Z</dcterms:created>
  <dcterms:modified xsi:type="dcterms:W3CDTF">2026-05-23T04:16:56Z</dcterms:modified>
</cp:coreProperties>
</file>