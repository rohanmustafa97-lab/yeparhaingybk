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5565"/>
            <a:ext cx="533242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Polymorphism in </a:t>
            </a:r>
            <a:r>
              <a:rPr lang="en-US" sz="4400" b="1" dirty="0" smtClean="0">
                <a:solidFill>
                  <a:schemeClr val="bg1"/>
                </a:solidFill>
              </a:rPr>
              <a:t>OOP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915006"/>
            <a:ext cx="1184856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Polymorphism </a:t>
            </a:r>
            <a:r>
              <a:rPr lang="en-US" sz="2200" b="1" dirty="0" smtClean="0"/>
              <a:t>means </a:t>
            </a:r>
            <a:r>
              <a:rPr lang="en-US" sz="2200" b="1" dirty="0"/>
              <a:t>“many forms</a:t>
            </a:r>
            <a:r>
              <a:rPr lang="en-US" sz="2200" b="1" dirty="0" smtClean="0"/>
              <a:t>.”</a:t>
            </a:r>
            <a:r>
              <a:rPr lang="en-US" sz="2200" b="1" dirty="0"/>
              <a:t> In programming, polymorphism allows the same method or operation to behave differently depending on the object being used</a:t>
            </a:r>
            <a:r>
              <a:rPr lang="en-US" sz="2200" b="1" dirty="0" smtClean="0"/>
              <a:t>.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0" y="1702376"/>
            <a:ext cx="607845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Types of Polymorphism in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284611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Python supports polymorphism in different </a:t>
            </a:r>
            <a:r>
              <a:rPr lang="en-US" sz="2200" b="1" dirty="0" smtClean="0"/>
              <a:t>ways: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Method </a:t>
            </a:r>
            <a:r>
              <a:rPr lang="en-US" sz="2200" b="1" dirty="0"/>
              <a:t>Overriding </a:t>
            </a:r>
            <a:endParaRPr lang="en-US" sz="22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Operator Overloading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Duck Typing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b="1" dirty="0" smtClean="0"/>
              <a:t>Polymorphism </a:t>
            </a:r>
            <a:r>
              <a:rPr lang="en-US" sz="2200" b="1" dirty="0"/>
              <a:t>through Inheritance</a:t>
            </a:r>
          </a:p>
        </p:txBody>
      </p:sp>
    </p:spTree>
    <p:extLst>
      <p:ext uri="{BB962C8B-B14F-4D97-AF65-F5344CB8AC3E}">
        <p14:creationId xmlns:p14="http://schemas.microsoft.com/office/powerpoint/2010/main" val="85859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46"/>
            <a:ext cx="46687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Method </a:t>
            </a:r>
            <a:r>
              <a:rPr lang="en-US" sz="4400" b="1" dirty="0" smtClean="0">
                <a:solidFill>
                  <a:schemeClr val="bg1"/>
                </a:solidFill>
              </a:rPr>
              <a:t>Overriding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00974"/>
            <a:ext cx="119515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Method overriding happens when a child class provides its own version of a method already defined in the parent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70415"/>
            <a:ext cx="397957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class Animal: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def</a:t>
            </a:r>
            <a:r>
              <a:rPr lang="en-US" sz="2000" b="1" dirty="0"/>
              <a:t> sound(self):</a:t>
            </a:r>
          </a:p>
          <a:p>
            <a:r>
              <a:rPr lang="en-US" sz="2000" b="1" dirty="0"/>
              <a:t>        print("Animal makes a sound")</a:t>
            </a:r>
          </a:p>
          <a:p>
            <a:endParaRPr lang="en-US" sz="2000" b="1" dirty="0"/>
          </a:p>
          <a:p>
            <a:r>
              <a:rPr lang="en-US" sz="2000" b="1" dirty="0"/>
              <a:t>class Dog(Animal):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def</a:t>
            </a:r>
            <a:r>
              <a:rPr lang="en-US" sz="2000" b="1" dirty="0"/>
              <a:t> sound(self):</a:t>
            </a:r>
          </a:p>
          <a:p>
            <a:r>
              <a:rPr lang="en-US" sz="2000" b="1" dirty="0"/>
              <a:t>        print("Dog barks")</a:t>
            </a:r>
          </a:p>
          <a:p>
            <a:endParaRPr lang="en-US" sz="2000" b="1" dirty="0"/>
          </a:p>
          <a:p>
            <a:r>
              <a:rPr lang="en-US" sz="2000" b="1" dirty="0"/>
              <a:t>class Cat(Animal):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def</a:t>
            </a:r>
            <a:r>
              <a:rPr lang="en-US" sz="2000" b="1" dirty="0"/>
              <a:t> sound(self):</a:t>
            </a:r>
          </a:p>
          <a:p>
            <a:r>
              <a:rPr lang="en-US" sz="2000" b="1" dirty="0"/>
              <a:t>        print("Cat meows</a:t>
            </a:r>
            <a:r>
              <a:rPr lang="en-US" sz="2000" b="1" dirty="0" smtClean="0"/>
              <a:t>")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d </a:t>
            </a:r>
            <a:r>
              <a:rPr lang="en-US" sz="2000" b="1" dirty="0"/>
              <a:t>= Dog()</a:t>
            </a:r>
          </a:p>
          <a:p>
            <a:r>
              <a:rPr lang="en-US" sz="2000" b="1" dirty="0"/>
              <a:t>c = Cat</a:t>
            </a:r>
            <a:r>
              <a:rPr lang="en-US" sz="2000" b="1" dirty="0" smtClean="0"/>
              <a:t>()</a:t>
            </a:r>
          </a:p>
          <a:p>
            <a:endParaRPr lang="en-US" sz="2000" b="1" dirty="0" smtClean="0"/>
          </a:p>
          <a:p>
            <a:r>
              <a:rPr lang="en-US" sz="2000" b="1" dirty="0" err="1" smtClean="0"/>
              <a:t>d.sound</a:t>
            </a:r>
            <a:r>
              <a:rPr lang="en-US" sz="2000" b="1" dirty="0"/>
              <a:t>()</a:t>
            </a:r>
          </a:p>
          <a:p>
            <a:r>
              <a:rPr lang="en-US" sz="2000" b="1" dirty="0" err="1"/>
              <a:t>c.sound</a:t>
            </a:r>
            <a:r>
              <a:rPr lang="en-US" sz="20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6214" y="1470413"/>
            <a:ext cx="123860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b="1" dirty="0" smtClean="0"/>
              <a:t>Dog barks</a:t>
            </a:r>
          </a:p>
          <a:p>
            <a:r>
              <a:rPr lang="en-US" b="1" dirty="0" smtClean="0"/>
              <a:t>Cat </a:t>
            </a:r>
            <a:r>
              <a:rPr lang="en-US" b="1" dirty="0"/>
              <a:t>meows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70415"/>
            <a:ext cx="3979572" cy="522659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06214" y="1470414"/>
            <a:ext cx="1238609" cy="9233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106214" y="3086211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Dog and Cat both override the sound() 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Same method name </a:t>
            </a:r>
            <a:r>
              <a:rPr lang="en-US" sz="2000" b="1" dirty="0" smtClean="0"/>
              <a:t>= </a:t>
            </a:r>
            <a:r>
              <a:rPr lang="en-US" sz="2000" b="1" dirty="0"/>
              <a:t>different behavior.</a:t>
            </a:r>
          </a:p>
        </p:txBody>
      </p:sp>
    </p:spTree>
    <p:extLst>
      <p:ext uri="{BB962C8B-B14F-4D97-AF65-F5344CB8AC3E}">
        <p14:creationId xmlns:p14="http://schemas.microsoft.com/office/powerpoint/2010/main" val="7574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295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Operator Overloading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769441"/>
            <a:ext cx="83068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Python allows operators to work differently with different data types.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302" y="1501069"/>
            <a:ext cx="794626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print(5 + 3)          </a:t>
            </a:r>
            <a:r>
              <a:rPr lang="en-US" sz="2200" b="1" dirty="0">
                <a:solidFill>
                  <a:schemeClr val="bg1"/>
                </a:solidFill>
              </a:rPr>
              <a:t># Addition of numbers</a:t>
            </a:r>
          </a:p>
          <a:p>
            <a:r>
              <a:rPr lang="en-US" sz="2200" b="1" dirty="0"/>
              <a:t>print("Hello " + "World")   </a:t>
            </a:r>
            <a:r>
              <a:rPr lang="en-US" sz="2200" b="1" dirty="0">
                <a:solidFill>
                  <a:schemeClr val="bg1"/>
                </a:solidFill>
              </a:rPr>
              <a:t># Concatenation of 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302" y="2571251"/>
            <a:ext cx="215506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8</a:t>
            </a:r>
            <a:endParaRPr lang="en-US" sz="2200" b="1" dirty="0"/>
          </a:p>
          <a:p>
            <a:r>
              <a:rPr lang="en-US" sz="2200" b="1" dirty="0"/>
              <a:t>Hello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9255" y="3376085"/>
            <a:ext cx="443462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+ operator behaves differently: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Adds integers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Joins strings</a:t>
            </a:r>
          </a:p>
          <a:p>
            <a:endParaRPr lang="en-US" sz="2200" b="1" dirty="0"/>
          </a:p>
          <a:p>
            <a:r>
              <a:rPr lang="en-US" sz="2200" b="1" dirty="0"/>
              <a:t>This is polymorphism.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302" y="1501069"/>
            <a:ext cx="6503833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0303" y="2588600"/>
            <a:ext cx="4159878" cy="106488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4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873" y="0"/>
            <a:ext cx="539487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Duck Typing in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73" y="769441"/>
            <a:ext cx="74630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Duck typing is a special form of polymorphism used in Python.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8" y="1323438"/>
            <a:ext cx="75435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“If it walks like a duck and quacks like a duck, then it is a duck.”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95872" y="1877435"/>
            <a:ext cx="86746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Python does not care about the actual class type.</a:t>
            </a:r>
            <a:br>
              <a:rPr lang="en-US" sz="2200" b="1" dirty="0"/>
            </a:br>
            <a:r>
              <a:rPr lang="en-US" sz="2200" b="1" dirty="0"/>
              <a:t>It only cares whether the object has the required method or behavior.</a:t>
            </a:r>
          </a:p>
        </p:txBody>
      </p:sp>
    </p:spTree>
    <p:extLst>
      <p:ext uri="{BB962C8B-B14F-4D97-AF65-F5344CB8AC3E}">
        <p14:creationId xmlns:p14="http://schemas.microsoft.com/office/powerpoint/2010/main" val="1354455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667" y="180304"/>
            <a:ext cx="37477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Duck: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speak(self):</a:t>
            </a:r>
          </a:p>
          <a:p>
            <a:r>
              <a:rPr lang="en-US" sz="2200" b="1" dirty="0"/>
              <a:t>        print("Quack Quack")</a:t>
            </a:r>
          </a:p>
          <a:p>
            <a:endParaRPr lang="en-US" sz="2200" b="1" dirty="0"/>
          </a:p>
          <a:p>
            <a:r>
              <a:rPr lang="en-US" sz="2200" b="1" dirty="0"/>
              <a:t>class Dog: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speak(self):</a:t>
            </a:r>
          </a:p>
          <a:p>
            <a:r>
              <a:rPr lang="en-US" sz="2200" b="1" dirty="0"/>
              <a:t>        print("Woof Woof")</a:t>
            </a:r>
          </a:p>
          <a:p>
            <a:endParaRPr lang="en-US" sz="2200" b="1" dirty="0"/>
          </a:p>
          <a:p>
            <a:r>
              <a:rPr lang="en-US" sz="2200" b="1" dirty="0"/>
              <a:t>class Cat: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speak(self):</a:t>
            </a:r>
          </a:p>
          <a:p>
            <a:r>
              <a:rPr lang="en-US" sz="2200" b="1" dirty="0"/>
              <a:t>        print("Meow")</a:t>
            </a:r>
          </a:p>
          <a:p>
            <a:endParaRPr lang="en-US" sz="2200" b="1" dirty="0"/>
          </a:p>
        </p:txBody>
      </p:sp>
      <p:sp>
        <p:nvSpPr>
          <p:cNvPr id="3" name="Rectangle 2"/>
          <p:cNvSpPr/>
          <p:nvPr/>
        </p:nvSpPr>
        <p:spPr>
          <a:xfrm>
            <a:off x="3446589" y="180304"/>
            <a:ext cx="36232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# Function using duck typing</a:t>
            </a:r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animal_sound</a:t>
            </a:r>
            <a:r>
              <a:rPr lang="en-US" sz="2200" b="1" dirty="0"/>
              <a:t>(animal):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animal.speak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Passing different objects</a:t>
            </a:r>
          </a:p>
          <a:p>
            <a:r>
              <a:rPr lang="en-US" sz="2200" b="1" dirty="0"/>
              <a:t>d = Duck()</a:t>
            </a:r>
          </a:p>
          <a:p>
            <a:r>
              <a:rPr lang="en-US" sz="2200" b="1" dirty="0"/>
              <a:t>dg = Dog()</a:t>
            </a:r>
          </a:p>
          <a:p>
            <a:r>
              <a:rPr lang="en-US" sz="2200" b="1" dirty="0"/>
              <a:t>c = Cat()</a:t>
            </a:r>
          </a:p>
          <a:p>
            <a:endParaRPr lang="en-US" sz="2200" b="1" dirty="0" smtClean="0"/>
          </a:p>
          <a:p>
            <a:r>
              <a:rPr lang="en-US" sz="2200" b="1" dirty="0" err="1" smtClean="0"/>
              <a:t>animal_sound</a:t>
            </a:r>
            <a:r>
              <a:rPr lang="en-US" sz="2200" b="1" dirty="0" smtClean="0"/>
              <a:t>(d</a:t>
            </a:r>
            <a:r>
              <a:rPr lang="en-US" sz="2200" b="1" dirty="0"/>
              <a:t>)</a:t>
            </a:r>
          </a:p>
          <a:p>
            <a:r>
              <a:rPr lang="en-US" sz="2200" b="1" dirty="0" err="1"/>
              <a:t>animal_sound</a:t>
            </a:r>
            <a:r>
              <a:rPr lang="en-US" sz="2200" b="1" dirty="0"/>
              <a:t>(dg)</a:t>
            </a:r>
          </a:p>
          <a:p>
            <a:r>
              <a:rPr lang="en-US" sz="2200" b="1" dirty="0" err="1"/>
              <a:t>animal_sound</a:t>
            </a:r>
            <a:r>
              <a:rPr lang="en-US" sz="2200" b="1" dirty="0"/>
              <a:t>(c)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667" y="5002197"/>
            <a:ext cx="206062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Quack </a:t>
            </a:r>
            <a:r>
              <a:rPr lang="en-US" sz="2200" b="1" dirty="0" err="1"/>
              <a:t>Quack</a:t>
            </a:r>
            <a:endParaRPr lang="en-US" sz="2200" b="1" dirty="0"/>
          </a:p>
          <a:p>
            <a:r>
              <a:rPr lang="en-US" sz="2200" b="1" dirty="0"/>
              <a:t>Woof </a:t>
            </a:r>
            <a:r>
              <a:rPr lang="en-US" sz="2200" b="1" dirty="0" err="1"/>
              <a:t>Woof</a:t>
            </a:r>
            <a:endParaRPr lang="en-US" sz="2200" b="1" dirty="0"/>
          </a:p>
          <a:p>
            <a:r>
              <a:rPr lang="en-US" sz="2200" b="1" dirty="0"/>
              <a:t>Meow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9304" y="211946"/>
            <a:ext cx="33519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Explanation of Duck Typing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79304" y="611191"/>
            <a:ext cx="419917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does not check: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whether the object is a Duck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Dog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Cat </a:t>
            </a:r>
          </a:p>
          <a:p>
            <a:r>
              <a:rPr lang="en-US" sz="2200" b="1" dirty="0"/>
              <a:t>It only checks whether the object has a</a:t>
            </a:r>
            <a:r>
              <a:rPr lang="en-US" sz="2200" b="1" dirty="0" smtClean="0"/>
              <a:t>:</a:t>
            </a:r>
          </a:p>
          <a:p>
            <a:r>
              <a:rPr lang="en-US" sz="2200" b="1" dirty="0"/>
              <a:t>s</a:t>
            </a:r>
            <a:r>
              <a:rPr lang="en-US" sz="2200" b="1" dirty="0" smtClean="0"/>
              <a:t>peak()</a:t>
            </a:r>
            <a:endParaRPr lang="en-US" sz="2200" b="1" dirty="0"/>
          </a:p>
        </p:txBody>
      </p:sp>
      <p:sp>
        <p:nvSpPr>
          <p:cNvPr id="9" name="Rectangle 8"/>
          <p:cNvSpPr/>
          <p:nvPr/>
        </p:nvSpPr>
        <p:spPr>
          <a:xfrm>
            <a:off x="141667" y="180304"/>
            <a:ext cx="3155325" cy="39666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54519" y="180303"/>
            <a:ext cx="3461436" cy="415498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79304" y="211946"/>
            <a:ext cx="4416619" cy="415498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1667" y="5022930"/>
            <a:ext cx="2497103" cy="142581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2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170"/>
            <a:ext cx="57411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9441"/>
            <a:ext cx="117970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same function name can work with different types of data or different numbers of arguments.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54161"/>
            <a:ext cx="1208882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Polymorphism Using Different Data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911" y="1923602"/>
            <a:ext cx="255001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/>
              <a:t>def</a:t>
            </a:r>
            <a:r>
              <a:rPr lang="en-US" sz="2200" b="1" dirty="0"/>
              <a:t> display(value):</a:t>
            </a:r>
          </a:p>
          <a:p>
            <a:r>
              <a:rPr lang="en-US" sz="2200" b="1" dirty="0"/>
              <a:t>    print(value)</a:t>
            </a:r>
          </a:p>
          <a:p>
            <a:endParaRPr lang="en-US" sz="2200" b="1" dirty="0"/>
          </a:p>
          <a:p>
            <a:r>
              <a:rPr lang="en-US" sz="2200" b="1" dirty="0"/>
              <a:t>display(10)</a:t>
            </a:r>
          </a:p>
          <a:p>
            <a:r>
              <a:rPr lang="en-US" sz="2200" b="1" dirty="0"/>
              <a:t>display("Hello")</a:t>
            </a:r>
          </a:p>
          <a:p>
            <a:r>
              <a:rPr lang="en-US" sz="2200" b="1" dirty="0"/>
              <a:t>display(3.14)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5295" y="1923602"/>
            <a:ext cx="134369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10</a:t>
            </a:r>
            <a:endParaRPr lang="en-US" sz="2200" b="1" dirty="0"/>
          </a:p>
          <a:p>
            <a:r>
              <a:rPr lang="en-US" sz="2200" b="1" dirty="0"/>
              <a:t>Hello</a:t>
            </a:r>
          </a:p>
          <a:p>
            <a:r>
              <a:rPr lang="en-US" sz="2200" b="1" dirty="0"/>
              <a:t>3.14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0153" y="1923602"/>
            <a:ext cx="2459865" cy="212365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715296" y="1923602"/>
            <a:ext cx="1199882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5911" y="4271260"/>
            <a:ext cx="355886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works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Integer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Float </a:t>
            </a:r>
          </a:p>
          <a:p>
            <a:r>
              <a:rPr lang="en-US" sz="2200" b="1" dirty="0"/>
              <a:t>This is polymorphism.</a:t>
            </a:r>
          </a:p>
        </p:txBody>
      </p:sp>
    </p:spTree>
    <p:extLst>
      <p:ext uri="{BB962C8B-B14F-4D97-AF65-F5344CB8AC3E}">
        <p14:creationId xmlns:p14="http://schemas.microsoft.com/office/powerpoint/2010/main" val="253139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310" y="127647"/>
            <a:ext cx="757342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Built-in Function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310" y="897088"/>
            <a:ext cx="58753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Many Python built-in functions are polymorphic.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310" y="1451085"/>
            <a:ext cx="178164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Example </a:t>
            </a:r>
            <a:r>
              <a:rPr lang="en-US" sz="2200" b="1" dirty="0" err="1" smtClean="0"/>
              <a:t>len</a:t>
            </a:r>
            <a:r>
              <a:rPr lang="en-US" sz="22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310" y="2097416"/>
            <a:ext cx="331416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 err="1"/>
              <a:t>print</a:t>
            </a:r>
            <a:r>
              <a:rPr lang="fr-FR" sz="2200" b="1" dirty="0"/>
              <a:t>(</a:t>
            </a:r>
            <a:r>
              <a:rPr lang="fr-FR" sz="2200" b="1" dirty="0" err="1"/>
              <a:t>len</a:t>
            </a:r>
            <a:r>
              <a:rPr lang="fr-FR" sz="2200" b="1" dirty="0"/>
              <a:t>("Computer"))</a:t>
            </a:r>
            <a:br>
              <a:rPr lang="fr-FR" sz="2200" b="1" dirty="0"/>
            </a:br>
            <a:r>
              <a:rPr lang="fr-FR" sz="2200" b="1" dirty="0" err="1"/>
              <a:t>print</a:t>
            </a:r>
            <a:r>
              <a:rPr lang="fr-FR" sz="2200" b="1" dirty="0"/>
              <a:t>(</a:t>
            </a:r>
            <a:r>
              <a:rPr lang="fr-FR" sz="2200" b="1" dirty="0" err="1"/>
              <a:t>len</a:t>
            </a:r>
            <a:r>
              <a:rPr lang="fr-FR" sz="2200" b="1" dirty="0"/>
              <a:t>([1, 2, 3, 4]))</a:t>
            </a:r>
            <a:br>
              <a:rPr lang="fr-FR" sz="2200" b="1" dirty="0"/>
            </a:br>
            <a:r>
              <a:rPr lang="fr-FR" sz="2200" b="1" dirty="0" err="1"/>
              <a:t>print</a:t>
            </a:r>
            <a:r>
              <a:rPr lang="fr-FR" sz="2200" b="1" dirty="0"/>
              <a:t>(</a:t>
            </a:r>
            <a:r>
              <a:rPr lang="fr-FR" sz="2200" b="1" dirty="0" err="1"/>
              <a:t>len</a:t>
            </a:r>
            <a:r>
              <a:rPr lang="fr-FR" sz="2200" b="1" dirty="0"/>
              <a:t>((10, 20)))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36310" y="3420856"/>
            <a:ext cx="142096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8</a:t>
            </a:r>
            <a:endParaRPr lang="en-US" sz="2200" b="1" dirty="0"/>
          </a:p>
          <a:p>
            <a:r>
              <a:rPr lang="en-US" sz="2200" b="1" dirty="0"/>
              <a:t>4</a:t>
            </a:r>
          </a:p>
          <a:p>
            <a:r>
              <a:rPr lang="en-US" sz="2200" b="1" dirty="0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6310" y="2097416"/>
            <a:ext cx="2937663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36310" y="3420856"/>
            <a:ext cx="2937663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6310" y="5082850"/>
            <a:ext cx="238109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works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Strings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Lists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Tuples </a:t>
            </a:r>
          </a:p>
        </p:txBody>
      </p:sp>
    </p:spTree>
    <p:extLst>
      <p:ext uri="{BB962C8B-B14F-4D97-AF65-F5344CB8AC3E}">
        <p14:creationId xmlns:p14="http://schemas.microsoft.com/office/powerpoint/2010/main" val="338820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889"/>
            <a:ext cx="872597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Function Polymorphism with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688" y="821714"/>
            <a:ext cx="59764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Different classes can use the same method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88" y="1302217"/>
            <a:ext cx="381509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Bird: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print("Bird flies")</a:t>
            </a:r>
          </a:p>
          <a:p>
            <a:endParaRPr lang="en-US" sz="2200" b="1" dirty="0"/>
          </a:p>
          <a:p>
            <a:r>
              <a:rPr lang="en-US" sz="2200" b="1" dirty="0"/>
              <a:t>class Fish: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print("Fish swims")</a:t>
            </a:r>
          </a:p>
          <a:p>
            <a:endParaRPr lang="en-US" sz="2200" b="1" dirty="0"/>
          </a:p>
          <a:p>
            <a:r>
              <a:rPr lang="en-US" sz="2200" b="1" dirty="0"/>
              <a:t>class Snake: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print("Snake crawls")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Function polymorphism</a:t>
            </a:r>
          </a:p>
          <a:p>
            <a:r>
              <a:rPr lang="en-US" sz="2200" b="1" dirty="0" err="1"/>
              <a:t>def</a:t>
            </a:r>
            <a:r>
              <a:rPr lang="en-US" sz="2200" b="1" dirty="0"/>
              <a:t> movement(animal):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animal.move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3456180" y="1302217"/>
            <a:ext cx="236971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b </a:t>
            </a:r>
            <a:r>
              <a:rPr lang="en-US" sz="2200" b="1" dirty="0"/>
              <a:t>= Bird()</a:t>
            </a:r>
          </a:p>
          <a:p>
            <a:r>
              <a:rPr lang="en-US" sz="2200" b="1" dirty="0"/>
              <a:t>f = Fish()</a:t>
            </a:r>
          </a:p>
          <a:p>
            <a:r>
              <a:rPr lang="en-US" sz="2200" b="1" dirty="0"/>
              <a:t>s = Snake()</a:t>
            </a:r>
          </a:p>
          <a:p>
            <a:endParaRPr lang="en-US" sz="2200" b="1" dirty="0"/>
          </a:p>
          <a:p>
            <a:r>
              <a:rPr lang="en-US" sz="2200" b="1" dirty="0"/>
              <a:t>movement(b)</a:t>
            </a:r>
          </a:p>
          <a:p>
            <a:r>
              <a:rPr lang="en-US" sz="2200" b="1" dirty="0"/>
              <a:t>movement(f)</a:t>
            </a:r>
          </a:p>
          <a:p>
            <a:r>
              <a:rPr lang="en-US" sz="2200" b="1" dirty="0"/>
              <a:t>movement(s)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88" y="1302217"/>
            <a:ext cx="3248425" cy="51706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1427" y="1302217"/>
            <a:ext cx="1959063" cy="256144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83871" y="4195317"/>
            <a:ext cx="251432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Bird </a:t>
            </a:r>
            <a:r>
              <a:rPr lang="en-US" sz="2200" b="1" dirty="0"/>
              <a:t>flies</a:t>
            </a:r>
          </a:p>
          <a:p>
            <a:r>
              <a:rPr lang="en-US" sz="2200" b="1" dirty="0"/>
              <a:t>Fish swims</a:t>
            </a:r>
          </a:p>
          <a:p>
            <a:r>
              <a:rPr lang="en-US" sz="2200" b="1" dirty="0"/>
              <a:t>Snake crawls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1426" y="4195317"/>
            <a:ext cx="1959063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12132" y="1302217"/>
            <a:ext cx="497921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can work with different objects because each object has </a:t>
            </a:r>
            <a:r>
              <a:rPr lang="en-US" sz="2200" b="1" dirty="0" smtClean="0"/>
              <a:t>a move() method. </a:t>
            </a:r>
            <a:r>
              <a:rPr lang="en-US" sz="2400" b="1" dirty="0"/>
              <a:t>This is also related to duck typing in Python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3663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02649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Polymorphism Through Method Overriding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50253" y="984884"/>
            <a:ext cx="413841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Shape: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Shape")</a:t>
            </a:r>
          </a:p>
          <a:p>
            <a:endParaRPr lang="en-US" sz="2200" b="1" dirty="0"/>
          </a:p>
          <a:p>
            <a:r>
              <a:rPr lang="en-US" sz="2200" b="1" dirty="0"/>
              <a:t>class Circle(Shape):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Circle")</a:t>
            </a:r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Rectangle")</a:t>
            </a:r>
          </a:p>
          <a:p>
            <a:endParaRPr lang="en-US" sz="2200" b="1" dirty="0"/>
          </a:p>
          <a:p>
            <a:r>
              <a:rPr lang="en-US" sz="2200" b="1" dirty="0"/>
              <a:t>shapes = [Circle(), Rectangle()]</a:t>
            </a:r>
          </a:p>
          <a:p>
            <a:endParaRPr lang="en-US" sz="2200" b="1" dirty="0"/>
          </a:p>
          <a:p>
            <a:r>
              <a:rPr lang="en-US" sz="2200" b="1" dirty="0"/>
              <a:t>for s in shapes: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s.draw</a:t>
            </a:r>
            <a:r>
              <a:rPr lang="en-US" sz="22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88665" y="984884"/>
            <a:ext cx="305658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Drawing </a:t>
            </a:r>
            <a:r>
              <a:rPr lang="en-US" sz="2200" b="1" dirty="0"/>
              <a:t>Circle</a:t>
            </a:r>
          </a:p>
          <a:p>
            <a:r>
              <a:rPr lang="en-US" sz="2200" b="1" dirty="0"/>
              <a:t>Drawing Rectangle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253" y="984884"/>
            <a:ext cx="3906592" cy="55092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292957" y="984884"/>
            <a:ext cx="2429815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45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901" y="127647"/>
            <a:ext cx="58238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Operator Polymorphism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900" y="897088"/>
            <a:ext cx="959864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same operator behaves differently depending on the data type or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900" y="1481863"/>
            <a:ext cx="599503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This is also called operator overloading in Python.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10974"/>
              </p:ext>
            </p:extLst>
          </p:nvPr>
        </p:nvGraphicFramePr>
        <p:xfrm>
          <a:off x="247918" y="2225145"/>
          <a:ext cx="10131424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Behavior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Adds numbers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Joins strings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Multiplies numbers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Repeats strings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Compares values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17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1667" y="0"/>
            <a:ext cx="522219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Addition Operator (+)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667" y="1067146"/>
            <a:ext cx="14820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print(5 + 3)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667" y="1487962"/>
            <a:ext cx="11737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b="1" dirty="0" smtClean="0"/>
              <a:t>8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141667" y="2555108"/>
            <a:ext cx="308366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print("Hello " + "World")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667" y="3129812"/>
            <a:ext cx="15778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Hello </a:t>
            </a:r>
            <a:r>
              <a:rPr lang="en-US" sz="2200" b="1" dirty="0"/>
              <a:t>World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667" y="4400058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works differently: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Adds integers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Concatenates strings </a:t>
            </a:r>
          </a:p>
          <a:p>
            <a:r>
              <a:rPr lang="en-US" sz="2200" b="1" dirty="0"/>
              <a:t>This is operator polymorphism.</a:t>
            </a:r>
          </a:p>
        </p:txBody>
      </p:sp>
    </p:spTree>
    <p:extLst>
      <p:ext uri="{BB962C8B-B14F-4D97-AF65-F5344CB8AC3E}">
        <p14:creationId xmlns:p14="http://schemas.microsoft.com/office/powerpoint/2010/main" val="1731378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48959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Multiplication Operator (*)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619" y="769441"/>
            <a:ext cx="23611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print(4 * 2)</a:t>
            </a:r>
          </a:p>
          <a:p>
            <a:r>
              <a:rPr lang="en-US" sz="2200" b="1" dirty="0"/>
              <a:t>print("Hi " *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619" y="1754325"/>
            <a:ext cx="167854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  <a:r>
              <a:rPr lang="en-US" sz="2200" b="1" dirty="0" smtClean="0"/>
              <a:t/>
            </a:r>
            <a:br>
              <a:rPr lang="en-US" sz="2200" b="1" dirty="0" smtClean="0"/>
            </a:br>
            <a:r>
              <a:rPr lang="en-US" sz="2200" b="1" dirty="0" smtClean="0"/>
              <a:t>8</a:t>
            </a:r>
            <a:endParaRPr lang="en-US" sz="2200" b="1" dirty="0"/>
          </a:p>
          <a:p>
            <a:r>
              <a:rPr lang="en-US" sz="2200" b="1" dirty="0"/>
              <a:t>Hi </a:t>
            </a:r>
            <a:r>
              <a:rPr lang="en-US" sz="2200" b="1" dirty="0" err="1"/>
              <a:t>Hi</a:t>
            </a:r>
            <a:r>
              <a:rPr lang="en-US" sz="2200" b="1" dirty="0"/>
              <a:t> </a:t>
            </a:r>
            <a:r>
              <a:rPr lang="en-US" sz="2200" b="1" dirty="0" err="1"/>
              <a:t>Hi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111619" y="3247041"/>
            <a:ext cx="53694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Equality Operator (==)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619" y="4077299"/>
            <a:ext cx="25285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print(5 == 5)</a:t>
            </a:r>
          </a:p>
          <a:p>
            <a:r>
              <a:rPr lang="en-US" sz="2200" b="1" dirty="0"/>
              <a:t>print("Ali" == "</a:t>
            </a:r>
            <a:r>
              <a:rPr lang="en-US" sz="2200" b="1" dirty="0" err="1"/>
              <a:t>ali</a:t>
            </a:r>
            <a:r>
              <a:rPr lang="en-US" sz="2200" b="1" dirty="0"/>
              <a:t>")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208" y="4907557"/>
            <a:ext cx="159336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True</a:t>
            </a:r>
            <a:endParaRPr lang="en-US" sz="2200" b="1" dirty="0"/>
          </a:p>
          <a:p>
            <a:r>
              <a:rPr lang="en-US" sz="2200" b="1" dirty="0" smtClean="0"/>
              <a:t>False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66810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890"/>
            <a:ext cx="122865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Static vs Dynamic </a:t>
            </a:r>
            <a:r>
              <a:rPr lang="en-US" sz="4000" b="1" dirty="0" smtClean="0">
                <a:solidFill>
                  <a:schemeClr val="bg1"/>
                </a:solidFill>
              </a:rPr>
              <a:t>Binding </a:t>
            </a:r>
            <a:r>
              <a:rPr lang="en-US" sz="4000" b="1" dirty="0">
                <a:solidFill>
                  <a:schemeClr val="bg1"/>
                </a:solidFill>
              </a:rPr>
              <a:t>and </a:t>
            </a:r>
            <a:r>
              <a:rPr lang="en-US" sz="4000" b="1" dirty="0" smtClean="0">
                <a:solidFill>
                  <a:schemeClr val="bg1"/>
                </a:solidFill>
              </a:rPr>
              <a:t>Runtime Behavior Analysis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251" y="871331"/>
            <a:ext cx="838029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Connecting a method call to the actual method code that will execute.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251" y="1396073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/>
              <a:t>Before </a:t>
            </a:r>
            <a:r>
              <a:rPr lang="en-US" sz="2200" b="1" dirty="0"/>
              <a:t>program execution </a:t>
            </a:r>
            <a:r>
              <a:rPr lang="en-US" sz="2200" b="1" dirty="0" smtClean="0"/>
              <a:t>is </a:t>
            </a:r>
            <a:r>
              <a:rPr lang="en-US" sz="2200" b="1" dirty="0" smtClean="0">
                <a:solidFill>
                  <a:schemeClr val="bg1"/>
                </a:solidFill>
              </a:rPr>
              <a:t>Static </a:t>
            </a:r>
            <a:r>
              <a:rPr lang="en-US" sz="2200" b="1" dirty="0">
                <a:solidFill>
                  <a:schemeClr val="bg1"/>
                </a:solidFill>
              </a:rPr>
              <a:t>Binding </a:t>
            </a:r>
          </a:p>
          <a:p>
            <a:r>
              <a:rPr lang="en-US" sz="2200" b="1" dirty="0" smtClean="0"/>
              <a:t>During </a:t>
            </a:r>
            <a:r>
              <a:rPr lang="en-US" sz="2200" b="1" dirty="0"/>
              <a:t>program </a:t>
            </a:r>
            <a:r>
              <a:rPr lang="en-US" sz="2200" b="1" dirty="0" smtClean="0"/>
              <a:t>execution is </a:t>
            </a:r>
            <a:r>
              <a:rPr lang="en-US" sz="2200" b="1" dirty="0" smtClean="0">
                <a:solidFill>
                  <a:schemeClr val="bg1"/>
                </a:solidFill>
              </a:rPr>
              <a:t>Dynamic</a:t>
            </a:r>
            <a:r>
              <a:rPr lang="en-US" sz="2200" b="1" dirty="0" smtClean="0"/>
              <a:t> </a:t>
            </a:r>
            <a:r>
              <a:rPr lang="en-US" sz="2200" b="1" dirty="0">
                <a:solidFill>
                  <a:schemeClr val="bg1"/>
                </a:solidFill>
              </a:rPr>
              <a:t>Binding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251" y="2165514"/>
            <a:ext cx="33799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Static 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51" y="293495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Static binding is also called: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Early Binding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Compile-Time Binding </a:t>
            </a:r>
          </a:p>
          <a:p>
            <a:r>
              <a:rPr lang="en-US" sz="2200" b="1" dirty="0"/>
              <a:t>The method to execute is decided before </a:t>
            </a:r>
            <a:r>
              <a:rPr lang="en-US" sz="2200" b="1" dirty="0" smtClean="0"/>
              <a:t>runtime.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68251" y="4331361"/>
            <a:ext cx="569739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Characteristics of Static Binding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51" y="4811012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Faster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Method call fixed at compile time</a:t>
            </a:r>
          </a:p>
          <a:p>
            <a:r>
              <a:rPr lang="en-US" sz="2200" b="1" dirty="0"/>
              <a:t>Usually used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static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private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final methods (in some languages)</a:t>
            </a:r>
          </a:p>
        </p:txBody>
      </p:sp>
    </p:spTree>
    <p:extLst>
      <p:ext uri="{BB962C8B-B14F-4D97-AF65-F5344CB8AC3E}">
        <p14:creationId xmlns:p14="http://schemas.microsoft.com/office/powerpoint/2010/main" val="29586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616" y="1615827"/>
            <a:ext cx="322874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Calculator: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add(self, a, b):</a:t>
            </a:r>
          </a:p>
          <a:p>
            <a:r>
              <a:rPr lang="en-US" sz="2200" b="1" dirty="0"/>
              <a:t>        return a + b</a:t>
            </a:r>
          </a:p>
          <a:p>
            <a:endParaRPr lang="en-US" sz="2200" b="1" dirty="0"/>
          </a:p>
          <a:p>
            <a:r>
              <a:rPr lang="en-US" sz="2200" b="1" dirty="0"/>
              <a:t>c = Calculator()</a:t>
            </a:r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c.add</a:t>
            </a:r>
            <a:r>
              <a:rPr lang="en-US" sz="2200" b="1" dirty="0"/>
              <a:t>(5, 3))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16" y="721921"/>
            <a:ext cx="120803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Python is mostly dynamically bound, but built-in function calls and some direct references behave similarly to static binding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646" y="0"/>
            <a:ext cx="33799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Static Binding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8065" y="1615825"/>
            <a:ext cx="117371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8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132646" y="1615827"/>
            <a:ext cx="2481765" cy="2462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83547" y="1615827"/>
            <a:ext cx="1440723" cy="76944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5808" y="4370428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directly refers to the add() method.</a:t>
            </a:r>
          </a:p>
          <a:p>
            <a:endParaRPr lang="en-US" sz="2200" b="1" dirty="0"/>
          </a:p>
          <a:p>
            <a:r>
              <a:rPr lang="en-US" sz="2200" b="1" dirty="0"/>
              <a:t>The binding is straightforward and predictable.</a:t>
            </a:r>
          </a:p>
        </p:txBody>
      </p:sp>
    </p:spTree>
    <p:extLst>
      <p:ext uri="{BB962C8B-B14F-4D97-AF65-F5344CB8AC3E}">
        <p14:creationId xmlns:p14="http://schemas.microsoft.com/office/powerpoint/2010/main" val="330825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843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Dynamic Binding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37" y="769441"/>
            <a:ext cx="1186573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Dynamic binding is also called: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Late Binding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Runtime Binding </a:t>
            </a:r>
          </a:p>
          <a:p>
            <a:r>
              <a:rPr lang="en-US" sz="2200" b="1" dirty="0"/>
              <a:t>The method to execute is decided during </a:t>
            </a:r>
            <a:r>
              <a:rPr lang="en-US" sz="2200" b="1" dirty="0" smtClean="0"/>
              <a:t>runtime. This </a:t>
            </a:r>
            <a:r>
              <a:rPr lang="en-US" sz="2200" b="1" dirty="0"/>
              <a:t>is the foundation of runtime polymorphism.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37" y="2215991"/>
            <a:ext cx="6248827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Characteristics of Dynamic 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37" y="281615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Supports polymorphism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Method selected at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Slightly slower than static binding</a:t>
            </a:r>
          </a:p>
        </p:txBody>
      </p:sp>
    </p:spTree>
    <p:extLst>
      <p:ext uri="{BB962C8B-B14F-4D97-AF65-F5344CB8AC3E}">
        <p14:creationId xmlns:p14="http://schemas.microsoft.com/office/powerpoint/2010/main" val="2576257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890" y="204095"/>
            <a:ext cx="3597499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Animal: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print("Animal sound")</a:t>
            </a:r>
          </a:p>
          <a:p>
            <a:endParaRPr lang="en-US" sz="2200" b="1" dirty="0"/>
          </a:p>
          <a:p>
            <a:r>
              <a:rPr lang="en-US" sz="2200" b="1" dirty="0"/>
              <a:t>class Dog(Animal):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print("Dog barks")</a:t>
            </a:r>
          </a:p>
          <a:p>
            <a:endParaRPr lang="en-US" sz="2200" b="1" dirty="0"/>
          </a:p>
          <a:p>
            <a:r>
              <a:rPr lang="en-US" sz="2200" b="1" dirty="0"/>
              <a:t>class Cat(Animal):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print("Cat meows")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animals = [Dog(), Cat()]</a:t>
            </a:r>
          </a:p>
          <a:p>
            <a:endParaRPr lang="en-US" sz="2200" b="1" dirty="0"/>
          </a:p>
          <a:p>
            <a:r>
              <a:rPr lang="en-US" sz="2200" b="1" dirty="0"/>
              <a:t>for a in animals: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a.sound</a:t>
            </a:r>
            <a:r>
              <a:rPr lang="en-US" sz="2200" b="1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0203" y="204095"/>
            <a:ext cx="175581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Dog </a:t>
            </a:r>
            <a:r>
              <a:rPr lang="en-US" sz="2200" b="1" dirty="0"/>
              <a:t>barks</a:t>
            </a:r>
          </a:p>
          <a:p>
            <a:r>
              <a:rPr lang="en-US" sz="2200" b="1" dirty="0"/>
              <a:t>Cat meows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6389" y="1769929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At runtime, Python decides: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if object is Dog </a:t>
            </a:r>
            <a:r>
              <a:rPr lang="en-US" sz="2200" b="1" dirty="0" smtClean="0"/>
              <a:t>then </a:t>
            </a:r>
            <a:r>
              <a:rPr lang="en-US" sz="2200" b="1" dirty="0"/>
              <a:t>call </a:t>
            </a:r>
            <a:r>
              <a:rPr lang="en-US" sz="2200" b="1" dirty="0" err="1"/>
              <a:t>Dog.sound</a:t>
            </a:r>
            <a:r>
              <a:rPr lang="en-US" sz="2200" b="1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if object is Cat </a:t>
            </a:r>
            <a:r>
              <a:rPr lang="en-US" sz="2200" b="1" dirty="0" smtClean="0"/>
              <a:t>then </a:t>
            </a:r>
            <a:r>
              <a:rPr lang="en-US" sz="2200" b="1" dirty="0"/>
              <a:t>call </a:t>
            </a:r>
            <a:r>
              <a:rPr lang="en-US" sz="2200" b="1" dirty="0" err="1"/>
              <a:t>Cat.sound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This is dynamic binding.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890" y="204095"/>
            <a:ext cx="3327042" cy="584775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6389" y="204096"/>
            <a:ext cx="1899633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2913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Runtime Behavior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441"/>
            <a:ext cx="816520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How objects and methods behave while the program is running</a:t>
            </a:r>
            <a:r>
              <a:rPr lang="en-US" sz="2200" b="1" dirty="0" smtClean="0"/>
              <a:t>.</a:t>
            </a:r>
          </a:p>
          <a:p>
            <a:r>
              <a:rPr lang="en-US" sz="2400" b="1" dirty="0"/>
              <a:t>Dynamic binding plays a major role in runtime behavior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97966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547" y="0"/>
            <a:ext cx="4262907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Shape: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Shape")</a:t>
            </a:r>
          </a:p>
          <a:p>
            <a:endParaRPr lang="en-US" sz="2200" b="1" dirty="0"/>
          </a:p>
          <a:p>
            <a:r>
              <a:rPr lang="en-US" sz="2200" b="1" dirty="0"/>
              <a:t>class Circle(Shape):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Circle")</a:t>
            </a:r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Rectangle")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display(shape):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shape.draw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c = Circle()</a:t>
            </a:r>
          </a:p>
          <a:p>
            <a:r>
              <a:rPr lang="en-US" sz="2200" b="1" dirty="0"/>
              <a:t>r = Rectangle()</a:t>
            </a:r>
          </a:p>
          <a:p>
            <a:endParaRPr lang="en-US" sz="2200" b="1" dirty="0"/>
          </a:p>
          <a:p>
            <a:r>
              <a:rPr lang="en-US" sz="2200" b="1" dirty="0"/>
              <a:t>display(c)</a:t>
            </a:r>
          </a:p>
          <a:p>
            <a:r>
              <a:rPr lang="en-US" sz="2200" b="1" dirty="0"/>
              <a:t>display(r)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417454" y="63371"/>
            <a:ext cx="26959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Drawing </a:t>
            </a:r>
            <a:r>
              <a:rPr lang="en-US" sz="2200" b="1" dirty="0"/>
              <a:t>Circle</a:t>
            </a:r>
          </a:p>
          <a:p>
            <a:r>
              <a:rPr lang="en-US" sz="2200" b="1" dirty="0"/>
              <a:t>Drawing Rectangle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547" y="0"/>
            <a:ext cx="3863661" cy="674853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17455" y="63372"/>
            <a:ext cx="2395470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916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3595</TotalTime>
  <Words>1070</Words>
  <Application>Microsoft Office PowerPoint</Application>
  <PresentationFormat>Widescreen</PresentationFormat>
  <Paragraphs>292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233</cp:revision>
  <dcterms:created xsi:type="dcterms:W3CDTF">2026-03-02T19:00:22Z</dcterms:created>
  <dcterms:modified xsi:type="dcterms:W3CDTF">2026-05-19T04:06:15Z</dcterms:modified>
</cp:coreProperties>
</file>