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40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183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6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74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56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9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1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272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567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00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505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10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686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793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38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2042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15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026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Object Oriented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Semester II</a:t>
            </a:r>
            <a:br>
              <a:rPr lang="en-US" dirty="0" smtClean="0"/>
            </a:br>
            <a:r>
              <a:rPr lang="en-US" dirty="0" smtClean="0"/>
              <a:t>Lecturer: Sir </a:t>
            </a:r>
            <a:r>
              <a:rPr lang="en-US" dirty="0" err="1" smtClean="0"/>
              <a:t>Talha</a:t>
            </a:r>
            <a:r>
              <a:rPr lang="en-US" dirty="0" smtClean="0"/>
              <a:t> </a:t>
            </a:r>
            <a:r>
              <a:rPr lang="en-US" dirty="0" err="1" smtClean="0"/>
              <a:t>Ghouri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038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1667" y="128789"/>
            <a:ext cx="723287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Advanced object relationships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667" y="898230"/>
            <a:ext cx="6233886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smtClean="0">
                <a:solidFill>
                  <a:schemeClr val="bg1"/>
                </a:solidFill>
              </a:rPr>
              <a:t>Dependency (Uses-A Relationship)</a:t>
            </a:r>
            <a:endParaRPr lang="en-US" sz="3300" b="1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6719" y="1498394"/>
            <a:ext cx="81230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Dependency occurs when one class temporarily uses another class.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610" y="2098558"/>
            <a:ext cx="6096000" cy="38164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class Printer: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</a:t>
            </a:r>
            <a:r>
              <a:rPr lang="en-US" sz="2200" b="1" dirty="0" err="1"/>
              <a:t>print_doc</a:t>
            </a:r>
            <a:r>
              <a:rPr lang="en-US" sz="2200" b="1" dirty="0"/>
              <a:t>(self, doc):</a:t>
            </a:r>
          </a:p>
          <a:p>
            <a:r>
              <a:rPr lang="en-US" sz="2200" b="1" dirty="0"/>
              <a:t>        print("Printing:", doc)</a:t>
            </a:r>
          </a:p>
          <a:p>
            <a:endParaRPr lang="en-US" sz="2200" b="1" dirty="0"/>
          </a:p>
          <a:p>
            <a:r>
              <a:rPr lang="en-US" sz="2200" b="1" dirty="0"/>
              <a:t>class Computer: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</a:t>
            </a:r>
            <a:r>
              <a:rPr lang="en-US" sz="2200" b="1" dirty="0" err="1"/>
              <a:t>print_file</a:t>
            </a:r>
            <a:r>
              <a:rPr lang="en-US" sz="2200" b="1" dirty="0"/>
              <a:t>(self, printer, doc):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printer.print_doc</a:t>
            </a:r>
            <a:r>
              <a:rPr lang="en-US" sz="2200" b="1" dirty="0"/>
              <a:t>(doc)   </a:t>
            </a:r>
            <a:r>
              <a:rPr lang="en-US" sz="2200" b="1" dirty="0">
                <a:solidFill>
                  <a:schemeClr val="bg1"/>
                </a:solidFill>
              </a:rPr>
              <a:t># Dependency</a:t>
            </a:r>
          </a:p>
          <a:p>
            <a:endParaRPr lang="en-US" sz="2200" b="1" dirty="0"/>
          </a:p>
          <a:p>
            <a:r>
              <a:rPr lang="en-US" sz="2200" b="1" dirty="0"/>
              <a:t>p = Printer()</a:t>
            </a:r>
          </a:p>
          <a:p>
            <a:r>
              <a:rPr lang="en-US" sz="2200" b="1" dirty="0"/>
              <a:t>c = Computer()</a:t>
            </a:r>
          </a:p>
          <a:p>
            <a:r>
              <a:rPr lang="en-US" sz="2200" b="1" dirty="0" err="1"/>
              <a:t>c.print_file</a:t>
            </a:r>
            <a:r>
              <a:rPr lang="en-US" sz="2200" b="1" dirty="0"/>
              <a:t>(p, "Report.pdf")</a:t>
            </a:r>
          </a:p>
        </p:txBody>
      </p:sp>
      <p:sp>
        <p:nvSpPr>
          <p:cNvPr id="9" name="Rectangle 8"/>
          <p:cNvSpPr/>
          <p:nvPr/>
        </p:nvSpPr>
        <p:spPr>
          <a:xfrm>
            <a:off x="5680972" y="3691093"/>
            <a:ext cx="408929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Computer depends on Printer, but does not own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80972" y="2144724"/>
            <a:ext cx="2511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Printing</a:t>
            </a:r>
            <a:r>
              <a:rPr lang="en-US" sz="2200" b="1" dirty="0"/>
              <a:t>: Report.pdf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719" y="2098558"/>
            <a:ext cx="5096498" cy="3954512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680972" y="2098558"/>
            <a:ext cx="2638780" cy="815607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785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875" y="127647"/>
            <a:ext cx="5736250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 smtClean="0">
                <a:solidFill>
                  <a:schemeClr val="bg1"/>
                </a:solidFill>
              </a:rPr>
              <a:t>Association (Basic Relationship)</a:t>
            </a:r>
            <a:endParaRPr lang="en-US" sz="33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601" y="727811"/>
            <a:ext cx="1213232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Association represents a general relationship where objects are connected but can exist independently</a:t>
            </a:r>
            <a:r>
              <a:rPr lang="en-US" sz="2200" b="1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One-to-One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One-to-Many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Many-to-Many</a:t>
            </a:r>
          </a:p>
        </p:txBody>
      </p:sp>
      <p:sp>
        <p:nvSpPr>
          <p:cNvPr id="6" name="Rectangle 5"/>
          <p:cNvSpPr/>
          <p:nvPr/>
        </p:nvSpPr>
        <p:spPr>
          <a:xfrm>
            <a:off x="179875" y="2264920"/>
            <a:ext cx="6096000" cy="449353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class Teacher: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</a:t>
            </a:r>
            <a:r>
              <a:rPr lang="en-US" sz="2200" b="1" dirty="0" err="1"/>
              <a:t>init</a:t>
            </a:r>
            <a:r>
              <a:rPr lang="en-US" sz="2200" b="1" dirty="0"/>
              <a:t>__(self, name):</a:t>
            </a:r>
          </a:p>
          <a:p>
            <a:r>
              <a:rPr lang="en-US" sz="2200" b="1" dirty="0"/>
              <a:t>        self.name = name</a:t>
            </a:r>
          </a:p>
          <a:p>
            <a:endParaRPr lang="en-US" sz="2200" b="1" dirty="0"/>
          </a:p>
          <a:p>
            <a:r>
              <a:rPr lang="en-US" sz="2200" b="1" dirty="0"/>
              <a:t>class Student: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</a:t>
            </a:r>
            <a:r>
              <a:rPr lang="en-US" sz="2200" b="1" dirty="0" err="1"/>
              <a:t>init</a:t>
            </a:r>
            <a:r>
              <a:rPr lang="en-US" sz="2200" b="1" dirty="0"/>
              <a:t>__(self, name, teacher):</a:t>
            </a:r>
          </a:p>
          <a:p>
            <a:r>
              <a:rPr lang="en-US" sz="2200" b="1" dirty="0"/>
              <a:t>        self.name = name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self.teacher</a:t>
            </a:r>
            <a:r>
              <a:rPr lang="en-US" sz="2200" b="1" dirty="0"/>
              <a:t> = teacher   </a:t>
            </a:r>
            <a:r>
              <a:rPr lang="en-US" sz="2200" b="1" dirty="0">
                <a:solidFill>
                  <a:schemeClr val="bg1"/>
                </a:solidFill>
              </a:rPr>
              <a:t># Association</a:t>
            </a:r>
          </a:p>
          <a:p>
            <a:endParaRPr lang="en-US" sz="2200" b="1" dirty="0"/>
          </a:p>
          <a:p>
            <a:r>
              <a:rPr lang="en-US" sz="2200" b="1" dirty="0"/>
              <a:t>t1 = Teacher("Mr. Ali")</a:t>
            </a:r>
          </a:p>
          <a:p>
            <a:r>
              <a:rPr lang="en-US" sz="2200" b="1" dirty="0"/>
              <a:t>s1 = Student("Ahmed", t1)</a:t>
            </a:r>
          </a:p>
          <a:p>
            <a:endParaRPr lang="en-US" sz="2200" b="1" dirty="0"/>
          </a:p>
          <a:p>
            <a:r>
              <a:rPr lang="en-US" sz="2200" b="1" dirty="0"/>
              <a:t>print(s1.teacher.name</a:t>
            </a:r>
            <a:r>
              <a:rPr lang="en-US" sz="2200" b="1" dirty="0" smtClean="0"/>
              <a:t>)</a:t>
            </a:r>
            <a:endParaRPr lang="en-US" sz="2200" b="1" dirty="0"/>
          </a:p>
        </p:txBody>
      </p:sp>
      <p:sp>
        <p:nvSpPr>
          <p:cNvPr id="7" name="Rectangle 6"/>
          <p:cNvSpPr/>
          <p:nvPr/>
        </p:nvSpPr>
        <p:spPr>
          <a:xfrm>
            <a:off x="5456349" y="2393725"/>
            <a:ext cx="108715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 </a:t>
            </a:r>
          </a:p>
          <a:p>
            <a:r>
              <a:rPr lang="en-US" sz="2200" b="1" dirty="0" smtClean="0"/>
              <a:t>Mr</a:t>
            </a:r>
            <a:r>
              <a:rPr lang="en-US" sz="2200" b="1" dirty="0"/>
              <a:t>. Ali</a:t>
            </a:r>
          </a:p>
        </p:txBody>
      </p:sp>
      <p:sp>
        <p:nvSpPr>
          <p:cNvPr id="8" name="Rectangle 7"/>
          <p:cNvSpPr/>
          <p:nvPr/>
        </p:nvSpPr>
        <p:spPr>
          <a:xfrm>
            <a:off x="5456349" y="2417320"/>
            <a:ext cx="1087157" cy="741925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79875" y="2264920"/>
            <a:ext cx="4971674" cy="4493538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456349" y="3492201"/>
            <a:ext cx="570963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Student is associated with Teacher, but both can exist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421341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3031" y="243557"/>
            <a:ext cx="1154072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chemeClr val="bg1"/>
                </a:solidFill>
              </a:rPr>
              <a:t>Composition Versus Inheritance Design Decisions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3031" y="1012998"/>
            <a:ext cx="1192583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Choosing between composition and inheritance is one of the most important design decisions in OOP. A quick reality check: if you reach for inheritance by default, you’ll likely end up with rigid code. In most real systems, composition is safer and more flexible.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031" y="2336437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Example</a:t>
            </a:r>
          </a:p>
          <a:p>
            <a:r>
              <a:rPr lang="en-US" sz="2200" b="1" dirty="0" smtClean="0"/>
              <a:t>Inheritance </a:t>
            </a:r>
            <a:r>
              <a:rPr lang="en-US" sz="2200" b="1" dirty="0"/>
              <a:t>(IS-A) </a:t>
            </a:r>
            <a:r>
              <a:rPr lang="en-US" sz="2200" b="1" dirty="0" smtClean="0"/>
              <a:t> </a:t>
            </a:r>
            <a:r>
              <a:rPr lang="en-US" sz="2200" b="1" dirty="0"/>
              <a:t>“A Dog is an Animal”</a:t>
            </a:r>
          </a:p>
          <a:p>
            <a:r>
              <a:rPr lang="en-US" sz="2200" b="1" dirty="0"/>
              <a:t>Composition (HAS-A) </a:t>
            </a:r>
            <a:r>
              <a:rPr lang="en-US" sz="2200" b="1" dirty="0" smtClean="0"/>
              <a:t>“</a:t>
            </a:r>
            <a:r>
              <a:rPr lang="en-US" sz="2200" b="1" dirty="0"/>
              <a:t>A Car has an Engine”</a:t>
            </a:r>
          </a:p>
        </p:txBody>
      </p:sp>
    </p:spTree>
    <p:extLst>
      <p:ext uri="{BB962C8B-B14F-4D97-AF65-F5344CB8AC3E}">
        <p14:creationId xmlns:p14="http://schemas.microsoft.com/office/powerpoint/2010/main" val="2217528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7770" y="1000118"/>
            <a:ext cx="1172942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Use inheritance only when there is a true hierarchical relationship and behavior is naturally shared.</a:t>
            </a:r>
          </a:p>
        </p:txBody>
      </p:sp>
      <p:sp>
        <p:nvSpPr>
          <p:cNvPr id="3" name="Rectangle 2"/>
          <p:cNvSpPr/>
          <p:nvPr/>
        </p:nvSpPr>
        <p:spPr>
          <a:xfrm>
            <a:off x="157771" y="230677"/>
            <a:ext cx="446878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chemeClr val="bg1"/>
                </a:solidFill>
              </a:rPr>
              <a:t>Use of </a:t>
            </a:r>
            <a:r>
              <a:rPr lang="en-US" sz="4400" b="1" dirty="0">
                <a:solidFill>
                  <a:schemeClr val="bg1"/>
                </a:solidFill>
              </a:rPr>
              <a:t>Inheritance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57770" y="1576417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Clear IS-A relationship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Shared behavior with meaningful specialization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Stable design (unlikely to change </a:t>
            </a:r>
            <a:r>
              <a:rPr lang="en-US" sz="2200" b="1" dirty="0" smtClean="0"/>
              <a:t>often)</a:t>
            </a:r>
            <a:endParaRPr lang="en-US" sz="2200" b="1" dirty="0"/>
          </a:p>
        </p:txBody>
      </p:sp>
      <p:sp>
        <p:nvSpPr>
          <p:cNvPr id="7" name="Rectangle 6"/>
          <p:cNvSpPr/>
          <p:nvPr/>
        </p:nvSpPr>
        <p:spPr>
          <a:xfrm>
            <a:off x="157770" y="2829825"/>
            <a:ext cx="3345284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Shape: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area(self):</a:t>
            </a:r>
          </a:p>
          <a:p>
            <a:r>
              <a:rPr lang="en-US" sz="2200" b="1" dirty="0"/>
              <a:t>        pass</a:t>
            </a:r>
          </a:p>
          <a:p>
            <a:endParaRPr lang="en-US" sz="2200" b="1" dirty="0"/>
          </a:p>
          <a:p>
            <a:r>
              <a:rPr lang="en-US" sz="2200" b="1" dirty="0"/>
              <a:t>class Rectangle(Shape):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</a:t>
            </a:r>
            <a:r>
              <a:rPr lang="en-US" sz="2200" b="1" dirty="0" err="1"/>
              <a:t>init</a:t>
            </a:r>
            <a:r>
              <a:rPr lang="en-US" sz="2200" b="1" dirty="0"/>
              <a:t>__(self, w, h):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self.w</a:t>
            </a:r>
            <a:r>
              <a:rPr lang="en-US" sz="2200" b="1" dirty="0"/>
              <a:t> = w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self.h</a:t>
            </a:r>
            <a:r>
              <a:rPr lang="en-US" sz="2200" b="1" dirty="0"/>
              <a:t> = h</a:t>
            </a:r>
          </a:p>
          <a:p>
            <a:r>
              <a:rPr lang="en-US" sz="2200" b="1" dirty="0"/>
              <a:t>    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area(self):</a:t>
            </a:r>
          </a:p>
          <a:p>
            <a:r>
              <a:rPr lang="en-US" sz="2200" b="1" dirty="0"/>
              <a:t>        return </a:t>
            </a:r>
            <a:r>
              <a:rPr lang="en-US" sz="2200" b="1" dirty="0" err="1"/>
              <a:t>self.w</a:t>
            </a:r>
            <a:r>
              <a:rPr lang="en-US" sz="2200" b="1" dirty="0"/>
              <a:t> * </a:t>
            </a:r>
            <a:r>
              <a:rPr lang="en-US" sz="2200" b="1" dirty="0" err="1"/>
              <a:t>self.h</a:t>
            </a:r>
            <a:endParaRPr lang="en-US" sz="2200" b="1" dirty="0"/>
          </a:p>
        </p:txBody>
      </p:sp>
      <p:sp>
        <p:nvSpPr>
          <p:cNvPr id="8" name="Rectangle 7"/>
          <p:cNvSpPr/>
          <p:nvPr/>
        </p:nvSpPr>
        <p:spPr>
          <a:xfrm>
            <a:off x="3907357" y="3167063"/>
            <a:ext cx="518872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Rectangle is a Shape </a:t>
            </a:r>
            <a:r>
              <a:rPr lang="en-US" sz="2200" b="1" dirty="0" smtClean="0"/>
              <a:t>= </a:t>
            </a:r>
            <a:r>
              <a:rPr lang="en-US" sz="2200" b="1" dirty="0"/>
              <a:t>logical and clean.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57770" y="2829825"/>
            <a:ext cx="3345284" cy="381642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062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8433" y="4024"/>
            <a:ext cx="489428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chemeClr val="bg1"/>
                </a:solidFill>
              </a:rPr>
              <a:t>Use of </a:t>
            </a:r>
            <a:r>
              <a:rPr lang="en-US" sz="4400" b="1" dirty="0">
                <a:solidFill>
                  <a:schemeClr val="bg1"/>
                </a:solidFill>
              </a:rPr>
              <a:t>Composition </a:t>
            </a:r>
          </a:p>
        </p:txBody>
      </p:sp>
      <p:sp>
        <p:nvSpPr>
          <p:cNvPr id="3" name="Rectangle 2"/>
          <p:cNvSpPr/>
          <p:nvPr/>
        </p:nvSpPr>
        <p:spPr>
          <a:xfrm>
            <a:off x="148433" y="773465"/>
            <a:ext cx="83902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Use composition when you want flexibility, reuse, and loose coupling.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148433" y="1204352"/>
            <a:ext cx="430583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Relationship is HAS-A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Behavior may change at runtime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Avoiding tight coupling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48433" y="2435289"/>
            <a:ext cx="5273573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Engine: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start(self):</a:t>
            </a:r>
          </a:p>
          <a:p>
            <a:r>
              <a:rPr lang="en-US" sz="2200" b="1" dirty="0"/>
              <a:t>        print("Engine starts")</a:t>
            </a:r>
          </a:p>
          <a:p>
            <a:endParaRPr lang="en-US" sz="2200" b="1" dirty="0"/>
          </a:p>
          <a:p>
            <a:r>
              <a:rPr lang="en-US" sz="2200" b="1" dirty="0"/>
              <a:t>class </a:t>
            </a:r>
            <a:r>
              <a:rPr lang="en-US" sz="2200" b="1" dirty="0" err="1"/>
              <a:t>ElectricEngine</a:t>
            </a:r>
            <a:r>
              <a:rPr lang="en-US" sz="2200" b="1" dirty="0"/>
              <a:t>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start(self):</a:t>
            </a:r>
          </a:p>
          <a:p>
            <a:r>
              <a:rPr lang="en-US" sz="2200" b="1" dirty="0"/>
              <a:t>        print("Electric engine starts silently")</a:t>
            </a:r>
          </a:p>
          <a:p>
            <a:endParaRPr lang="en-US" sz="2200" b="1" dirty="0"/>
          </a:p>
          <a:p>
            <a:r>
              <a:rPr lang="en-US" sz="2200" b="1" dirty="0"/>
              <a:t>class Car: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</a:t>
            </a:r>
            <a:r>
              <a:rPr lang="en-US" sz="2200" b="1" dirty="0" err="1"/>
              <a:t>init</a:t>
            </a:r>
            <a:r>
              <a:rPr lang="en-US" sz="2200" b="1" dirty="0"/>
              <a:t>__(self, engine):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self.engine</a:t>
            </a:r>
            <a:r>
              <a:rPr lang="en-US" sz="2200" b="1" dirty="0"/>
              <a:t> = engine   </a:t>
            </a:r>
            <a:r>
              <a:rPr lang="en-US" sz="2200" b="1" dirty="0">
                <a:solidFill>
                  <a:schemeClr val="bg1"/>
                </a:solidFill>
              </a:rPr>
              <a:t># </a:t>
            </a:r>
            <a:r>
              <a:rPr lang="en-US" sz="2200" b="1" dirty="0" smtClean="0">
                <a:solidFill>
                  <a:schemeClr val="bg1"/>
                </a:solidFill>
              </a:rPr>
              <a:t>Composition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10715" y="2455021"/>
            <a:ext cx="3700529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err="1"/>
              <a:t>def</a:t>
            </a:r>
            <a:r>
              <a:rPr lang="en-US" sz="2200" b="1" dirty="0"/>
              <a:t> start(self):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self.engine.start</a:t>
            </a:r>
            <a:r>
              <a:rPr lang="en-US" sz="2200" b="1" dirty="0"/>
              <a:t>()</a:t>
            </a:r>
          </a:p>
          <a:p>
            <a:endParaRPr lang="en-US" sz="2200" b="1" dirty="0"/>
          </a:p>
          <a:p>
            <a:r>
              <a:rPr lang="en-US" sz="2200" b="1" dirty="0"/>
              <a:t>car1 = Car(Engine())</a:t>
            </a:r>
          </a:p>
          <a:p>
            <a:r>
              <a:rPr lang="en-US" sz="2200" b="1" dirty="0"/>
              <a:t>car2 = Car(</a:t>
            </a:r>
            <a:r>
              <a:rPr lang="en-US" sz="2200" b="1" dirty="0" err="1"/>
              <a:t>ElectricEngine</a:t>
            </a:r>
            <a:r>
              <a:rPr lang="en-US" sz="2200" b="1" dirty="0"/>
              <a:t>())</a:t>
            </a:r>
          </a:p>
          <a:p>
            <a:endParaRPr lang="en-US" sz="2200" b="1" dirty="0"/>
          </a:p>
          <a:p>
            <a:r>
              <a:rPr lang="en-US" sz="2200" b="1" dirty="0"/>
              <a:t>car1.start()</a:t>
            </a:r>
          </a:p>
          <a:p>
            <a:r>
              <a:rPr lang="en-US" sz="2200" b="1" dirty="0"/>
              <a:t>car2.start()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310715" y="5378729"/>
            <a:ext cx="351519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Engine starts</a:t>
            </a:r>
          </a:p>
          <a:p>
            <a:r>
              <a:rPr lang="en-US" sz="2200" b="1" dirty="0" smtClean="0"/>
              <a:t>Electric </a:t>
            </a:r>
            <a:r>
              <a:rPr lang="en-US" sz="2200" b="1" dirty="0"/>
              <a:t>engine starts silently</a:t>
            </a:r>
          </a:p>
        </p:txBody>
      </p:sp>
      <p:sp>
        <p:nvSpPr>
          <p:cNvPr id="9" name="Rectangle 8"/>
          <p:cNvSpPr/>
          <p:nvPr/>
        </p:nvSpPr>
        <p:spPr>
          <a:xfrm>
            <a:off x="148433" y="2435289"/>
            <a:ext cx="4990237" cy="393975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10716" y="2435289"/>
            <a:ext cx="3872574" cy="28205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306096" y="5378727"/>
            <a:ext cx="3872574" cy="1107997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9178670" y="2435288"/>
            <a:ext cx="301365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You can swap behavior easily without changing Car</a:t>
            </a:r>
          </a:p>
        </p:txBody>
      </p:sp>
    </p:spTree>
    <p:extLst>
      <p:ext uri="{BB962C8B-B14F-4D97-AF65-F5344CB8AC3E}">
        <p14:creationId xmlns:p14="http://schemas.microsoft.com/office/powerpoint/2010/main" val="3075526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694932"/>
              </p:ext>
            </p:extLst>
          </p:nvPr>
        </p:nvGraphicFramePr>
        <p:xfrm>
          <a:off x="891863" y="2029387"/>
          <a:ext cx="10131426" cy="26517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377142"/>
                <a:gridCol w="3377142"/>
                <a:gridCol w="337714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Aspect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Inheritance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Composition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/>
                        <a:t>Relationship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IS-A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HAS-A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High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Coupling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Loose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Reusability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High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Runtime changes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Hard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Easy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Maintenance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Risky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Safer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012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600" y="0"/>
            <a:ext cx="529984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chemeClr val="bg1"/>
                </a:solidFill>
              </a:rPr>
              <a:t>Module Collaboration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6600" y="769441"/>
            <a:ext cx="11767721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/>
              <a:t>Module </a:t>
            </a:r>
            <a:r>
              <a:rPr lang="en-US" sz="2200" b="1" dirty="0"/>
              <a:t>collaboration is about how different classes/modules work together to complete a task without becoming tightly coupled. It’s less about individual classes and more about how responsibilities are distributed and coordinated.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89258" y="1877437"/>
            <a:ext cx="1073741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If composition vs inheritance </a:t>
            </a:r>
            <a:r>
              <a:rPr lang="en-US" sz="2200" b="1" dirty="0" smtClean="0"/>
              <a:t>is </a:t>
            </a:r>
            <a:r>
              <a:rPr lang="en-US" sz="2200" b="1" dirty="0"/>
              <a:t>about structure, module collaboration is about interaction.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600" y="2431435"/>
            <a:ext cx="6096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REASON</a:t>
            </a:r>
          </a:p>
          <a:p>
            <a:r>
              <a:rPr lang="en-US" sz="2200" b="1" dirty="0" smtClean="0"/>
              <a:t>How </a:t>
            </a:r>
            <a:r>
              <a:rPr lang="en-US" sz="2200" b="1" dirty="0"/>
              <a:t>objects communicate</a:t>
            </a:r>
          </a:p>
          <a:p>
            <a:r>
              <a:rPr lang="en-US" sz="2200" b="1" dirty="0"/>
              <a:t>How responsibilities are shared</a:t>
            </a:r>
          </a:p>
          <a:p>
            <a:r>
              <a:rPr lang="en-US" sz="2200" b="1" dirty="0"/>
              <a:t>How dependencies are managed</a:t>
            </a:r>
          </a:p>
        </p:txBody>
      </p:sp>
    </p:spTree>
    <p:extLst>
      <p:ext uri="{BB962C8B-B14F-4D97-AF65-F5344CB8AC3E}">
        <p14:creationId xmlns:p14="http://schemas.microsoft.com/office/powerpoint/2010/main" val="2544320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1889"/>
            <a:ext cx="864974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Direct </a:t>
            </a:r>
            <a:r>
              <a:rPr lang="en-US" sz="4400" b="1" dirty="0" smtClean="0">
                <a:solidFill>
                  <a:schemeClr val="bg1"/>
                </a:solidFill>
              </a:rPr>
              <a:t>Collaboration (</a:t>
            </a:r>
            <a:r>
              <a:rPr lang="en-US" sz="4400" b="1" dirty="0">
                <a:solidFill>
                  <a:schemeClr val="bg1"/>
                </a:solidFill>
              </a:rPr>
              <a:t>Tight </a:t>
            </a:r>
            <a:r>
              <a:rPr lang="en-US" sz="4400" b="1" dirty="0" smtClean="0">
                <a:solidFill>
                  <a:schemeClr val="bg1"/>
                </a:solidFill>
              </a:rPr>
              <a:t>Coupling)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871330"/>
            <a:ext cx="600895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One module directly creates and controls another.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95564"/>
            <a:ext cx="6096000" cy="34778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class Engine: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start(self):</a:t>
            </a:r>
          </a:p>
          <a:p>
            <a:r>
              <a:rPr lang="en-US" sz="2200" b="1" dirty="0"/>
              <a:t>        print("Engine started")</a:t>
            </a:r>
          </a:p>
          <a:p>
            <a:endParaRPr lang="en-US" sz="2200" b="1" dirty="0"/>
          </a:p>
          <a:p>
            <a:r>
              <a:rPr lang="en-US" sz="2200" b="1" dirty="0"/>
              <a:t>class Car: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</a:t>
            </a:r>
            <a:r>
              <a:rPr lang="en-US" sz="2200" b="1" dirty="0" err="1"/>
              <a:t>init</a:t>
            </a:r>
            <a:r>
              <a:rPr lang="en-US" sz="2200" b="1" dirty="0"/>
              <a:t>__(self):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self.engine</a:t>
            </a:r>
            <a:r>
              <a:rPr lang="en-US" sz="2200" b="1" dirty="0"/>
              <a:t> = Engine()   </a:t>
            </a:r>
            <a:r>
              <a:rPr lang="en-US" sz="2200" b="1" dirty="0">
                <a:solidFill>
                  <a:schemeClr val="bg1"/>
                </a:solidFill>
              </a:rPr>
              <a:t># tightly coupled</a:t>
            </a:r>
          </a:p>
          <a:p>
            <a:r>
              <a:rPr lang="en-US" sz="2200" b="1" dirty="0"/>
              <a:t>    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drive(self):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self.engine.start</a:t>
            </a:r>
            <a:r>
              <a:rPr lang="en-US" sz="2200" b="1" dirty="0"/>
              <a:t>()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95564"/>
            <a:ext cx="5344732" cy="3643106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974868" y="3466444"/>
            <a:ext cx="345583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Hard to change Engine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No flexibility</a:t>
            </a:r>
          </a:p>
        </p:txBody>
      </p:sp>
    </p:spTree>
    <p:extLst>
      <p:ext uri="{BB962C8B-B14F-4D97-AF65-F5344CB8AC3E}">
        <p14:creationId xmlns:p14="http://schemas.microsoft.com/office/powerpoint/2010/main" val="3905731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7192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Loose Coupling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69441"/>
            <a:ext cx="704250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Dependencies are passed from outside, not created </a:t>
            </a:r>
            <a:r>
              <a:rPr lang="en-US" sz="2200" b="1" dirty="0" smtClean="0"/>
              <a:t>inside.</a:t>
            </a:r>
            <a:endParaRPr lang="en-US" sz="2200" b="1" dirty="0"/>
          </a:p>
        </p:txBody>
      </p:sp>
      <p:sp>
        <p:nvSpPr>
          <p:cNvPr id="5" name="Rectangle 4"/>
          <p:cNvSpPr/>
          <p:nvPr/>
        </p:nvSpPr>
        <p:spPr>
          <a:xfrm>
            <a:off x="111617" y="1402036"/>
            <a:ext cx="6096000" cy="449353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class Engine: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start(self):</a:t>
            </a:r>
          </a:p>
          <a:p>
            <a:r>
              <a:rPr lang="en-US" sz="2200" b="1" dirty="0"/>
              <a:t>        print("Engine started")</a:t>
            </a:r>
          </a:p>
          <a:p>
            <a:endParaRPr lang="en-US" sz="2200" b="1" dirty="0"/>
          </a:p>
          <a:p>
            <a:r>
              <a:rPr lang="en-US" sz="2200" b="1" dirty="0"/>
              <a:t>class Car: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</a:t>
            </a:r>
            <a:r>
              <a:rPr lang="en-US" sz="2200" b="1" dirty="0" err="1"/>
              <a:t>init</a:t>
            </a:r>
            <a:r>
              <a:rPr lang="en-US" sz="2200" b="1" dirty="0"/>
              <a:t>__(self, engine):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self.engine</a:t>
            </a:r>
            <a:r>
              <a:rPr lang="en-US" sz="2200" b="1" dirty="0"/>
              <a:t> = engine   </a:t>
            </a:r>
            <a:r>
              <a:rPr lang="en-US" sz="2200" b="1" dirty="0">
                <a:solidFill>
                  <a:schemeClr val="bg1"/>
                </a:solidFill>
              </a:rPr>
              <a:t># injected dependency</a:t>
            </a:r>
          </a:p>
          <a:p>
            <a:r>
              <a:rPr lang="en-US" sz="2200" b="1" dirty="0"/>
              <a:t>    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drive(self):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self.engine.start</a:t>
            </a:r>
            <a:r>
              <a:rPr lang="en-US" sz="2200" b="1" dirty="0"/>
              <a:t>()</a:t>
            </a:r>
          </a:p>
          <a:p>
            <a:endParaRPr lang="en-US" sz="2200" b="1" dirty="0"/>
          </a:p>
          <a:p>
            <a:r>
              <a:rPr lang="en-US" sz="2200" b="1" dirty="0"/>
              <a:t>car = Car(Engine())</a:t>
            </a:r>
          </a:p>
          <a:p>
            <a:r>
              <a:rPr lang="en-US" sz="2200" b="1" dirty="0" err="1"/>
              <a:t>car.drive</a:t>
            </a:r>
            <a:r>
              <a:rPr lang="en-US" sz="2200" b="1" dirty="0"/>
              <a:t>()</a:t>
            </a:r>
          </a:p>
        </p:txBody>
      </p:sp>
      <p:sp>
        <p:nvSpPr>
          <p:cNvPr id="6" name="Rectangle 5"/>
          <p:cNvSpPr/>
          <p:nvPr/>
        </p:nvSpPr>
        <p:spPr>
          <a:xfrm>
            <a:off x="6059510" y="1468190"/>
            <a:ext cx="186486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Engine </a:t>
            </a:r>
            <a:r>
              <a:rPr lang="en-US" sz="2200" b="1" dirty="0"/>
              <a:t>started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617" y="1402037"/>
            <a:ext cx="5761149" cy="446778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59510" y="1468190"/>
            <a:ext cx="1864869" cy="76944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005005" y="2439339"/>
            <a:ext cx="197476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More flexible</a:t>
            </a:r>
            <a:br>
              <a:rPr lang="en-US" sz="2200" b="1" dirty="0"/>
            </a:br>
            <a:r>
              <a:rPr lang="en-US" sz="2200" b="1" dirty="0" smtClean="0"/>
              <a:t>Easier </a:t>
            </a:r>
            <a:r>
              <a:rPr lang="en-US" sz="2200" b="1" dirty="0"/>
              <a:t>to test</a:t>
            </a:r>
          </a:p>
        </p:txBody>
      </p:sp>
    </p:spTree>
    <p:extLst>
      <p:ext uri="{BB962C8B-B14F-4D97-AF65-F5344CB8AC3E}">
        <p14:creationId xmlns:p14="http://schemas.microsoft.com/office/powerpoint/2010/main" val="3996287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1889"/>
            <a:ext cx="858722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err="1">
                <a:solidFill>
                  <a:schemeClr val="bg1"/>
                </a:solidFill>
              </a:rPr>
              <a:t>Pythonic</a:t>
            </a:r>
            <a:r>
              <a:rPr lang="en-US" sz="4400" b="1" dirty="0">
                <a:solidFill>
                  <a:schemeClr val="bg1"/>
                </a:solidFill>
              </a:rPr>
              <a:t> friend concept equivalents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71330"/>
            <a:ext cx="11719775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In languages like C++, the friend concept allows one class or function to access the private members of another class</a:t>
            </a:r>
            <a:r>
              <a:rPr lang="en-US" sz="2200" b="1" dirty="0" smtClean="0"/>
              <a:t>.</a:t>
            </a:r>
            <a:endParaRPr lang="en-US" sz="2200" b="1" dirty="0"/>
          </a:p>
          <a:p>
            <a:r>
              <a:rPr lang="en-US" sz="2200" b="1" dirty="0"/>
              <a:t>Python does not have a direct friend keyword like C++, because Python follows the philosophy</a:t>
            </a:r>
            <a:r>
              <a:rPr lang="en-US" sz="2200" b="1" dirty="0" smtClean="0"/>
              <a:t>:</a:t>
            </a:r>
            <a:endParaRPr lang="en-US" sz="2200" b="1" dirty="0"/>
          </a:p>
          <a:p>
            <a:r>
              <a:rPr lang="en-US" sz="2200" b="1" dirty="0"/>
              <a:t>“We are all consenting adults here</a:t>
            </a:r>
            <a:r>
              <a:rPr lang="en-US" sz="2200" b="1" dirty="0" smtClean="0"/>
              <a:t>.”</a:t>
            </a:r>
            <a:endParaRPr lang="en-US" sz="2200" b="1" dirty="0"/>
          </a:p>
          <a:p>
            <a:r>
              <a:rPr lang="en-US" sz="2200" b="1" dirty="0"/>
              <a:t>Instead of strict access control, Python uses conventions and collaboration mechanisms.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746586"/>
            <a:ext cx="273581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Friend Concept in C</a:t>
            </a:r>
            <a:r>
              <a:rPr lang="en-US" sz="2200" b="1" dirty="0" smtClean="0">
                <a:solidFill>
                  <a:schemeClr val="bg1"/>
                </a:solidFill>
              </a:rPr>
              <a:t>++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9887" y="3267625"/>
            <a:ext cx="2735814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A {</a:t>
            </a:r>
          </a:p>
          <a:p>
            <a:r>
              <a:rPr lang="en-US" sz="2200" b="1" dirty="0"/>
              <a:t>private: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int</a:t>
            </a:r>
            <a:r>
              <a:rPr lang="en-US" sz="2200" b="1" dirty="0"/>
              <a:t> secret = 10;</a:t>
            </a:r>
          </a:p>
          <a:p>
            <a:endParaRPr lang="en-US" sz="2200" b="1" dirty="0"/>
          </a:p>
          <a:p>
            <a:r>
              <a:rPr lang="en-US" sz="2200" b="1" dirty="0"/>
              <a:t>    friend class B;</a:t>
            </a:r>
          </a:p>
          <a:p>
            <a:r>
              <a:rPr lang="en-US" sz="2200" b="1" dirty="0"/>
              <a:t>};</a:t>
            </a:r>
          </a:p>
        </p:txBody>
      </p:sp>
      <p:sp>
        <p:nvSpPr>
          <p:cNvPr id="8" name="Rectangle 7"/>
          <p:cNvSpPr/>
          <p:nvPr/>
        </p:nvSpPr>
        <p:spPr>
          <a:xfrm>
            <a:off x="2735814" y="3357777"/>
            <a:ext cx="464377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B can access private members of 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887" y="3267625"/>
            <a:ext cx="2248310" cy="212365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470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3030" y="120652"/>
            <a:ext cx="6096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Python achieves similar behavior using:</a:t>
            </a:r>
          </a:p>
          <a:p>
            <a:pPr>
              <a:buFont typeface="+mj-lt"/>
              <a:buAutoNum type="arabicPeriod"/>
            </a:pPr>
            <a:r>
              <a:rPr lang="en-US" sz="2200" b="1" dirty="0" smtClean="0"/>
              <a:t> Naming </a:t>
            </a:r>
            <a:r>
              <a:rPr lang="en-US" sz="2200" b="1" dirty="0"/>
              <a:t>conventions </a:t>
            </a:r>
          </a:p>
          <a:p>
            <a:pPr>
              <a:buFont typeface="+mj-lt"/>
              <a:buAutoNum type="arabicPeriod"/>
            </a:pPr>
            <a:r>
              <a:rPr lang="en-US" sz="2200" b="1" dirty="0" smtClean="0"/>
              <a:t> Protected/private </a:t>
            </a:r>
            <a:r>
              <a:rPr lang="en-US" sz="2200" b="1" dirty="0"/>
              <a:t>attributes </a:t>
            </a:r>
          </a:p>
          <a:p>
            <a:pPr>
              <a:buFont typeface="+mj-lt"/>
              <a:buAutoNum type="arabicPeriod"/>
            </a:pPr>
            <a:r>
              <a:rPr lang="en-US" sz="2200" b="1" dirty="0" smtClean="0"/>
              <a:t> Composition </a:t>
            </a:r>
            <a:endParaRPr lang="en-US" sz="2200" b="1" dirty="0"/>
          </a:p>
          <a:p>
            <a:pPr>
              <a:buFont typeface="+mj-lt"/>
              <a:buAutoNum type="arabicPeriod"/>
            </a:pPr>
            <a:r>
              <a:rPr lang="en-US" sz="2200" b="1" dirty="0" smtClean="0"/>
              <a:t> Getter/setter </a:t>
            </a:r>
            <a:r>
              <a:rPr lang="en-US" sz="2200" b="1" dirty="0"/>
              <a:t>methods </a:t>
            </a:r>
          </a:p>
          <a:p>
            <a:pPr>
              <a:buFont typeface="+mj-lt"/>
              <a:buAutoNum type="arabicPeriod"/>
            </a:pPr>
            <a:r>
              <a:rPr lang="en-US" sz="2200" b="1" dirty="0" smtClean="0"/>
              <a:t> Inner </a:t>
            </a:r>
            <a:r>
              <a:rPr lang="en-US" sz="2200" b="1" dirty="0"/>
              <a:t>collaboration between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30" y="2511380"/>
            <a:ext cx="79717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/>
              <a:t>Assignment</a:t>
            </a:r>
            <a:br>
              <a:rPr lang="en-US" sz="3600" b="1" dirty="0" smtClean="0"/>
            </a:br>
            <a:r>
              <a:rPr lang="en-US" sz="3600" b="1" dirty="0" smtClean="0"/>
              <a:t>DEADLINE: 10-5-2026 till 12:00 mid night</a:t>
            </a:r>
          </a:p>
        </p:txBody>
      </p:sp>
    </p:spTree>
    <p:extLst>
      <p:ext uri="{BB962C8B-B14F-4D97-AF65-F5344CB8AC3E}">
        <p14:creationId xmlns:p14="http://schemas.microsoft.com/office/powerpoint/2010/main" val="548453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373" y="1679242"/>
            <a:ext cx="1183997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Software Design Patterns are reusable solutions to common software design problems.</a:t>
            </a:r>
            <a:br>
              <a:rPr lang="en-US" sz="2200" b="1" dirty="0"/>
            </a:br>
            <a:r>
              <a:rPr lang="en-US" sz="2200" b="1" dirty="0"/>
              <a:t>They are not complete programs, but templates or best practices that help developers build flexible, maintainable, and scalable applications.</a:t>
            </a:r>
          </a:p>
          <a:p>
            <a:r>
              <a:rPr lang="en-US" sz="2200" b="1" dirty="0"/>
              <a:t>Design patterns are widely used in Object-Oriented Programming (OOP).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374" y="130815"/>
            <a:ext cx="1183997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 smtClean="0">
                <a:solidFill>
                  <a:schemeClr val="bg1"/>
                </a:solidFill>
              </a:rPr>
              <a:t>Introduction </a:t>
            </a:r>
            <a:r>
              <a:rPr lang="en-US" sz="4400" b="1" dirty="0">
                <a:solidFill>
                  <a:schemeClr val="bg1"/>
                </a:solidFill>
              </a:rPr>
              <a:t>to software design patterns including Factory, Singleton and Strategy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373" y="3318152"/>
            <a:ext cx="6372835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Why Design Patterns are Important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373" y="4110677"/>
            <a:ext cx="6096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Design patterns help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Reduce </a:t>
            </a:r>
            <a:r>
              <a:rPr lang="en-US" sz="2200" b="1" dirty="0"/>
              <a:t>code </a:t>
            </a:r>
            <a:r>
              <a:rPr lang="en-US" sz="2200" b="1" dirty="0" smtClean="0"/>
              <a:t>duplication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Improve </a:t>
            </a:r>
            <a:r>
              <a:rPr lang="en-US" sz="2200" b="1" dirty="0"/>
              <a:t>code </a:t>
            </a:r>
            <a:r>
              <a:rPr lang="en-US" sz="2200" b="1" dirty="0" smtClean="0"/>
              <a:t>reusability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Make </a:t>
            </a:r>
            <a:r>
              <a:rPr lang="en-US" sz="2200" b="1" dirty="0"/>
              <a:t>systems easier to </a:t>
            </a:r>
            <a:r>
              <a:rPr lang="en-US" sz="2200" b="1" dirty="0" smtClean="0"/>
              <a:t>maintain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Improve </a:t>
            </a:r>
            <a:r>
              <a:rPr lang="en-US" sz="2200" b="1" dirty="0"/>
              <a:t>communication among </a:t>
            </a:r>
            <a:r>
              <a:rPr lang="en-US" sz="2200" b="1" dirty="0" smtClean="0"/>
              <a:t>developers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Create </a:t>
            </a:r>
            <a:r>
              <a:rPr lang="en-US" sz="2200" b="1" dirty="0"/>
              <a:t>flexible and scalable software</a:t>
            </a:r>
          </a:p>
        </p:txBody>
      </p:sp>
    </p:spTree>
    <p:extLst>
      <p:ext uri="{BB962C8B-B14F-4D97-AF65-F5344CB8AC3E}">
        <p14:creationId xmlns:p14="http://schemas.microsoft.com/office/powerpoint/2010/main" val="3356117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17799"/>
            <a:ext cx="725301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Design patterns are commonly divided into three categories: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574248"/>
              </p:ext>
            </p:extLst>
          </p:nvPr>
        </p:nvGraphicFramePr>
        <p:xfrm>
          <a:off x="106251" y="826500"/>
          <a:ext cx="10131424" cy="17068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065712"/>
                <a:gridCol w="506571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Purpose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Creational Patterns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Object creation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Structural Patterns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Class/object structure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Behavioral Patterns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Object interaction and behavior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6179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909" y="114768"/>
            <a:ext cx="850444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Factory Pattern (Creational Pattern)</a:t>
            </a:r>
          </a:p>
        </p:txBody>
      </p:sp>
      <p:sp>
        <p:nvSpPr>
          <p:cNvPr id="4" name="Rectangle 3"/>
          <p:cNvSpPr/>
          <p:nvPr/>
        </p:nvSpPr>
        <p:spPr>
          <a:xfrm>
            <a:off x="115909" y="884209"/>
            <a:ext cx="1050916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The Factory Pattern creates objects without exposing the exact creation logic to the user</a:t>
            </a:r>
            <a:r>
              <a:rPr lang="en-US" sz="2200" b="1" dirty="0" smtClean="0"/>
              <a:t>.</a:t>
            </a:r>
            <a:endParaRPr lang="en-US" sz="2200" b="1" dirty="0"/>
          </a:p>
          <a:p>
            <a:r>
              <a:rPr lang="en-US" sz="2200" b="1" dirty="0"/>
              <a:t>Instead of directly creating objects using:</a:t>
            </a:r>
          </a:p>
        </p:txBody>
      </p:sp>
      <p:sp>
        <p:nvSpPr>
          <p:cNvPr id="5" name="Rectangle 4"/>
          <p:cNvSpPr/>
          <p:nvPr/>
        </p:nvSpPr>
        <p:spPr>
          <a:xfrm>
            <a:off x="115909" y="1653650"/>
            <a:ext cx="137723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car = Car()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909" y="2123009"/>
            <a:ext cx="325178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 smtClean="0">
                <a:solidFill>
                  <a:schemeClr val="bg1"/>
                </a:solidFill>
              </a:rPr>
              <a:t>Real Life Example</a:t>
            </a:r>
            <a:endParaRPr lang="en-US" sz="3300" b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5908" y="2723173"/>
            <a:ext cx="877051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A restaurant kitchen prepares food for </a:t>
            </a:r>
            <a:r>
              <a:rPr lang="en-US" sz="2200" b="1" dirty="0" smtClean="0"/>
              <a:t>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 smtClean="0"/>
              <a:t>Customers </a:t>
            </a:r>
            <a:r>
              <a:rPr lang="en-US" sz="2200" b="1" dirty="0"/>
              <a:t>only request food; they do not know how it is prepared.</a:t>
            </a:r>
          </a:p>
        </p:txBody>
      </p:sp>
    </p:spTree>
    <p:extLst>
      <p:ext uri="{BB962C8B-B14F-4D97-AF65-F5344CB8AC3E}">
        <p14:creationId xmlns:p14="http://schemas.microsoft.com/office/powerpoint/2010/main" val="2924104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648" y="207057"/>
            <a:ext cx="6096000" cy="65248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class Car: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drive(self):</a:t>
            </a:r>
          </a:p>
          <a:p>
            <a:r>
              <a:rPr lang="en-US" sz="2200" b="1" dirty="0"/>
              <a:t>        print("Driving a car")</a:t>
            </a:r>
          </a:p>
          <a:p>
            <a:endParaRPr lang="en-US" sz="2200" b="1" dirty="0"/>
          </a:p>
          <a:p>
            <a:r>
              <a:rPr lang="en-US" sz="2200" b="1" dirty="0"/>
              <a:t>class Bike: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drive(self):</a:t>
            </a:r>
          </a:p>
          <a:p>
            <a:r>
              <a:rPr lang="en-US" sz="2200" b="1" dirty="0"/>
              <a:t>        print("Riding a bike")</a:t>
            </a:r>
          </a:p>
          <a:p>
            <a:endParaRPr lang="en-US" sz="2200" b="1" dirty="0"/>
          </a:p>
          <a:p>
            <a:r>
              <a:rPr lang="en-US" sz="2200" b="1" dirty="0"/>
              <a:t>class </a:t>
            </a:r>
            <a:r>
              <a:rPr lang="en-US" sz="2200" b="1" dirty="0" err="1"/>
              <a:t>VehicleFactory</a:t>
            </a:r>
            <a:r>
              <a:rPr lang="en-US" sz="2200" b="1" dirty="0"/>
              <a:t>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</a:t>
            </a:r>
            <a:r>
              <a:rPr lang="en-US" sz="2200" b="1" dirty="0" err="1"/>
              <a:t>get_vehicle</a:t>
            </a:r>
            <a:r>
              <a:rPr lang="en-US" sz="2200" b="1" dirty="0"/>
              <a:t>(self, </a:t>
            </a:r>
            <a:r>
              <a:rPr lang="en-US" sz="2200" b="1" dirty="0" err="1"/>
              <a:t>vehicle_type</a:t>
            </a:r>
            <a:r>
              <a:rPr lang="en-US" sz="2200" b="1" dirty="0"/>
              <a:t>):</a:t>
            </a:r>
          </a:p>
          <a:p>
            <a:r>
              <a:rPr lang="en-US" sz="2200" b="1" dirty="0"/>
              <a:t>        if </a:t>
            </a:r>
            <a:r>
              <a:rPr lang="en-US" sz="2200" b="1" dirty="0" err="1"/>
              <a:t>vehicle_type</a:t>
            </a:r>
            <a:r>
              <a:rPr lang="en-US" sz="2200" b="1" dirty="0"/>
              <a:t> == "car":</a:t>
            </a:r>
          </a:p>
          <a:p>
            <a:r>
              <a:rPr lang="en-US" sz="2200" b="1" dirty="0"/>
              <a:t>            return Car()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elif</a:t>
            </a:r>
            <a:r>
              <a:rPr lang="en-US" sz="2200" b="1" dirty="0"/>
              <a:t> </a:t>
            </a:r>
            <a:r>
              <a:rPr lang="en-US" sz="2200" b="1" dirty="0" err="1"/>
              <a:t>vehicle_type</a:t>
            </a:r>
            <a:r>
              <a:rPr lang="en-US" sz="2200" b="1" dirty="0"/>
              <a:t> == "bike":</a:t>
            </a:r>
          </a:p>
          <a:p>
            <a:r>
              <a:rPr lang="en-US" sz="2200" b="1" dirty="0"/>
              <a:t>            return Bike()</a:t>
            </a:r>
          </a:p>
          <a:p>
            <a:endParaRPr lang="en-US" sz="2200" b="1" dirty="0"/>
          </a:p>
          <a:p>
            <a:r>
              <a:rPr lang="en-US" sz="2200" b="1" dirty="0"/>
              <a:t>factory = </a:t>
            </a:r>
            <a:r>
              <a:rPr lang="en-US" sz="2200" b="1" dirty="0" err="1"/>
              <a:t>VehicleFactory</a:t>
            </a:r>
            <a:r>
              <a:rPr lang="en-US" sz="2200" b="1" dirty="0"/>
              <a:t>()</a:t>
            </a:r>
          </a:p>
          <a:p>
            <a:endParaRPr lang="en-US" sz="2200" b="1" dirty="0"/>
          </a:p>
          <a:p>
            <a:r>
              <a:rPr lang="en-US" sz="2200" b="1" dirty="0"/>
              <a:t>v1 = </a:t>
            </a:r>
            <a:r>
              <a:rPr lang="en-US" sz="2200" b="1" dirty="0" err="1"/>
              <a:t>factory.get_vehicle</a:t>
            </a:r>
            <a:r>
              <a:rPr lang="en-US" sz="2200" b="1" dirty="0"/>
              <a:t>("car")</a:t>
            </a:r>
          </a:p>
          <a:p>
            <a:r>
              <a:rPr lang="en-US" sz="2200" b="1" dirty="0"/>
              <a:t>v1.drive</a:t>
            </a:r>
            <a:r>
              <a:rPr lang="en-US" sz="2200" b="1" dirty="0" smtClean="0"/>
              <a:t>()</a:t>
            </a:r>
            <a:endParaRPr lang="en-US" sz="2200" b="1" dirty="0"/>
          </a:p>
        </p:txBody>
      </p:sp>
      <p:sp>
        <p:nvSpPr>
          <p:cNvPr id="3" name="Rectangle 2"/>
          <p:cNvSpPr/>
          <p:nvPr/>
        </p:nvSpPr>
        <p:spPr>
          <a:xfrm>
            <a:off x="4939048" y="207057"/>
            <a:ext cx="399889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/>
              <a:t>v2 = </a:t>
            </a:r>
            <a:r>
              <a:rPr lang="en-US" sz="2200" b="1" dirty="0" err="1" smtClean="0"/>
              <a:t>factory.get_vehicle</a:t>
            </a:r>
            <a:r>
              <a:rPr lang="en-US" sz="2200" b="1" dirty="0"/>
              <a:t>("bike")</a:t>
            </a:r>
          </a:p>
          <a:p>
            <a:r>
              <a:rPr lang="en-US" sz="2200" b="1" dirty="0"/>
              <a:t>v2.drive()</a:t>
            </a:r>
            <a:endParaRPr lang="en-US" sz="2200" b="1" dirty="0"/>
          </a:p>
        </p:txBody>
      </p:sp>
      <p:sp>
        <p:nvSpPr>
          <p:cNvPr id="4" name="Rectangle 3"/>
          <p:cNvSpPr/>
          <p:nvPr/>
        </p:nvSpPr>
        <p:spPr>
          <a:xfrm>
            <a:off x="4939048" y="1286333"/>
            <a:ext cx="167257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Driving </a:t>
            </a:r>
            <a:r>
              <a:rPr lang="en-US" sz="2200" b="1" dirty="0"/>
              <a:t>a </a:t>
            </a:r>
            <a:r>
              <a:rPr lang="en-US" sz="2200" b="1" dirty="0" smtClean="0"/>
              <a:t>car</a:t>
            </a:r>
          </a:p>
          <a:p>
            <a:r>
              <a:rPr lang="en-US" sz="2200" b="1" dirty="0" smtClean="0"/>
              <a:t>Riding </a:t>
            </a:r>
            <a:r>
              <a:rPr lang="en-US" sz="2200" b="1" dirty="0"/>
              <a:t>a bike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214648" y="207057"/>
            <a:ext cx="4550535" cy="652486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939048" y="207057"/>
            <a:ext cx="4550535" cy="76944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939048" y="1300693"/>
            <a:ext cx="1912513" cy="1093636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939048" y="2704164"/>
            <a:ext cx="407187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Advantages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Centralized </a:t>
            </a:r>
            <a:r>
              <a:rPr lang="en-US" sz="2200" b="1" dirty="0"/>
              <a:t>object creation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Easier maintenance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Flexible and scalable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62953" y="4557979"/>
            <a:ext cx="390273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Disadvantages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 smtClean="0"/>
              <a:t>More </a:t>
            </a:r>
            <a:r>
              <a:rPr lang="en-US" sz="2200" b="1" dirty="0"/>
              <a:t>classes and complexity </a:t>
            </a:r>
          </a:p>
        </p:txBody>
      </p:sp>
    </p:spTree>
    <p:extLst>
      <p:ext uri="{BB962C8B-B14F-4D97-AF65-F5344CB8AC3E}">
        <p14:creationId xmlns:p14="http://schemas.microsoft.com/office/powerpoint/2010/main" val="4022385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1616" y="97456"/>
            <a:ext cx="897040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Singleton Pattern (Creational Pattern)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16" y="871330"/>
            <a:ext cx="1124755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The Singleton Pattern ensures that only one object of a class exists throughout the program.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616" y="1302217"/>
            <a:ext cx="5305042" cy="9387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 smtClean="0">
                <a:solidFill>
                  <a:schemeClr val="bg1"/>
                </a:solidFill>
              </a:rPr>
              <a:t>Real Life Example</a:t>
            </a:r>
          </a:p>
          <a:p>
            <a:r>
              <a:rPr lang="en-US" sz="2200" b="1" dirty="0" smtClean="0"/>
              <a:t>A </a:t>
            </a:r>
            <a:r>
              <a:rPr lang="en-US" sz="2200" b="1" dirty="0"/>
              <a:t>country has only one central government.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616" y="2286908"/>
            <a:ext cx="6096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class Database:</a:t>
            </a:r>
          </a:p>
          <a:p>
            <a:r>
              <a:rPr lang="en-US" sz="2200" b="1" dirty="0"/>
              <a:t>    _instance = None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__new__(</a:t>
            </a:r>
            <a:r>
              <a:rPr lang="en-US" sz="2200" b="1" dirty="0" err="1"/>
              <a:t>cls</a:t>
            </a:r>
            <a:r>
              <a:rPr lang="en-US" sz="2200" b="1" dirty="0"/>
              <a:t>):</a:t>
            </a:r>
          </a:p>
          <a:p>
            <a:r>
              <a:rPr lang="en-US" sz="2200" b="1" dirty="0"/>
              <a:t>        if </a:t>
            </a:r>
            <a:r>
              <a:rPr lang="en-US" sz="2200" b="1" dirty="0" err="1"/>
              <a:t>cls</a:t>
            </a:r>
            <a:r>
              <a:rPr lang="en-US" sz="2200" b="1" dirty="0"/>
              <a:t>._instance is None:</a:t>
            </a:r>
          </a:p>
          <a:p>
            <a:r>
              <a:rPr lang="en-US" sz="2200" b="1" dirty="0"/>
              <a:t>            </a:t>
            </a:r>
            <a:r>
              <a:rPr lang="en-US" sz="2200" b="1" dirty="0" err="1"/>
              <a:t>cls</a:t>
            </a:r>
            <a:r>
              <a:rPr lang="en-US" sz="2200" b="1" dirty="0"/>
              <a:t>._instance = super().__new__(</a:t>
            </a:r>
            <a:r>
              <a:rPr lang="en-US" sz="2200" b="1" dirty="0" err="1"/>
              <a:t>cls</a:t>
            </a:r>
            <a:r>
              <a:rPr lang="en-US" sz="2200" b="1" dirty="0"/>
              <a:t>)</a:t>
            </a:r>
          </a:p>
          <a:p>
            <a:r>
              <a:rPr lang="en-US" sz="2200" b="1" dirty="0"/>
              <a:t>        return </a:t>
            </a:r>
            <a:r>
              <a:rPr lang="en-US" sz="2200" b="1" dirty="0" err="1"/>
              <a:t>cls</a:t>
            </a:r>
            <a:r>
              <a:rPr lang="en-US" sz="2200" b="1" dirty="0"/>
              <a:t>._instance</a:t>
            </a:r>
          </a:p>
          <a:p>
            <a:endParaRPr lang="en-US" sz="2200" b="1" dirty="0"/>
          </a:p>
          <a:p>
            <a:r>
              <a:rPr lang="en-US" sz="2200" b="1" dirty="0"/>
              <a:t>db1 = Database()</a:t>
            </a:r>
          </a:p>
          <a:p>
            <a:r>
              <a:rPr lang="en-US" sz="2200" b="1" dirty="0"/>
              <a:t>db2 = Database()</a:t>
            </a:r>
          </a:p>
          <a:p>
            <a:endParaRPr lang="en-US" sz="2200" b="1" dirty="0"/>
          </a:p>
          <a:p>
            <a:r>
              <a:rPr lang="en-US" sz="2200" b="1" dirty="0"/>
              <a:t>print(db1 is db2)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6869" y="2299787"/>
            <a:ext cx="117371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True</a:t>
            </a:r>
            <a:endParaRPr lang="en-US" sz="2200" b="1" dirty="0"/>
          </a:p>
        </p:txBody>
      </p:sp>
      <p:sp>
        <p:nvSpPr>
          <p:cNvPr id="7" name="Rectangle 6"/>
          <p:cNvSpPr/>
          <p:nvPr/>
        </p:nvSpPr>
        <p:spPr>
          <a:xfrm>
            <a:off x="111616" y="2286908"/>
            <a:ext cx="5623775" cy="4129226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827690" y="2299787"/>
            <a:ext cx="1294327" cy="76944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856869" y="3256404"/>
            <a:ext cx="423902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Database connections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Logging systems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Configuration management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66327" y="4551576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Advantages</a:t>
            </a:r>
          </a:p>
          <a:p>
            <a:r>
              <a:rPr lang="en-US" sz="2200" b="1" dirty="0" smtClean="0"/>
              <a:t>Saves </a:t>
            </a:r>
            <a:r>
              <a:rPr lang="en-US" sz="2200" b="1" dirty="0"/>
              <a:t>memory</a:t>
            </a:r>
          </a:p>
          <a:p>
            <a:r>
              <a:rPr lang="en-US" sz="2200" b="1" dirty="0" smtClean="0"/>
              <a:t>Controls shared resources</a:t>
            </a:r>
            <a:endParaRPr lang="en-US" sz="2200" b="1" dirty="0"/>
          </a:p>
        </p:txBody>
      </p:sp>
      <p:sp>
        <p:nvSpPr>
          <p:cNvPr id="12" name="Rectangle 11"/>
          <p:cNvSpPr/>
          <p:nvPr/>
        </p:nvSpPr>
        <p:spPr>
          <a:xfrm>
            <a:off x="5866327" y="5766039"/>
            <a:ext cx="458901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Disadvantages</a:t>
            </a:r>
          </a:p>
          <a:p>
            <a:r>
              <a:rPr lang="en-US" sz="2200" b="1" dirty="0" smtClean="0"/>
              <a:t>Global </a:t>
            </a:r>
            <a:r>
              <a:rPr lang="en-US" sz="2200" b="1" dirty="0"/>
              <a:t>state can make testing difficult</a:t>
            </a:r>
          </a:p>
        </p:txBody>
      </p:sp>
    </p:spTree>
    <p:extLst>
      <p:ext uri="{BB962C8B-B14F-4D97-AF65-F5344CB8AC3E}">
        <p14:creationId xmlns:p14="http://schemas.microsoft.com/office/powerpoint/2010/main" val="678249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0814" y="153405"/>
            <a:ext cx="879420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Strategy Pattern (Behavioral Pattern)</a:t>
            </a:r>
          </a:p>
        </p:txBody>
      </p:sp>
      <p:sp>
        <p:nvSpPr>
          <p:cNvPr id="4" name="Rectangle 3"/>
          <p:cNvSpPr/>
          <p:nvPr/>
        </p:nvSpPr>
        <p:spPr>
          <a:xfrm>
            <a:off x="140814" y="922846"/>
            <a:ext cx="1159184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The Strategy Pattern allows selecting an algorithm or behavior at runtime.</a:t>
            </a:r>
          </a:p>
          <a:p>
            <a:r>
              <a:rPr lang="en-US" sz="2200" b="1" dirty="0" smtClean="0"/>
              <a:t>Instead </a:t>
            </a:r>
            <a:r>
              <a:rPr lang="en-US" sz="2200" b="1" dirty="0"/>
              <a:t>of writing many if-else conditions, behaviors are separated into different classes.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814" y="1692287"/>
            <a:ext cx="6096000" cy="229293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300" b="1" dirty="0" smtClean="0">
                <a:solidFill>
                  <a:schemeClr val="bg1"/>
                </a:solidFill>
              </a:rPr>
              <a:t>Real Life Examples</a:t>
            </a:r>
          </a:p>
          <a:p>
            <a:r>
              <a:rPr lang="en-US" sz="2200" b="1" dirty="0" smtClean="0"/>
              <a:t>Google </a:t>
            </a:r>
            <a:r>
              <a:rPr lang="en-US" sz="2200" b="1" dirty="0"/>
              <a:t>Maps choosing: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Car route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Walking route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Bike route </a:t>
            </a:r>
          </a:p>
          <a:p>
            <a:r>
              <a:rPr lang="en-US" sz="2200" b="1" dirty="0"/>
              <a:t>Different strategies are used for navigation.</a:t>
            </a:r>
          </a:p>
        </p:txBody>
      </p:sp>
    </p:spTree>
    <p:extLst>
      <p:ext uri="{BB962C8B-B14F-4D97-AF65-F5344CB8AC3E}">
        <p14:creationId xmlns:p14="http://schemas.microsoft.com/office/powerpoint/2010/main" val="1848499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375" y="0"/>
            <a:ext cx="6096000" cy="68634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class </a:t>
            </a:r>
            <a:r>
              <a:rPr lang="en-US" sz="2200" b="1" dirty="0" err="1"/>
              <a:t>CreditCard</a:t>
            </a:r>
            <a:r>
              <a:rPr lang="en-US" sz="2200" b="1" dirty="0"/>
              <a:t>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pay(self, amount):</a:t>
            </a:r>
          </a:p>
          <a:p>
            <a:r>
              <a:rPr lang="en-US" sz="2200" b="1" dirty="0"/>
              <a:t>        print("Paid with Credit Card:", amount)</a:t>
            </a:r>
          </a:p>
          <a:p>
            <a:endParaRPr lang="en-US" sz="2200" b="1" dirty="0"/>
          </a:p>
          <a:p>
            <a:r>
              <a:rPr lang="en-US" sz="2200" b="1" dirty="0"/>
              <a:t>class PayPal: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pay(self, amount):</a:t>
            </a:r>
          </a:p>
          <a:p>
            <a:r>
              <a:rPr lang="en-US" sz="2200" b="1" dirty="0"/>
              <a:t>        print("Paid with PayPal:", amount)</a:t>
            </a:r>
          </a:p>
          <a:p>
            <a:endParaRPr lang="en-US" sz="2200" b="1" dirty="0"/>
          </a:p>
          <a:p>
            <a:r>
              <a:rPr lang="en-US" sz="2200" b="1" dirty="0"/>
              <a:t>class </a:t>
            </a:r>
            <a:r>
              <a:rPr lang="en-US" sz="2200" b="1" dirty="0" err="1"/>
              <a:t>ShoppingCart</a:t>
            </a:r>
            <a:r>
              <a:rPr lang="en-US" sz="2200" b="1" dirty="0"/>
              <a:t>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</a:t>
            </a:r>
            <a:r>
              <a:rPr lang="en-US" sz="2200" b="1" dirty="0" err="1"/>
              <a:t>init</a:t>
            </a:r>
            <a:r>
              <a:rPr lang="en-US" sz="2200" b="1" dirty="0"/>
              <a:t>__(self, </a:t>
            </a:r>
            <a:r>
              <a:rPr lang="en-US" sz="2200" b="1" dirty="0" err="1"/>
              <a:t>payment_method</a:t>
            </a:r>
            <a:r>
              <a:rPr lang="en-US" sz="2200" b="1" dirty="0"/>
              <a:t>):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self.payment_method</a:t>
            </a:r>
            <a:r>
              <a:rPr lang="en-US" sz="2200" b="1" dirty="0"/>
              <a:t> = </a:t>
            </a:r>
            <a:r>
              <a:rPr lang="en-US" sz="2200" b="1" dirty="0" err="1"/>
              <a:t>payment_method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checkout(self, amount):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self.payment_method.pay</a:t>
            </a:r>
            <a:r>
              <a:rPr lang="en-US" sz="2200" b="1" dirty="0"/>
              <a:t>(amount)</a:t>
            </a:r>
          </a:p>
          <a:p>
            <a:endParaRPr lang="en-US" sz="2200" b="1" dirty="0"/>
          </a:p>
          <a:p>
            <a:r>
              <a:rPr lang="en-US" sz="2200" b="1" dirty="0"/>
              <a:t>cart1 = </a:t>
            </a:r>
            <a:r>
              <a:rPr lang="en-US" sz="2200" b="1" dirty="0" err="1"/>
              <a:t>ShoppingCart</a:t>
            </a:r>
            <a:r>
              <a:rPr lang="en-US" sz="2200" b="1" dirty="0"/>
              <a:t>(</a:t>
            </a:r>
            <a:r>
              <a:rPr lang="en-US" sz="2200" b="1" dirty="0" err="1"/>
              <a:t>CreditCard</a:t>
            </a:r>
            <a:r>
              <a:rPr lang="en-US" sz="2200" b="1" dirty="0"/>
              <a:t>())</a:t>
            </a:r>
          </a:p>
          <a:p>
            <a:r>
              <a:rPr lang="en-US" sz="2200" b="1" dirty="0"/>
              <a:t>cart1.checkout(500)</a:t>
            </a:r>
          </a:p>
          <a:p>
            <a:endParaRPr lang="en-US" sz="2200" b="1" dirty="0"/>
          </a:p>
          <a:p>
            <a:r>
              <a:rPr lang="en-US" sz="2200" b="1" dirty="0"/>
              <a:t>cart2 = </a:t>
            </a:r>
            <a:r>
              <a:rPr lang="en-US" sz="2200" b="1" dirty="0" err="1"/>
              <a:t>ShoppingCart</a:t>
            </a:r>
            <a:r>
              <a:rPr lang="en-US" sz="2200" b="1" dirty="0"/>
              <a:t>(PayPal())</a:t>
            </a:r>
          </a:p>
          <a:p>
            <a:r>
              <a:rPr lang="en-US" sz="2200" b="1" dirty="0"/>
              <a:t>cart2.checkout(1000)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33375" y="2708433"/>
            <a:ext cx="6096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Advantages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Flexible behavior changes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Eliminates complex conditional statements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Easy to add new strategies</a:t>
            </a:r>
            <a:endParaRPr lang="en-US" sz="2200" b="1" dirty="0"/>
          </a:p>
        </p:txBody>
      </p:sp>
      <p:sp>
        <p:nvSpPr>
          <p:cNvPr id="5" name="Rectangle 4"/>
          <p:cNvSpPr/>
          <p:nvPr/>
        </p:nvSpPr>
        <p:spPr>
          <a:xfrm>
            <a:off x="6233375" y="4355038"/>
            <a:ext cx="395133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Disadvantages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smtClean="0"/>
              <a:t>More </a:t>
            </a:r>
            <a:r>
              <a:rPr lang="en-US" sz="2200" dirty="0"/>
              <a:t>classes may be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375" y="230678"/>
            <a:ext cx="322306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Paid </a:t>
            </a:r>
            <a:r>
              <a:rPr lang="en-US" sz="2200" b="1" dirty="0"/>
              <a:t>with Credit Card: </a:t>
            </a:r>
            <a:r>
              <a:rPr lang="en-US" sz="2200" b="1" dirty="0" smtClean="0"/>
              <a:t>500</a:t>
            </a:r>
          </a:p>
          <a:p>
            <a:r>
              <a:rPr lang="en-US" sz="2200" b="1" dirty="0" smtClean="0"/>
              <a:t>Paid </a:t>
            </a:r>
            <a:r>
              <a:rPr lang="en-US" sz="2200" b="1" dirty="0"/>
              <a:t>with PayPal: 1000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375" y="64394"/>
            <a:ext cx="5619481" cy="6671256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233375" y="230678"/>
            <a:ext cx="3361386" cy="1107996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61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62915"/>
              </p:ext>
            </p:extLst>
          </p:nvPr>
        </p:nvGraphicFramePr>
        <p:xfrm>
          <a:off x="608527" y="1264382"/>
          <a:ext cx="10853670" cy="19376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14222"/>
                <a:gridCol w="3374265"/>
                <a:gridCol w="4765183"/>
              </a:tblGrid>
              <a:tr h="368211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Pattern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Main Purpose</a:t>
                      </a:r>
                    </a:p>
                  </a:txBody>
                  <a:tcPr anchor="ctr"/>
                </a:tc>
              </a:tr>
              <a:tr h="368211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Factory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Creational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Create objects flexibly</a:t>
                      </a:r>
                    </a:p>
                  </a:txBody>
                  <a:tcPr anchor="ctr"/>
                </a:tc>
              </a:tr>
              <a:tr h="368211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Singleton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Creational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Ensure one object only</a:t>
                      </a:r>
                    </a:p>
                  </a:txBody>
                  <a:tcPr anchor="ctr"/>
                </a:tc>
              </a:tr>
              <a:tr h="657520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bg1"/>
                          </a:solidFill>
                        </a:rPr>
                        <a:t>Strategy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Behavioral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Change behavior dynamically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9530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3309</TotalTime>
  <Words>1287</Words>
  <Application>Microsoft Office PowerPoint</Application>
  <PresentationFormat>Widescreen</PresentationFormat>
  <Paragraphs>302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Celestial</vt:lpstr>
      <vt:lpstr>Object Oriented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</dc:title>
  <dc:creator>user</dc:creator>
  <cp:lastModifiedBy>user</cp:lastModifiedBy>
  <cp:revision>189</cp:revision>
  <dcterms:created xsi:type="dcterms:W3CDTF">2026-03-02T19:00:22Z</dcterms:created>
  <dcterms:modified xsi:type="dcterms:W3CDTF">2026-05-07T11:15:08Z</dcterms:modified>
</cp:coreProperties>
</file>