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8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0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8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93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8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04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72522E-ADF5-4C39-B302-A7CB76F9D3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2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Semester II</a:t>
            </a:r>
            <a:br>
              <a:rPr lang="en-US" dirty="0" smtClean="0"/>
            </a:br>
            <a:r>
              <a:rPr lang="en-US" dirty="0" smtClean="0"/>
              <a:t>Lecturer: Sir </a:t>
            </a:r>
            <a:r>
              <a:rPr lang="en-US" dirty="0" err="1" smtClean="0"/>
              <a:t>Talha</a:t>
            </a:r>
            <a:r>
              <a:rPr lang="en-US" dirty="0" smtClean="0"/>
              <a:t> </a:t>
            </a:r>
            <a:r>
              <a:rPr lang="en-US" dirty="0" err="1" smtClean="0"/>
              <a:t>Ghouri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152" y="46074"/>
            <a:ext cx="5061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Inheritance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152" y="706033"/>
            <a:ext cx="119383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Inheritance allows a class (child) to acquire properties and methods from another class (parent), promoting code reuse and establishing hierarchical relationships.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0152" y="1494065"/>
            <a:ext cx="5363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</a:rPr>
              <a:t>Types of Inheritance in Python</a:t>
            </a:r>
            <a:endParaRPr lang="en-US" sz="3200" b="1" dirty="0">
              <a:solidFill>
                <a:srgbClr val="0F1115"/>
              </a:soli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2226" y="2037980"/>
            <a:ext cx="30437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Single </a:t>
            </a:r>
            <a:r>
              <a:rPr lang="en-US" sz="2400" b="1" dirty="0" smtClean="0"/>
              <a:t>Inheritance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467932" y="2520509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>
                <a:solidFill>
                  <a:srgbClr val="0F1115"/>
                </a:solidFill>
              </a:rPr>
              <a:t>One child class inherits from one parent class</a:t>
            </a:r>
            <a:r>
              <a:rPr lang="en-US" sz="2200" b="1" dirty="0" smtClean="0">
                <a:solidFill>
                  <a:srgbClr val="0F1115"/>
                </a:solidFill>
              </a:rPr>
              <a:t>.</a:t>
            </a:r>
            <a:endParaRPr lang="en-US" sz="2200" b="1" dirty="0">
              <a:solidFill>
                <a:srgbClr val="0F1115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7932" y="2972260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Animal: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speak(self):</a:t>
            </a:r>
          </a:p>
          <a:p>
            <a:r>
              <a:rPr lang="en-US" sz="2200" b="1" dirty="0"/>
              <a:t>        return f"{self.name} makes a sound"</a:t>
            </a:r>
          </a:p>
          <a:p>
            <a:endParaRPr lang="en-US" sz="2200" b="1" dirty="0"/>
          </a:p>
          <a:p>
            <a:r>
              <a:rPr lang="en-US" sz="2200" b="1" dirty="0"/>
              <a:t>class Dog(Animal):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speak(self):  </a:t>
            </a:r>
            <a:r>
              <a:rPr lang="en-US" sz="2200" b="1" dirty="0">
                <a:solidFill>
                  <a:schemeClr val="bg1"/>
                </a:solidFill>
              </a:rPr>
              <a:t># Method overriding</a:t>
            </a:r>
          </a:p>
          <a:p>
            <a:r>
              <a:rPr lang="en-US" sz="2200" b="1" dirty="0"/>
              <a:t>        return f"{self.name} barks</a:t>
            </a:r>
            <a:r>
              <a:rPr lang="en-US" sz="2200" b="1" dirty="0" smtClean="0"/>
              <a:t>"</a:t>
            </a:r>
            <a:endParaRPr lang="en-US" sz="2200" b="1" dirty="0"/>
          </a:p>
        </p:txBody>
      </p:sp>
      <p:sp>
        <p:nvSpPr>
          <p:cNvPr id="9" name="Rectangle 8"/>
          <p:cNvSpPr/>
          <p:nvPr/>
        </p:nvSpPr>
        <p:spPr>
          <a:xfrm>
            <a:off x="5585727" y="3025864"/>
            <a:ext cx="45093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dog </a:t>
            </a:r>
            <a:r>
              <a:rPr lang="en-US" sz="2200" b="1" dirty="0"/>
              <a:t>= Dog("Buddy")</a:t>
            </a:r>
          </a:p>
          <a:p>
            <a:r>
              <a:rPr lang="en-US" sz="2200" b="1" dirty="0"/>
              <a:t>print(</a:t>
            </a:r>
            <a:r>
              <a:rPr lang="en-US" sz="2200" b="1" dirty="0" err="1"/>
              <a:t>dog.speak</a:t>
            </a:r>
            <a:r>
              <a:rPr lang="en-US" sz="2200" b="1" dirty="0" smtClean="0"/>
              <a:t>())</a:t>
            </a:r>
            <a:endParaRPr lang="en-US" sz="2200" b="1" dirty="0"/>
          </a:p>
        </p:txBody>
      </p:sp>
      <p:sp>
        <p:nvSpPr>
          <p:cNvPr id="10" name="Rectangle 9"/>
          <p:cNvSpPr/>
          <p:nvPr/>
        </p:nvSpPr>
        <p:spPr>
          <a:xfrm>
            <a:off x="9218306" y="2971272"/>
            <a:ext cx="158947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dirty="0" smtClean="0"/>
              <a:t>Buddy </a:t>
            </a:r>
            <a:r>
              <a:rPr lang="en-US" sz="2200" dirty="0"/>
              <a:t>barks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932" y="2951396"/>
            <a:ext cx="4985548" cy="364047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585727" y="2971273"/>
            <a:ext cx="2534691" cy="90469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218306" y="2971274"/>
            <a:ext cx="1699903" cy="76943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9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027" y="183192"/>
            <a:ext cx="422625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</a:rPr>
              <a:t>Multiple </a:t>
            </a:r>
            <a:r>
              <a:rPr lang="en-US" sz="3200" b="1" dirty="0" smtClean="0">
                <a:solidFill>
                  <a:srgbClr val="0F1115"/>
                </a:solidFill>
              </a:rPr>
              <a:t>Inheritance</a:t>
            </a:r>
            <a:endParaRPr lang="en-US" sz="3200" b="1" dirty="0">
              <a:solidFill>
                <a:srgbClr val="0F1115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1027" y="783356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A child class inherits from multiple parent classes</a:t>
            </a:r>
            <a:r>
              <a:rPr lang="en-US" sz="2200" b="1" dirty="0" smtClean="0"/>
              <a:t>.</a:t>
            </a:r>
            <a:endParaRPr lang="en-US" sz="2200" b="1" dirty="0"/>
          </a:p>
        </p:txBody>
      </p:sp>
      <p:sp>
        <p:nvSpPr>
          <p:cNvPr id="4" name="Rectangle 3"/>
          <p:cNvSpPr/>
          <p:nvPr/>
        </p:nvSpPr>
        <p:spPr>
          <a:xfrm>
            <a:off x="141027" y="1214243"/>
            <a:ext cx="516795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Flyable: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fly(self):</a:t>
            </a:r>
          </a:p>
          <a:p>
            <a:r>
              <a:rPr lang="en-US" sz="2200" b="1" dirty="0"/>
              <a:t>        return "Flying..."</a:t>
            </a:r>
          </a:p>
          <a:p>
            <a:endParaRPr lang="en-US" sz="2200" b="1" dirty="0"/>
          </a:p>
          <a:p>
            <a:r>
              <a:rPr lang="en-US" sz="2200" b="1" dirty="0"/>
              <a:t>class Swimmable: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swim(self):</a:t>
            </a:r>
          </a:p>
          <a:p>
            <a:r>
              <a:rPr lang="en-US" sz="2200" b="1" dirty="0"/>
              <a:t>        return "Swimming..."</a:t>
            </a:r>
          </a:p>
          <a:p>
            <a:endParaRPr lang="en-US" sz="2200" b="1" dirty="0"/>
          </a:p>
          <a:p>
            <a:r>
              <a:rPr lang="en-US" sz="2200" b="1" dirty="0"/>
              <a:t>class Duck(Flyable, Swimmable):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move(self):</a:t>
            </a:r>
          </a:p>
          <a:p>
            <a:r>
              <a:rPr lang="en-US" sz="2200" b="1" dirty="0"/>
              <a:t>        return f"{</a:t>
            </a:r>
            <a:r>
              <a:rPr lang="en-US" sz="2200" b="1" dirty="0" err="1"/>
              <a:t>self.fly</a:t>
            </a:r>
            <a:r>
              <a:rPr lang="en-US" sz="2200" b="1" dirty="0"/>
              <a:t>()} and {</a:t>
            </a:r>
            <a:r>
              <a:rPr lang="en-US" sz="2200" b="1" dirty="0" err="1"/>
              <a:t>self.swim</a:t>
            </a:r>
            <a:r>
              <a:rPr lang="en-US" sz="2200" b="1" dirty="0"/>
              <a:t>()}"</a:t>
            </a:r>
          </a:p>
          <a:p>
            <a:endParaRPr lang="en-US" sz="2200" b="1" dirty="0"/>
          </a:p>
          <a:p>
            <a:r>
              <a:rPr lang="en-US" sz="2200" b="1" dirty="0"/>
              <a:t>duck = Duck()</a:t>
            </a:r>
          </a:p>
          <a:p>
            <a:r>
              <a:rPr lang="en-US" sz="2200" b="1" dirty="0"/>
              <a:t>print(</a:t>
            </a:r>
            <a:r>
              <a:rPr lang="en-US" sz="2200" b="1" dirty="0" err="1"/>
              <a:t>duck.move</a:t>
            </a:r>
            <a:r>
              <a:rPr lang="en-US" sz="2200" b="1" dirty="0" smtClean="0"/>
              <a:t>())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5557241" y="1260409"/>
            <a:ext cx="31107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  <a:r>
              <a:rPr lang="en-US" sz="2200" b="1" dirty="0"/>
              <a:t/>
            </a:r>
            <a:br>
              <a:rPr lang="en-US" sz="2200" b="1" dirty="0"/>
            </a:br>
            <a:r>
              <a:rPr lang="en-US" sz="2200" b="1" dirty="0" smtClean="0"/>
              <a:t>Flying</a:t>
            </a:r>
            <a:r>
              <a:rPr lang="en-US" sz="2200" b="1" dirty="0"/>
              <a:t>... and Swimming...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032" y="1201364"/>
            <a:ext cx="5076967" cy="483209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450007" y="1214243"/>
            <a:ext cx="3217958" cy="98304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5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027" y="183192"/>
            <a:ext cx="42262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Multilevel </a:t>
            </a:r>
            <a:r>
              <a:rPr lang="en-US" sz="3200" b="1" dirty="0" smtClean="0">
                <a:solidFill>
                  <a:schemeClr val="bg1"/>
                </a:solidFill>
              </a:rPr>
              <a:t>Inheritance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1027" y="767967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>
                <a:latin typeface="+mj-lt"/>
              </a:rPr>
              <a:t>A chain of inheritance (grandparent </a:t>
            </a:r>
            <a:r>
              <a:rPr lang="en-US" sz="2200" b="1" dirty="0" smtClean="0">
                <a:latin typeface="+mj-lt"/>
              </a:rPr>
              <a:t>= </a:t>
            </a:r>
            <a:r>
              <a:rPr lang="en-US" sz="2200" b="1" dirty="0">
                <a:latin typeface="+mj-lt"/>
              </a:rPr>
              <a:t>parent </a:t>
            </a:r>
            <a:r>
              <a:rPr lang="en-US" sz="2200" b="1" dirty="0" smtClean="0">
                <a:latin typeface="+mj-lt"/>
              </a:rPr>
              <a:t>= child).</a:t>
            </a:r>
            <a:endParaRPr lang="en-US" sz="2200" b="1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1027" y="1198854"/>
            <a:ext cx="381278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Vehicle: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brand):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self.brand</a:t>
            </a:r>
            <a:r>
              <a:rPr lang="en-US" sz="2200" b="1" dirty="0"/>
              <a:t> = brand</a:t>
            </a:r>
          </a:p>
          <a:p>
            <a:r>
              <a:rPr lang="en-US" sz="2200" b="1" dirty="0"/>
              <a:t>    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return "Engine started"</a:t>
            </a:r>
          </a:p>
          <a:p>
            <a:endParaRPr lang="en-US" sz="2200" b="1" dirty="0"/>
          </a:p>
          <a:p>
            <a:r>
              <a:rPr lang="en-US" sz="2200" b="1" dirty="0"/>
              <a:t>class Car(Vehicle):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honk(self):</a:t>
            </a:r>
          </a:p>
          <a:p>
            <a:r>
              <a:rPr lang="en-US" sz="2200" b="1" dirty="0"/>
              <a:t>        return "Beep </a:t>
            </a:r>
            <a:r>
              <a:rPr lang="en-US" sz="2200" b="1" dirty="0" err="1"/>
              <a:t>beep</a:t>
            </a:r>
            <a:r>
              <a:rPr lang="en-US" sz="2200" b="1" dirty="0"/>
              <a:t>!"</a:t>
            </a:r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SportsCar</a:t>
            </a:r>
            <a:r>
              <a:rPr lang="en-US" sz="2200" b="1" dirty="0"/>
              <a:t>(Car):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turbo_boost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return "Turbo engaged</a:t>
            </a:r>
            <a:r>
              <a:rPr lang="en-US" sz="2200" b="1" dirty="0" smtClean="0"/>
              <a:t>!"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4234362" y="1198854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err="1" smtClean="0"/>
              <a:t>ferrari</a:t>
            </a:r>
            <a:r>
              <a:rPr lang="en-US" sz="2200" b="1" dirty="0" smtClean="0"/>
              <a:t> </a:t>
            </a:r>
            <a:r>
              <a:rPr lang="en-US" sz="2200" b="1" dirty="0"/>
              <a:t>= </a:t>
            </a:r>
            <a:r>
              <a:rPr lang="en-US" sz="2200" b="1" dirty="0" err="1"/>
              <a:t>SportsCar</a:t>
            </a:r>
            <a:r>
              <a:rPr lang="en-US" sz="2200" b="1" dirty="0"/>
              <a:t>("Ferrari")</a:t>
            </a:r>
          </a:p>
          <a:p>
            <a:r>
              <a:rPr lang="en-US" sz="2200" b="1" dirty="0"/>
              <a:t>print(</a:t>
            </a:r>
            <a:r>
              <a:rPr lang="en-US" sz="2200" b="1" dirty="0" err="1"/>
              <a:t>ferrari.start</a:t>
            </a:r>
            <a:r>
              <a:rPr lang="en-US" sz="2200" b="1" dirty="0"/>
              <a:t>())      </a:t>
            </a:r>
            <a:r>
              <a:rPr lang="en-US" sz="2200" b="1" dirty="0">
                <a:solidFill>
                  <a:schemeClr val="bg1"/>
                </a:solidFill>
              </a:rPr>
              <a:t># From Vehicle</a:t>
            </a:r>
          </a:p>
          <a:p>
            <a:r>
              <a:rPr lang="en-US" sz="2200" b="1" dirty="0"/>
              <a:t>print(</a:t>
            </a:r>
            <a:r>
              <a:rPr lang="en-US" sz="2200" b="1" dirty="0" err="1"/>
              <a:t>ferrari.honk</a:t>
            </a:r>
            <a:r>
              <a:rPr lang="en-US" sz="2200" b="1" dirty="0"/>
              <a:t>())       </a:t>
            </a:r>
            <a:r>
              <a:rPr lang="en-US" sz="2200" b="1" dirty="0">
                <a:solidFill>
                  <a:schemeClr val="bg1"/>
                </a:solidFill>
              </a:rPr>
              <a:t># From Car</a:t>
            </a:r>
          </a:p>
          <a:p>
            <a:r>
              <a:rPr lang="en-US" sz="2200" b="1" dirty="0"/>
              <a:t>print(</a:t>
            </a:r>
            <a:r>
              <a:rPr lang="en-US" sz="2200" b="1" dirty="0" err="1"/>
              <a:t>ferrari.turbo_boost</a:t>
            </a:r>
            <a:r>
              <a:rPr lang="en-US" sz="2200" b="1" dirty="0"/>
              <a:t>()) </a:t>
            </a:r>
            <a:r>
              <a:rPr lang="en-US" sz="2200" b="1" dirty="0">
                <a:solidFill>
                  <a:schemeClr val="bg1"/>
                </a:solidFill>
              </a:rPr>
              <a:t># From </a:t>
            </a:r>
            <a:r>
              <a:rPr lang="en-US" sz="2200" b="1" dirty="0" err="1">
                <a:solidFill>
                  <a:schemeClr val="bg1"/>
                </a:solidFill>
              </a:rPr>
              <a:t>SportsCar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1027" y="1198854"/>
            <a:ext cx="3812787" cy="497012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34362" y="1198854"/>
            <a:ext cx="5669492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234362" y="3076291"/>
            <a:ext cx="2004203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Engine started</a:t>
            </a:r>
          </a:p>
          <a:p>
            <a:r>
              <a:rPr lang="en-US" sz="2200" b="1" dirty="0" smtClean="0"/>
              <a:t>Beep </a:t>
            </a:r>
            <a:r>
              <a:rPr lang="en-US" sz="2200" b="1" dirty="0" err="1"/>
              <a:t>beep</a:t>
            </a:r>
            <a:r>
              <a:rPr lang="en-US" sz="2200" b="1" dirty="0" smtClean="0"/>
              <a:t>!</a:t>
            </a:r>
          </a:p>
          <a:p>
            <a:r>
              <a:rPr lang="en-US" sz="2200" b="1" dirty="0" smtClean="0"/>
              <a:t>Turbo </a:t>
            </a:r>
            <a:r>
              <a:rPr lang="en-US" sz="2200" b="1" dirty="0"/>
              <a:t>engaged!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4362" y="3076291"/>
            <a:ext cx="2002665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4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6862"/>
            <a:ext cx="509144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</a:rPr>
              <a:t>Hierarchical </a:t>
            </a:r>
            <a:r>
              <a:rPr lang="en-US" sz="3200" b="1" dirty="0" smtClean="0">
                <a:solidFill>
                  <a:srgbClr val="0F1115"/>
                </a:solidFill>
              </a:rPr>
              <a:t>Inheritance</a:t>
            </a:r>
            <a:endParaRPr lang="en-US" sz="3200" b="1" dirty="0">
              <a:solidFill>
                <a:srgbClr val="0F1115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747026"/>
            <a:ext cx="67356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Multiple child classes inherit from a single parent class</a:t>
            </a:r>
            <a:r>
              <a:rPr lang="en-US" sz="2200" b="1" dirty="0" smtClean="0"/>
              <a:t>.</a:t>
            </a:r>
            <a:endParaRPr lang="en-US" sz="2200" b="1" dirty="0"/>
          </a:p>
        </p:txBody>
      </p:sp>
      <p:sp>
        <p:nvSpPr>
          <p:cNvPr id="4" name="Rectangle 3"/>
          <p:cNvSpPr/>
          <p:nvPr/>
        </p:nvSpPr>
        <p:spPr>
          <a:xfrm>
            <a:off x="12879" y="1347190"/>
            <a:ext cx="4327301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Shape: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area(self):</a:t>
            </a:r>
          </a:p>
          <a:p>
            <a:r>
              <a:rPr lang="en-US" sz="2200" b="1" dirty="0"/>
              <a:t>        pass</a:t>
            </a:r>
          </a:p>
          <a:p>
            <a:endParaRPr lang="en-US" sz="2200" b="1" dirty="0"/>
          </a:p>
          <a:p>
            <a:r>
              <a:rPr lang="en-US" sz="2200" b="1" dirty="0"/>
              <a:t>class Rectangle(Shape):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length, width):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self.length</a:t>
            </a:r>
            <a:r>
              <a:rPr lang="en-US" sz="2200" b="1" dirty="0"/>
              <a:t> = length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self.width</a:t>
            </a:r>
            <a:r>
              <a:rPr lang="en-US" sz="2200" b="1" dirty="0"/>
              <a:t> = width</a:t>
            </a:r>
          </a:p>
          <a:p>
            <a:r>
              <a:rPr lang="en-US" sz="2200" b="1" dirty="0"/>
              <a:t>    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area(self):</a:t>
            </a:r>
          </a:p>
          <a:p>
            <a:r>
              <a:rPr lang="en-US" sz="2200" b="1" dirty="0"/>
              <a:t>        return </a:t>
            </a:r>
            <a:r>
              <a:rPr lang="en-US" sz="2200" b="1" dirty="0" err="1"/>
              <a:t>self.length</a:t>
            </a:r>
            <a:r>
              <a:rPr lang="en-US" sz="2200" b="1" dirty="0"/>
              <a:t> * </a:t>
            </a:r>
            <a:r>
              <a:rPr lang="en-US" sz="2200" b="1" dirty="0" err="1"/>
              <a:t>self.width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Circle(Shape):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radius):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self.radius</a:t>
            </a:r>
            <a:r>
              <a:rPr lang="en-US" sz="2200" b="1" dirty="0"/>
              <a:t> = </a:t>
            </a:r>
            <a:r>
              <a:rPr lang="en-US" sz="2200" b="1" dirty="0" smtClean="0"/>
              <a:t>radius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4142704" y="1347190"/>
            <a:ext cx="41126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 </a:t>
            </a:r>
            <a:r>
              <a:rPr lang="en-US" sz="2200" b="1" dirty="0" smtClean="0"/>
              <a:t> </a:t>
            </a:r>
            <a:r>
              <a:rPr lang="en-US" sz="2200" b="1" dirty="0" err="1"/>
              <a:t>def</a:t>
            </a:r>
            <a:r>
              <a:rPr lang="en-US" sz="2200" b="1" dirty="0"/>
              <a:t> area(self):</a:t>
            </a:r>
          </a:p>
          <a:p>
            <a:r>
              <a:rPr lang="en-US" sz="2200" b="1" dirty="0"/>
              <a:t>        return 3.14 * </a:t>
            </a:r>
            <a:r>
              <a:rPr lang="en-US" sz="2200" b="1" dirty="0" err="1"/>
              <a:t>self.radius</a:t>
            </a:r>
            <a:r>
              <a:rPr lang="en-US" sz="2200" b="1" dirty="0"/>
              <a:t> ** 2</a:t>
            </a:r>
            <a:endParaRPr 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51516" y="1347190"/>
            <a:ext cx="4091188" cy="517064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47881" y="1347190"/>
            <a:ext cx="4031087" cy="7694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48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253" y="185499"/>
            <a:ext cx="38550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F1115"/>
                </a:solidFill>
              </a:rPr>
              <a:t>Hybrid </a:t>
            </a:r>
            <a:r>
              <a:rPr lang="en-US" sz="3200" b="1" dirty="0" smtClean="0">
                <a:solidFill>
                  <a:srgbClr val="0F1115"/>
                </a:solidFill>
              </a:rPr>
              <a:t>Inheritance</a:t>
            </a:r>
            <a:endParaRPr lang="en-US" sz="3200" b="1" dirty="0">
              <a:solidFill>
                <a:srgbClr val="0F1115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0254" y="770274"/>
            <a:ext cx="619903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Combination of multiple and multilevel </a:t>
            </a:r>
            <a:r>
              <a:rPr lang="en-US" sz="2200" b="1" dirty="0" smtClean="0"/>
              <a:t>inheritance.</a:t>
            </a:r>
            <a:endParaRPr lang="en-US" sz="2200" b="1" dirty="0"/>
          </a:p>
        </p:txBody>
      </p:sp>
      <p:sp>
        <p:nvSpPr>
          <p:cNvPr id="4" name="Rectangle 3"/>
          <p:cNvSpPr/>
          <p:nvPr/>
        </p:nvSpPr>
        <p:spPr>
          <a:xfrm>
            <a:off x="150253" y="1355049"/>
            <a:ext cx="7010401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Base:</a:t>
            </a:r>
          </a:p>
          <a:p>
            <a:r>
              <a:rPr lang="en-US" sz="2200" b="1" dirty="0"/>
              <a:t>    pass</a:t>
            </a:r>
          </a:p>
          <a:p>
            <a:endParaRPr lang="en-US" sz="2200" b="1" dirty="0"/>
          </a:p>
          <a:p>
            <a:r>
              <a:rPr lang="en-US" sz="2200" b="1" dirty="0"/>
              <a:t>class A(Base):</a:t>
            </a:r>
          </a:p>
          <a:p>
            <a:r>
              <a:rPr lang="en-US" sz="2200" b="1" dirty="0"/>
              <a:t>    pass</a:t>
            </a:r>
          </a:p>
          <a:p>
            <a:endParaRPr lang="en-US" sz="2200" b="1" dirty="0"/>
          </a:p>
          <a:p>
            <a:r>
              <a:rPr lang="en-US" sz="2200" b="1" dirty="0"/>
              <a:t>class B(Base):</a:t>
            </a:r>
          </a:p>
          <a:p>
            <a:r>
              <a:rPr lang="en-US" sz="2200" b="1" dirty="0"/>
              <a:t>    pass</a:t>
            </a:r>
          </a:p>
          <a:p>
            <a:endParaRPr lang="en-US" sz="2200" b="1" dirty="0"/>
          </a:p>
          <a:p>
            <a:r>
              <a:rPr lang="en-US" sz="2200" b="1" dirty="0"/>
              <a:t>class C(A, B):  </a:t>
            </a:r>
            <a:r>
              <a:rPr lang="en-US" sz="2200" b="1" dirty="0">
                <a:solidFill>
                  <a:schemeClr val="bg1"/>
                </a:solidFill>
              </a:rPr>
              <a:t># Diamond problem - handled by MRO</a:t>
            </a:r>
          </a:p>
          <a:p>
            <a:r>
              <a:rPr lang="en-US" sz="2200" b="1" dirty="0"/>
              <a:t>   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616" y="1329291"/>
            <a:ext cx="6379336" cy="381642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3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1990" y="153404"/>
            <a:ext cx="34449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Method Overriding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990" y="738179"/>
            <a:ext cx="48141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Child class can override parent method.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89" y="1322954"/>
            <a:ext cx="405076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A: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print("Parent method")</a:t>
            </a:r>
          </a:p>
          <a:p>
            <a:endParaRPr lang="en-US" sz="2200" b="1" dirty="0"/>
          </a:p>
          <a:p>
            <a:r>
              <a:rPr lang="en-US" sz="2200" b="1" dirty="0"/>
              <a:t>class B(A):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print("Child method")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B()</a:t>
            </a:r>
          </a:p>
          <a:p>
            <a:r>
              <a:rPr lang="en-US" sz="2200" b="1" dirty="0" err="1"/>
              <a:t>obj.show</a:t>
            </a:r>
            <a:r>
              <a:rPr lang="en-US" sz="2200" b="1" dirty="0" smtClean="0"/>
              <a:t>()</a:t>
            </a:r>
            <a:endParaRPr lang="en-US" sz="2200" b="1" dirty="0"/>
          </a:p>
        </p:txBody>
      </p:sp>
      <p:sp>
        <p:nvSpPr>
          <p:cNvPr id="8" name="Rectangle 7"/>
          <p:cNvSpPr/>
          <p:nvPr/>
        </p:nvSpPr>
        <p:spPr>
          <a:xfrm>
            <a:off x="3970296" y="1400512"/>
            <a:ext cx="175849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Child </a:t>
            </a:r>
            <a:r>
              <a:rPr lang="en-US" sz="2200" b="1" dirty="0"/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89" y="1361877"/>
            <a:ext cx="3690157" cy="340031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970296" y="1400513"/>
            <a:ext cx="1758495" cy="76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32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41668"/>
            <a:ext cx="57111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Method Resolution Order (MRO)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01311"/>
            <a:ext cx="54037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What is Method Resolution Order (MRO)</a:t>
            </a:r>
          </a:p>
        </p:txBody>
      </p:sp>
      <p:sp>
        <p:nvSpPr>
          <p:cNvPr id="5" name="Rectangle 4"/>
          <p:cNvSpPr/>
          <p:nvPr/>
        </p:nvSpPr>
        <p:spPr>
          <a:xfrm>
            <a:off x="-1" y="1351156"/>
            <a:ext cx="1160386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MRO defines the order in which Python searches for a method or attribute in a class hierarchy.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87689"/>
            <a:ext cx="2821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Why MRO is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-1" y="2333153"/>
            <a:ext cx="571117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So, a </a:t>
            </a:r>
            <a:r>
              <a:rPr lang="en-US" sz="2200" b="1" dirty="0"/>
              <a:t>class inherits from multiple </a:t>
            </a:r>
            <a:r>
              <a:rPr lang="en-US" sz="2200" b="1" dirty="0" smtClean="0"/>
              <a:t>classes</a:t>
            </a:r>
            <a:r>
              <a:rPr lang="en-US" sz="2200" b="1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" y="3315150"/>
            <a:ext cx="571117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The </a:t>
            </a:r>
            <a:r>
              <a:rPr lang="en-US" sz="2200" b="1" dirty="0"/>
              <a:t>C3 linearization algorithm, which ensures:</a:t>
            </a:r>
          </a:p>
          <a:p>
            <a:r>
              <a:rPr lang="en-US" sz="2200" b="1" dirty="0" smtClean="0"/>
              <a:t>- Left-to-right </a:t>
            </a:r>
            <a:r>
              <a:rPr lang="en-US" sz="2200" b="1" dirty="0"/>
              <a:t>order </a:t>
            </a:r>
          </a:p>
          <a:p>
            <a:r>
              <a:rPr lang="en-US" sz="2200" b="1" dirty="0" smtClean="0"/>
              <a:t>- Child </a:t>
            </a:r>
            <a:r>
              <a:rPr lang="en-US" sz="2200" b="1" dirty="0"/>
              <a:t>class comes before parent </a:t>
            </a:r>
          </a:p>
          <a:p>
            <a:r>
              <a:rPr lang="en-US" sz="2200" b="1" dirty="0" smtClean="0"/>
              <a:t>- No </a:t>
            </a:r>
            <a:r>
              <a:rPr lang="en-US" sz="2200" b="1" dirty="0"/>
              <a:t>repeated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842371"/>
            <a:ext cx="37623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MRO Rule (C3 Linearization)</a:t>
            </a:r>
          </a:p>
        </p:txBody>
      </p:sp>
    </p:spTree>
    <p:extLst>
      <p:ext uri="{BB962C8B-B14F-4D97-AF65-F5344CB8AC3E}">
        <p14:creationId xmlns:p14="http://schemas.microsoft.com/office/powerpoint/2010/main" val="107299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4496" y="114768"/>
            <a:ext cx="1304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MRO()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4496" y="699543"/>
            <a:ext cx="417364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Used to call parent class methods.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496" y="1284318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A: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__(self):</a:t>
            </a:r>
          </a:p>
          <a:p>
            <a:r>
              <a:rPr lang="en-US" sz="2200" b="1" dirty="0"/>
              <a:t>        print("Parent constructor")</a:t>
            </a:r>
          </a:p>
          <a:p>
            <a:endParaRPr lang="en-US" sz="2200" b="1" dirty="0"/>
          </a:p>
          <a:p>
            <a:r>
              <a:rPr lang="en-US" sz="2200" b="1" dirty="0"/>
              <a:t>class B(A):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__(self):</a:t>
            </a:r>
          </a:p>
          <a:p>
            <a:r>
              <a:rPr lang="en-US" sz="2200" b="1" dirty="0"/>
              <a:t>        super().__</a:t>
            </a:r>
            <a:r>
              <a:rPr lang="en-US" sz="2200" b="1" dirty="0" err="1"/>
              <a:t>init</a:t>
            </a:r>
            <a:r>
              <a:rPr lang="en-US" sz="2200" b="1" dirty="0"/>
              <a:t>__()</a:t>
            </a:r>
          </a:p>
          <a:p>
            <a:r>
              <a:rPr lang="en-US" sz="2200" b="1" dirty="0"/>
              <a:t>        print("Child constructor")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B()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496" y="1284318"/>
            <a:ext cx="4173643" cy="362253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43755" y="1268283"/>
            <a:ext cx="236545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Parent constructor</a:t>
            </a:r>
          </a:p>
          <a:p>
            <a:r>
              <a:rPr lang="en-US" sz="2200" b="1" dirty="0" smtClean="0"/>
              <a:t>Child </a:t>
            </a:r>
            <a:r>
              <a:rPr lang="en-US" sz="2200" b="1" dirty="0"/>
              <a:t>constructor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3755" y="1284317"/>
            <a:ext cx="2496901" cy="110799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11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93" y="751058"/>
            <a:ext cx="3146824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A: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print("Class A")</a:t>
            </a:r>
          </a:p>
          <a:p>
            <a:endParaRPr lang="en-US" sz="2200" b="1" dirty="0"/>
          </a:p>
          <a:p>
            <a:r>
              <a:rPr lang="en-US" sz="2200" b="1" dirty="0"/>
              <a:t>class B(A):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print("Class B")</a:t>
            </a:r>
          </a:p>
          <a:p>
            <a:endParaRPr lang="en-US" sz="2200" b="1" dirty="0"/>
          </a:p>
          <a:p>
            <a:r>
              <a:rPr lang="en-US" sz="2200" b="1" dirty="0"/>
              <a:t>class C(A):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print("Class C")</a:t>
            </a:r>
          </a:p>
          <a:p>
            <a:endParaRPr lang="en-US" sz="2200" b="1" dirty="0"/>
          </a:p>
          <a:p>
            <a:r>
              <a:rPr lang="en-US" sz="2200" b="1" dirty="0"/>
              <a:t>class D(B, C):</a:t>
            </a:r>
          </a:p>
          <a:p>
            <a:r>
              <a:rPr lang="en-US" sz="2200" b="1" dirty="0"/>
              <a:t>    pass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D()</a:t>
            </a:r>
          </a:p>
          <a:p>
            <a:r>
              <a:rPr lang="en-US" sz="2200" b="1" dirty="0" err="1"/>
              <a:t>obj.show</a:t>
            </a:r>
            <a:r>
              <a:rPr lang="en-US" sz="2200" b="1" dirty="0"/>
              <a:t>()</a:t>
            </a:r>
          </a:p>
        </p:txBody>
      </p:sp>
      <p:sp>
        <p:nvSpPr>
          <p:cNvPr id="3" name="Rectangle 2"/>
          <p:cNvSpPr/>
          <p:nvPr/>
        </p:nvSpPr>
        <p:spPr>
          <a:xfrm>
            <a:off x="92133" y="166283"/>
            <a:ext cx="3273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Diamond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13780" y="746974"/>
            <a:ext cx="11737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Class </a:t>
            </a:r>
            <a:r>
              <a:rPr lang="en-US" sz="2200" b="1" dirty="0"/>
              <a:t>B</a:t>
            </a:r>
          </a:p>
        </p:txBody>
      </p:sp>
      <p:sp>
        <p:nvSpPr>
          <p:cNvPr id="5" name="Rectangle 4"/>
          <p:cNvSpPr/>
          <p:nvPr/>
        </p:nvSpPr>
        <p:spPr>
          <a:xfrm>
            <a:off x="92133" y="751059"/>
            <a:ext cx="3273460" cy="580911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13780" y="746974"/>
            <a:ext cx="1173719" cy="7694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09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358" y="157488"/>
            <a:ext cx="1396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super()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358" y="776816"/>
            <a:ext cx="118337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super() is used to call a method from the next class in the MRO, not necessarily the direct parent.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358" y="1242256"/>
            <a:ext cx="298596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A: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print("Class A")</a:t>
            </a:r>
          </a:p>
          <a:p>
            <a:endParaRPr lang="en-US" sz="2200" b="1" dirty="0"/>
          </a:p>
          <a:p>
            <a:r>
              <a:rPr lang="en-US" sz="2200" b="1" dirty="0"/>
              <a:t>class B(A):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super().show()</a:t>
            </a:r>
          </a:p>
          <a:p>
            <a:r>
              <a:rPr lang="en-US" sz="2200" b="1" dirty="0"/>
              <a:t>        print("Class B")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B()</a:t>
            </a:r>
          </a:p>
          <a:p>
            <a:r>
              <a:rPr lang="en-US" sz="2200" b="1" dirty="0" err="1"/>
              <a:t>obj.show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8538" y="1242254"/>
            <a:ext cx="117371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Class A</a:t>
            </a:r>
          </a:p>
          <a:p>
            <a:r>
              <a:rPr lang="en-US" sz="2200" b="1" dirty="0" smtClean="0"/>
              <a:t>Class B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169358" y="1242256"/>
            <a:ext cx="2509448" cy="381642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97533" y="1242256"/>
            <a:ext cx="1378253" cy="114254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1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3581" y="127647"/>
            <a:ext cx="4064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super() in Constructors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581" y="823106"/>
            <a:ext cx="367144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A: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__(self):</a:t>
            </a:r>
          </a:p>
          <a:p>
            <a:r>
              <a:rPr lang="en-US" sz="2200" b="1" dirty="0"/>
              <a:t>        print("Constructor A")</a:t>
            </a:r>
          </a:p>
          <a:p>
            <a:endParaRPr lang="en-US" sz="2200" b="1" dirty="0"/>
          </a:p>
          <a:p>
            <a:r>
              <a:rPr lang="en-US" sz="2200" b="1" dirty="0"/>
              <a:t>class B(A):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__(self):</a:t>
            </a:r>
          </a:p>
          <a:p>
            <a:r>
              <a:rPr lang="en-US" sz="2200" b="1" dirty="0"/>
              <a:t>        super().__</a:t>
            </a:r>
            <a:r>
              <a:rPr lang="en-US" sz="2200" b="1" dirty="0" err="1"/>
              <a:t>init</a:t>
            </a:r>
            <a:r>
              <a:rPr lang="en-US" sz="2200" b="1" dirty="0"/>
              <a:t>__()</a:t>
            </a:r>
          </a:p>
          <a:p>
            <a:r>
              <a:rPr lang="en-US" sz="2200" b="1" dirty="0"/>
              <a:t>        print("Constructor B")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B()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25025" y="823104"/>
            <a:ext cx="179780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Constructor A</a:t>
            </a:r>
          </a:p>
          <a:p>
            <a:r>
              <a:rPr lang="en-US" sz="2200" b="1" dirty="0" smtClean="0"/>
              <a:t>Constructor </a:t>
            </a:r>
            <a:r>
              <a:rPr lang="en-US" sz="2200" b="1" dirty="0"/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581" y="823106"/>
            <a:ext cx="3504019" cy="34778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825026" y="823105"/>
            <a:ext cx="1797800" cy="110799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06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01888"/>
            <a:ext cx="53871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super() in Multiple Inheritance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374" y="686663"/>
            <a:ext cx="3005071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A: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print("A")</a:t>
            </a:r>
          </a:p>
          <a:p>
            <a:r>
              <a:rPr lang="en-US" sz="2200" b="1" dirty="0"/>
              <a:t>        super().show()</a:t>
            </a:r>
          </a:p>
          <a:p>
            <a:endParaRPr lang="en-US" sz="2200" b="1" dirty="0"/>
          </a:p>
          <a:p>
            <a:r>
              <a:rPr lang="en-US" sz="2200" b="1" dirty="0"/>
              <a:t>class B: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print("B")</a:t>
            </a:r>
          </a:p>
          <a:p>
            <a:r>
              <a:rPr lang="en-US" sz="2200" b="1" dirty="0"/>
              <a:t>        super().show()</a:t>
            </a:r>
          </a:p>
          <a:p>
            <a:endParaRPr lang="en-US" sz="2200" b="1" dirty="0"/>
          </a:p>
          <a:p>
            <a:r>
              <a:rPr lang="en-US" sz="2200" b="1" dirty="0"/>
              <a:t>class C: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print("C</a:t>
            </a:r>
            <a:r>
              <a:rPr lang="en-US" sz="2200" b="1" dirty="0" smtClean="0"/>
              <a:t>")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2961658" y="686663"/>
            <a:ext cx="291491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class </a:t>
            </a:r>
            <a:r>
              <a:rPr lang="en-US" sz="2200" b="1" dirty="0"/>
              <a:t>D(A, B, C):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show(self):</a:t>
            </a:r>
          </a:p>
          <a:p>
            <a:r>
              <a:rPr lang="en-US" sz="2200" b="1" dirty="0"/>
              <a:t>        print("D")</a:t>
            </a:r>
          </a:p>
          <a:p>
            <a:r>
              <a:rPr lang="en-US" sz="2200" b="1" dirty="0"/>
              <a:t>        super().show()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D()</a:t>
            </a:r>
          </a:p>
          <a:p>
            <a:r>
              <a:rPr lang="en-US" sz="2200" b="1" dirty="0" err="1"/>
              <a:t>obj.show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374" y="686663"/>
            <a:ext cx="2618705" cy="449353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961658" y="686663"/>
            <a:ext cx="2618705" cy="24622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406131" y="686663"/>
            <a:ext cx="1173719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D</a:t>
            </a:r>
          </a:p>
          <a:p>
            <a:r>
              <a:rPr lang="en-US" sz="2200" b="1" dirty="0" smtClean="0"/>
              <a:t>A</a:t>
            </a:r>
          </a:p>
          <a:p>
            <a:r>
              <a:rPr lang="en-US" sz="2200" b="1" dirty="0" smtClean="0"/>
              <a:t>B</a:t>
            </a:r>
          </a:p>
          <a:p>
            <a:r>
              <a:rPr lang="en-US" sz="2200" b="1" dirty="0" smtClean="0"/>
              <a:t>C</a:t>
            </a:r>
            <a:endParaRPr lang="en-US" sz="2200" b="1" dirty="0"/>
          </a:p>
        </p:txBody>
      </p:sp>
      <p:sp>
        <p:nvSpPr>
          <p:cNvPr id="9" name="Rectangle 8"/>
          <p:cNvSpPr/>
          <p:nvPr/>
        </p:nvSpPr>
        <p:spPr>
          <a:xfrm>
            <a:off x="6406131" y="686664"/>
            <a:ext cx="1437103" cy="178510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45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3191</TotalTime>
  <Words>811</Words>
  <Application>Microsoft Office PowerPoint</Application>
  <PresentationFormat>Widescreen</PresentationFormat>
  <Paragraphs>209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Celestial</vt:lpstr>
      <vt:lpstr>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user</dc:creator>
  <cp:lastModifiedBy>user</cp:lastModifiedBy>
  <cp:revision>165</cp:revision>
  <dcterms:created xsi:type="dcterms:W3CDTF">2026-03-02T19:00:22Z</dcterms:created>
  <dcterms:modified xsi:type="dcterms:W3CDTF">2026-05-07T12:49:27Z</dcterms:modified>
</cp:coreProperties>
</file>