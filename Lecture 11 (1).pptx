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40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8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7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56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1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6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0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505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10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86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93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89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04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1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A72522E-ADF5-4C39-B302-A7CB76F9D3C9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640621-FAB9-4D39-BF35-D736C5286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02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Object Oriented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Semester II</a:t>
            </a:r>
            <a:br>
              <a:rPr lang="en-US" dirty="0" smtClean="0"/>
            </a:br>
            <a:r>
              <a:rPr lang="en-US" dirty="0" smtClean="0"/>
              <a:t>Lecturer: Sir </a:t>
            </a:r>
            <a:r>
              <a:rPr lang="en-US" dirty="0" err="1" smtClean="0"/>
              <a:t>Talha</a:t>
            </a:r>
            <a:r>
              <a:rPr lang="en-US" dirty="0" smtClean="0"/>
              <a:t> </a:t>
            </a:r>
            <a:r>
              <a:rPr lang="en-US" dirty="0" err="1" smtClean="0"/>
              <a:t>Ghouri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03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18880"/>
            <a:ext cx="116751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File handling is used to store data permanently in files instead of keeping it temporarily in memory.</a:t>
            </a:r>
            <a:br>
              <a:rPr lang="en-US" sz="2200" b="1" dirty="0"/>
            </a:br>
            <a:r>
              <a:rPr lang="en-US" sz="2200" b="1" dirty="0"/>
              <a:t>In Object-Oriented </a:t>
            </a:r>
            <a:r>
              <a:rPr lang="en-US" sz="2200" b="1" dirty="0" smtClean="0"/>
              <a:t>Programming, </a:t>
            </a:r>
            <a:r>
              <a:rPr lang="en-US" sz="2200" b="1" dirty="0"/>
              <a:t>file handling is often combined with classes and objects to save and retrieve object data.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9439"/>
            <a:ext cx="842615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File Handling Fundamentals in 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026876"/>
            <a:ext cx="295427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1. Types of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323" y="2627040"/>
            <a:ext cx="382431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A. Text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Store data in readable 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Human-readable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Uses characters and strings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Examples: .txt, 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4656935" y="2627040"/>
            <a:ext cx="753843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B. Binary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Store data in binary format (0s and 1s)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Not human-readable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Faster and more secure for objects and multimedia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Examples: .</a:t>
            </a:r>
            <a:r>
              <a:rPr lang="en-US" sz="2200" b="1" dirty="0" err="1"/>
              <a:t>dat</a:t>
            </a:r>
            <a:r>
              <a:rPr lang="en-US" sz="2200" b="1" dirty="0"/>
              <a:t>, .bin</a:t>
            </a:r>
          </a:p>
        </p:txBody>
      </p:sp>
    </p:spTree>
    <p:extLst>
      <p:ext uri="{BB962C8B-B14F-4D97-AF65-F5344CB8AC3E}">
        <p14:creationId xmlns:p14="http://schemas.microsoft.com/office/powerpoint/2010/main" val="1617324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5237" y="153404"/>
            <a:ext cx="3270062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2. File Operations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879261"/>
              </p:ext>
            </p:extLst>
          </p:nvPr>
        </p:nvGraphicFramePr>
        <p:xfrm>
          <a:off x="698679" y="847106"/>
          <a:ext cx="10131424" cy="2590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Description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Open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Open a file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Read data from file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Store data in file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Append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Add data at end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Close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Close the file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95237" y="3604943"/>
            <a:ext cx="311335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3. Opening a 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94" y="4364795"/>
            <a:ext cx="480933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err="1"/>
              <a:t>file_object</a:t>
            </a:r>
            <a:r>
              <a:rPr lang="en-US" sz="2200" b="1" dirty="0"/>
              <a:t> = open("filename", "mode")</a:t>
            </a:r>
          </a:p>
        </p:txBody>
      </p:sp>
    </p:spTree>
    <p:extLst>
      <p:ext uri="{BB962C8B-B14F-4D97-AF65-F5344CB8AC3E}">
        <p14:creationId xmlns:p14="http://schemas.microsoft.com/office/powerpoint/2010/main" val="107421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5344" y="256436"/>
            <a:ext cx="252825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4. File Modes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227873"/>
              </p:ext>
            </p:extLst>
          </p:nvPr>
        </p:nvGraphicFramePr>
        <p:xfrm>
          <a:off x="775952" y="1035138"/>
          <a:ext cx="10131424" cy="34442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Meaning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Read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Write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Append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Create new file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rb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Read binary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wb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Write binary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Append binary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520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39" y="71527"/>
            <a:ext cx="503067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5. Text File Handling in 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749" y="671691"/>
            <a:ext cx="472225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marks):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self.marks</a:t>
            </a:r>
            <a:r>
              <a:rPr lang="en-US" sz="2200" b="1" dirty="0"/>
              <a:t> = marks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save_data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file = open("students.txt", "a")</a:t>
            </a:r>
          </a:p>
          <a:p>
            <a:endParaRPr lang="en-US" sz="2200" b="1" dirty="0"/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file.write</a:t>
            </a:r>
            <a:r>
              <a:rPr lang="en-US" sz="2200" b="1" dirty="0"/>
              <a:t>(self.name + " ")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file.write</a:t>
            </a:r>
            <a:r>
              <a:rPr lang="en-US" sz="2200" b="1" dirty="0"/>
              <a:t>(</a:t>
            </a:r>
            <a:r>
              <a:rPr lang="en-US" sz="2200" b="1" dirty="0" err="1"/>
              <a:t>str</a:t>
            </a:r>
            <a:r>
              <a:rPr lang="en-US" sz="2200" b="1" dirty="0"/>
              <a:t>(</a:t>
            </a:r>
            <a:r>
              <a:rPr lang="en-US" sz="2200" b="1" dirty="0" err="1"/>
              <a:t>self.marks</a:t>
            </a:r>
            <a:r>
              <a:rPr lang="en-US" sz="2200" b="1" dirty="0"/>
              <a:t>) + "\n</a:t>
            </a:r>
            <a:r>
              <a:rPr lang="en-US" sz="2200" b="1" dirty="0" smtClean="0"/>
              <a:t>")</a:t>
            </a:r>
            <a:endParaRPr lang="en-US" sz="2200" b="1" dirty="0"/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file.close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smtClean="0"/>
              <a:t>s1 </a:t>
            </a:r>
            <a:r>
              <a:rPr lang="en-US" sz="2200" b="1" dirty="0"/>
              <a:t>= Student("Ali", 85)</a:t>
            </a:r>
          </a:p>
          <a:p>
            <a:r>
              <a:rPr lang="en-US" sz="2200" b="1" dirty="0"/>
              <a:t>s2 = Student("Sara", 92)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Saving data</a:t>
            </a:r>
          </a:p>
          <a:p>
            <a:r>
              <a:rPr lang="en-US" sz="2200" b="1" dirty="0"/>
              <a:t>s1.save_data()</a:t>
            </a:r>
          </a:p>
          <a:p>
            <a:r>
              <a:rPr lang="en-US" sz="2200" b="1" dirty="0"/>
              <a:t>s2.save_data</a:t>
            </a:r>
            <a:r>
              <a:rPr lang="en-US" sz="2200" b="1" dirty="0" smtClean="0"/>
              <a:t>()22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5198940" y="701524"/>
            <a:ext cx="138233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Ali </a:t>
            </a:r>
            <a:r>
              <a:rPr lang="en-US" sz="2200" b="1" dirty="0"/>
              <a:t>85</a:t>
            </a:r>
            <a:br>
              <a:rPr lang="en-US" sz="2200" b="1" dirty="0"/>
            </a:br>
            <a:r>
              <a:rPr lang="en-US" sz="2200" b="1" dirty="0"/>
              <a:t>Sara 92</a:t>
            </a:r>
          </a:p>
        </p:txBody>
      </p:sp>
      <p:sp>
        <p:nvSpPr>
          <p:cNvPr id="3" name="Rectangle 2"/>
          <p:cNvSpPr/>
          <p:nvPr/>
        </p:nvSpPr>
        <p:spPr>
          <a:xfrm>
            <a:off x="120539" y="671691"/>
            <a:ext cx="4683281" cy="608971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51212" y="671691"/>
            <a:ext cx="1477789" cy="122557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96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63363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6. Reading from a Text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24495" y="769441"/>
            <a:ext cx="440886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</a:t>
            </a:r>
            <a:r>
              <a:rPr lang="en-US" sz="2200" b="1" dirty="0" err="1"/>
              <a:t>StudentReader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read_data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file = open("students.txt", "r")</a:t>
            </a:r>
          </a:p>
          <a:p>
            <a:endParaRPr lang="en-US" sz="2200" b="1" dirty="0"/>
          </a:p>
          <a:p>
            <a:r>
              <a:rPr lang="en-US" sz="2200" b="1" dirty="0"/>
              <a:t>        data = </a:t>
            </a:r>
            <a:r>
              <a:rPr lang="en-US" sz="2200" b="1" dirty="0" err="1"/>
              <a:t>file.read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        print(data)</a:t>
            </a:r>
          </a:p>
          <a:p>
            <a:endParaRPr lang="en-US" sz="2200" b="1" dirty="0"/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file.close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reader = </a:t>
            </a:r>
            <a:r>
              <a:rPr lang="en-US" sz="2200" b="1" dirty="0" err="1"/>
              <a:t>StudentReader</a:t>
            </a:r>
            <a:r>
              <a:rPr lang="en-US" sz="2200" b="1" dirty="0"/>
              <a:t>()</a:t>
            </a:r>
          </a:p>
          <a:p>
            <a:r>
              <a:rPr lang="en-US" sz="2200" b="1" dirty="0" err="1"/>
              <a:t>reader.read_data</a:t>
            </a:r>
            <a:r>
              <a:rPr lang="en-US" sz="2200" b="1" dirty="0"/>
              <a:t>()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495" y="769441"/>
            <a:ext cx="4408868" cy="415498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49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5749" y="123213"/>
            <a:ext cx="490871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7. Using with open()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749" y="871330"/>
            <a:ext cx="494654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with open() automatically closes the 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5749" y="1550454"/>
            <a:ext cx="6096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Notes: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write_note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with open("notes.txt", "w") as file:</a:t>
            </a:r>
          </a:p>
          <a:p>
            <a:r>
              <a:rPr lang="en-US" sz="2200" b="1" dirty="0"/>
              <a:t>            </a:t>
            </a:r>
            <a:r>
              <a:rPr lang="en-US" sz="2200" b="1" dirty="0" err="1"/>
              <a:t>file.write</a:t>
            </a:r>
            <a:r>
              <a:rPr lang="en-US" sz="2200" b="1" dirty="0"/>
              <a:t>("Welcome to OOP File Handling")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Notes()</a:t>
            </a:r>
          </a:p>
          <a:p>
            <a:r>
              <a:rPr lang="en-US" sz="2200" b="1" dirty="0" err="1"/>
              <a:t>obj.write_note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749" y="1550454"/>
            <a:ext cx="6200657" cy="246221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2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466" y="140525"/>
            <a:ext cx="717786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8. Binary File Handling in 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98466" y="909966"/>
            <a:ext cx="672706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Binary files are useful for storing objects</a:t>
            </a:r>
            <a:r>
              <a:rPr lang="en-US" sz="2200" b="1" dirty="0" smtClean="0"/>
              <a:t>.</a:t>
            </a: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Python uses the pickle module for this </a:t>
            </a:r>
            <a:r>
              <a:rPr lang="en-US" sz="2200" b="1" dirty="0" smtClean="0"/>
              <a:t>purpose.</a:t>
            </a:r>
            <a:endParaRPr lang="en-US" sz="2200" b="1" dirty="0"/>
          </a:p>
        </p:txBody>
      </p:sp>
      <p:sp>
        <p:nvSpPr>
          <p:cNvPr id="5" name="Rectangle 4"/>
          <p:cNvSpPr/>
          <p:nvPr/>
        </p:nvSpPr>
        <p:spPr>
          <a:xfrm>
            <a:off x="98466" y="1597519"/>
            <a:ext cx="799366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9. Writing Objects to a Binary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8466" y="2296222"/>
            <a:ext cx="6096000" cy="449353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pickle</a:t>
            </a:r>
          </a:p>
          <a:p>
            <a:endParaRPr lang="en-US" sz="2200" b="1" dirty="0"/>
          </a:p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marks):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self.marks</a:t>
            </a:r>
            <a:r>
              <a:rPr lang="en-US" sz="2200" b="1" dirty="0"/>
              <a:t> = </a:t>
            </a:r>
            <a:r>
              <a:rPr lang="en-US" sz="2200" b="1" dirty="0" smtClean="0"/>
              <a:t>marks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s1 = Student("Ali", 85</a:t>
            </a:r>
            <a:r>
              <a:rPr lang="en-US" sz="2200" b="1" dirty="0" smtClean="0"/>
              <a:t>)</a:t>
            </a:r>
            <a:endParaRPr lang="en-US" sz="2200" b="1" dirty="0"/>
          </a:p>
          <a:p>
            <a:endParaRPr lang="en-US" sz="2200" b="1" dirty="0" smtClean="0"/>
          </a:p>
          <a:p>
            <a:r>
              <a:rPr lang="en-US" sz="2200" b="1" dirty="0" smtClean="0">
                <a:solidFill>
                  <a:schemeClr val="bg1"/>
                </a:solidFill>
              </a:rPr>
              <a:t># </a:t>
            </a:r>
            <a:r>
              <a:rPr lang="en-US" sz="2200" b="1" dirty="0">
                <a:solidFill>
                  <a:schemeClr val="bg1"/>
                </a:solidFill>
              </a:rPr>
              <a:t>Writing object into binary file</a:t>
            </a:r>
          </a:p>
          <a:p>
            <a:r>
              <a:rPr lang="en-US" sz="2200" b="1" dirty="0"/>
              <a:t>with open("student.dat", "</a:t>
            </a:r>
            <a:r>
              <a:rPr lang="en-US" sz="2200" b="1" dirty="0" err="1"/>
              <a:t>wb</a:t>
            </a:r>
            <a:r>
              <a:rPr lang="en-US" sz="2200" b="1" dirty="0"/>
              <a:t>") as file: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pickle.dump</a:t>
            </a:r>
            <a:r>
              <a:rPr lang="en-US" sz="2200" b="1" dirty="0"/>
              <a:t>(s1, file</a:t>
            </a:r>
            <a:r>
              <a:rPr lang="en-US" sz="2200" b="1" dirty="0" smtClean="0"/>
              <a:t>)</a:t>
            </a:r>
            <a:endParaRPr lang="en-US" sz="2200" b="1" dirty="0"/>
          </a:p>
          <a:p>
            <a:r>
              <a:rPr lang="en-US" sz="2200" b="1" dirty="0"/>
              <a:t>print("Object stored successfully")</a:t>
            </a:r>
          </a:p>
        </p:txBody>
      </p:sp>
      <p:sp>
        <p:nvSpPr>
          <p:cNvPr id="7" name="Rectangle 6"/>
          <p:cNvSpPr/>
          <p:nvPr/>
        </p:nvSpPr>
        <p:spPr>
          <a:xfrm>
            <a:off x="98466" y="2296222"/>
            <a:ext cx="4731111" cy="442822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77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32644"/>
            <a:ext cx="906389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10. Reading Objects from a Binary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5480" y="902085"/>
            <a:ext cx="4925953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import pickle</a:t>
            </a:r>
          </a:p>
          <a:p>
            <a:endParaRPr lang="en-US" sz="2200" b="1" dirty="0"/>
          </a:p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marks):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self.marks</a:t>
            </a:r>
            <a:r>
              <a:rPr lang="en-US" sz="2200" b="1" dirty="0"/>
              <a:t> = marks</a:t>
            </a:r>
          </a:p>
          <a:p>
            <a:endParaRPr lang="en-US" sz="2200" b="1" dirty="0"/>
          </a:p>
          <a:p>
            <a:r>
              <a:rPr lang="en-US" sz="2200" b="1" dirty="0"/>
              <a:t># Reading object</a:t>
            </a:r>
          </a:p>
          <a:p>
            <a:r>
              <a:rPr lang="en-US" sz="2200" b="1" dirty="0"/>
              <a:t>with open("student.dat", "</a:t>
            </a:r>
            <a:r>
              <a:rPr lang="en-US" sz="2200" b="1" dirty="0" err="1"/>
              <a:t>rb</a:t>
            </a:r>
            <a:r>
              <a:rPr lang="en-US" sz="2200" b="1" dirty="0"/>
              <a:t>") as file: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obj</a:t>
            </a:r>
            <a:r>
              <a:rPr lang="en-US" sz="2200" b="1" dirty="0"/>
              <a:t> = </a:t>
            </a:r>
            <a:r>
              <a:rPr lang="en-US" sz="2200" b="1" dirty="0" err="1"/>
              <a:t>pickle.load</a:t>
            </a:r>
            <a:r>
              <a:rPr lang="en-US" sz="2200" b="1" dirty="0"/>
              <a:t>(file)</a:t>
            </a:r>
          </a:p>
          <a:p>
            <a:endParaRPr lang="en-US" sz="2200" b="1" dirty="0"/>
          </a:p>
          <a:p>
            <a:r>
              <a:rPr lang="en-US" sz="2200" b="1" dirty="0"/>
              <a:t>print("Name:", obj.name)</a:t>
            </a:r>
          </a:p>
          <a:p>
            <a:r>
              <a:rPr lang="en-US" sz="2200" b="1" dirty="0"/>
              <a:t>print("Marks:", </a:t>
            </a:r>
            <a:r>
              <a:rPr lang="en-US" sz="2200" b="1" dirty="0" err="1"/>
              <a:t>obj.marks</a:t>
            </a:r>
            <a:r>
              <a:rPr lang="en-US" sz="2200" b="1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55480" y="902085"/>
            <a:ext cx="4666645" cy="449353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76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72066"/>
              </p:ext>
            </p:extLst>
          </p:nvPr>
        </p:nvGraphicFramePr>
        <p:xfrm>
          <a:off x="249072" y="480730"/>
          <a:ext cx="10131424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Text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Binary File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Human-readable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Not human-readable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Stores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Stores bytes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Slower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Faster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Easier to edit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Difficult to edit manually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/>
                        <a:t>Uses .txt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Uses .</a:t>
                      </a:r>
                      <a:r>
                        <a:rPr lang="en-US" sz="2200" dirty="0" err="1"/>
                        <a:t>dat</a:t>
                      </a:r>
                      <a:r>
                        <a:rPr lang="en-US" sz="2200" dirty="0"/>
                        <a:t>, .bin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22913" y="3440964"/>
            <a:ext cx="4553803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b="1" dirty="0" smtClean="0">
                <a:solidFill>
                  <a:schemeClr val="bg1"/>
                </a:solidFill>
              </a:rPr>
              <a:t>Few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 smtClean="0"/>
              <a:t>Student </a:t>
            </a:r>
            <a:r>
              <a:rPr lang="en-US" sz="2200" b="1" dirty="0"/>
              <a:t>Management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Banking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Library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Inventory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Employee Records</a:t>
            </a:r>
          </a:p>
        </p:txBody>
      </p:sp>
    </p:spTree>
    <p:extLst>
      <p:ext uri="{BB962C8B-B14F-4D97-AF65-F5344CB8AC3E}">
        <p14:creationId xmlns:p14="http://schemas.microsoft.com/office/powerpoint/2010/main" val="1323159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394" y="0"/>
            <a:ext cx="46281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File Modes in OOP </a:t>
            </a:r>
          </a:p>
        </p:txBody>
      </p:sp>
      <p:sp>
        <p:nvSpPr>
          <p:cNvPr id="3" name="Rectangle 2"/>
          <p:cNvSpPr/>
          <p:nvPr/>
        </p:nvSpPr>
        <p:spPr>
          <a:xfrm>
            <a:off x="115394" y="769441"/>
            <a:ext cx="1192635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File modes specify how a file will be opened in a program.</a:t>
            </a:r>
            <a:br>
              <a:rPr lang="en-US" sz="2200" b="1" dirty="0"/>
            </a:br>
            <a:r>
              <a:rPr lang="en-US" sz="2200" b="1" dirty="0"/>
              <a:t>In Object-Oriented Programming </a:t>
            </a:r>
            <a:r>
              <a:rPr lang="en-US" sz="2200" b="1" dirty="0" smtClean="0"/>
              <a:t>, </a:t>
            </a:r>
            <a:r>
              <a:rPr lang="en-US" sz="2200" b="1" dirty="0"/>
              <a:t>file modes are commonly used inside class methods to read, write, append, or store object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5394" y="2646878"/>
            <a:ext cx="480933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err="1"/>
              <a:t>file_object</a:t>
            </a:r>
            <a:r>
              <a:rPr lang="en-US" sz="2200" b="1" dirty="0"/>
              <a:t> = open("filename", "mode")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394" y="2046714"/>
            <a:ext cx="117891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Example</a:t>
            </a:r>
            <a:endParaRPr lang="en-US" sz="2200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5394" y="3247042"/>
            <a:ext cx="324377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file = open("data.txt", "r")</a:t>
            </a:r>
          </a:p>
        </p:txBody>
      </p:sp>
    </p:spTree>
    <p:extLst>
      <p:ext uri="{BB962C8B-B14F-4D97-AF65-F5344CB8AC3E}">
        <p14:creationId xmlns:p14="http://schemas.microsoft.com/office/powerpoint/2010/main" val="57289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945" y="0"/>
            <a:ext cx="481734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Types of File Modes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75933"/>
              </p:ext>
            </p:extLst>
          </p:nvPr>
        </p:nvGraphicFramePr>
        <p:xfrm>
          <a:off x="216157" y="982441"/>
          <a:ext cx="11233160" cy="467138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08290"/>
                <a:gridCol w="2808290"/>
                <a:gridCol w="2808290"/>
                <a:gridCol w="2808290"/>
              </a:tblGrid>
              <a:tr h="424671">
                <a:tc>
                  <a:txBody>
                    <a:bodyPr/>
                    <a:lstStyle/>
                    <a:p>
                      <a:r>
                        <a:rPr lang="en-US" sz="2200" b="1" dirty="0"/>
                        <a:t>Mode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Meaning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File Must Exist?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Data Loss?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r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Read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No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w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Write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a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Append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x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Create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Error if exists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r+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Read and Write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w+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Write and Read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a+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Append and Read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rb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Read Binary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/>
                        <a:t>wb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Write Binary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Yes</a:t>
                      </a:r>
                    </a:p>
                  </a:txBody>
                  <a:tcPr marL="82947" marR="82947" marT="41473" marB="41473" anchor="ctr"/>
                </a:tc>
              </a:tr>
              <a:tr h="424671">
                <a:tc>
                  <a:txBody>
                    <a:bodyPr/>
                    <a:lstStyle/>
                    <a:p>
                      <a:r>
                        <a:rPr lang="en-US" sz="2200" dirty="0"/>
                        <a:t>ab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Append Binary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No</a:t>
                      </a:r>
                    </a:p>
                  </a:txBody>
                  <a:tcPr marL="82947" marR="82947" marT="41473" marB="41473"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No</a:t>
                      </a:r>
                    </a:p>
                  </a:txBody>
                  <a:tcPr marL="82947" marR="82947" marT="41473" marB="4147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835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9527" y="127647"/>
            <a:ext cx="411657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1. Read Mode (r)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9527" y="897088"/>
            <a:ext cx="411657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Opens file for reading only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File must already exist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Cannot write into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9527" y="2107206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Reader: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read_file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file = open("sample.txt", "r")</a:t>
            </a:r>
          </a:p>
          <a:p>
            <a:endParaRPr lang="en-US" sz="2200" b="1" dirty="0"/>
          </a:p>
          <a:p>
            <a:r>
              <a:rPr lang="en-US" sz="2200" b="1" dirty="0"/>
              <a:t>        data = </a:t>
            </a:r>
            <a:r>
              <a:rPr lang="en-US" sz="2200" b="1" dirty="0" err="1"/>
              <a:t>file.read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/>
              <a:t>        print(data)</a:t>
            </a:r>
          </a:p>
          <a:p>
            <a:endParaRPr lang="en-US" sz="2200" b="1" dirty="0"/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file.close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Reader()</a:t>
            </a:r>
          </a:p>
          <a:p>
            <a:r>
              <a:rPr lang="en-US" sz="2200" b="1" dirty="0" err="1"/>
              <a:t>obj.read_file</a:t>
            </a:r>
            <a:r>
              <a:rPr lang="en-US" sz="2200" b="1" dirty="0"/>
              <a:t>()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9527" y="2107206"/>
            <a:ext cx="4213532" cy="4154984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08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446801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2. Write Mode (w)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43" y="769441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Opens file for writing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Creates file if it does not exist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Deletes previous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63443" y="2075113"/>
            <a:ext cx="687827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class Writer: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write_file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file = open("sample.txt", "w")</a:t>
            </a:r>
          </a:p>
          <a:p>
            <a:endParaRPr lang="en-US" sz="2200" b="1" dirty="0"/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file.write</a:t>
            </a:r>
            <a:r>
              <a:rPr lang="en-US" sz="2200" b="1" dirty="0"/>
              <a:t>("Welcome to Python OOP")</a:t>
            </a:r>
          </a:p>
          <a:p>
            <a:endParaRPr lang="en-US" sz="2200" b="1" dirty="0"/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file.close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Writer()</a:t>
            </a:r>
          </a:p>
          <a:p>
            <a:r>
              <a:rPr lang="en-US" sz="2200" b="1" dirty="0" err="1"/>
              <a:t>obj.write_file</a:t>
            </a:r>
            <a:r>
              <a:rPr lang="en-US" sz="2200" b="1" dirty="0" smtClean="0"/>
              <a:t>()</a:t>
            </a:r>
            <a:endParaRPr lang="en-US" sz="2200" b="1" dirty="0"/>
          </a:p>
        </p:txBody>
      </p:sp>
      <p:sp>
        <p:nvSpPr>
          <p:cNvPr id="7" name="Rectangle 6"/>
          <p:cNvSpPr/>
          <p:nvPr/>
        </p:nvSpPr>
        <p:spPr>
          <a:xfrm>
            <a:off x="63443" y="2075113"/>
            <a:ext cx="5088106" cy="34778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86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863" y="0"/>
            <a:ext cx="485742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3. Append Mode (a)</a:t>
            </a:r>
          </a:p>
        </p:txBody>
      </p:sp>
      <p:sp>
        <p:nvSpPr>
          <p:cNvPr id="4" name="Rectangle 3"/>
          <p:cNvSpPr/>
          <p:nvPr/>
        </p:nvSpPr>
        <p:spPr>
          <a:xfrm>
            <a:off x="93863" y="769441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Adds new data at the end of file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Does not remove old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Creates file if not present </a:t>
            </a:r>
          </a:p>
        </p:txBody>
      </p:sp>
      <p:sp>
        <p:nvSpPr>
          <p:cNvPr id="5" name="Rectangle 4"/>
          <p:cNvSpPr/>
          <p:nvPr/>
        </p:nvSpPr>
        <p:spPr>
          <a:xfrm>
            <a:off x="93863" y="2100870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class </a:t>
            </a:r>
            <a:r>
              <a:rPr lang="en-US" sz="2200" b="1" dirty="0" err="1"/>
              <a:t>AppendData</a:t>
            </a:r>
            <a:r>
              <a:rPr lang="en-US" sz="2200" b="1" dirty="0"/>
              <a:t>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</a:t>
            </a:r>
            <a:r>
              <a:rPr lang="en-US" sz="2200" b="1" dirty="0" err="1"/>
              <a:t>add_data</a:t>
            </a:r>
            <a:r>
              <a:rPr lang="en-US" sz="2200" b="1" dirty="0"/>
              <a:t>(self):</a:t>
            </a:r>
          </a:p>
          <a:p>
            <a:r>
              <a:rPr lang="en-US" sz="2200" b="1" dirty="0"/>
              <a:t>        file = open("sample.txt", "a")</a:t>
            </a:r>
          </a:p>
          <a:p>
            <a:endParaRPr lang="en-US" sz="2200" b="1" dirty="0"/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file.write</a:t>
            </a:r>
            <a:r>
              <a:rPr lang="en-US" sz="2200" b="1" dirty="0"/>
              <a:t>("\</a:t>
            </a:r>
            <a:r>
              <a:rPr lang="en-US" sz="2200" b="1" dirty="0" err="1"/>
              <a:t>nNew</a:t>
            </a:r>
            <a:r>
              <a:rPr lang="en-US" sz="2200" b="1" dirty="0"/>
              <a:t> Record Added")</a:t>
            </a:r>
          </a:p>
          <a:p>
            <a:endParaRPr lang="en-US" sz="2200" b="1" dirty="0"/>
          </a:p>
          <a:p>
            <a:r>
              <a:rPr lang="en-US" sz="2200" b="1" dirty="0"/>
              <a:t>        </a:t>
            </a:r>
            <a:r>
              <a:rPr lang="en-US" sz="2200" b="1" dirty="0" err="1"/>
              <a:t>file.close</a:t>
            </a:r>
            <a:r>
              <a:rPr lang="en-US" sz="2200" b="1" dirty="0"/>
              <a:t>()</a:t>
            </a:r>
          </a:p>
          <a:p>
            <a:endParaRPr lang="en-US" sz="2200" b="1" dirty="0"/>
          </a:p>
          <a:p>
            <a:r>
              <a:rPr lang="en-US" sz="2200" b="1" dirty="0" err="1"/>
              <a:t>obj</a:t>
            </a:r>
            <a:r>
              <a:rPr lang="en-US" sz="2200" b="1" dirty="0"/>
              <a:t> = </a:t>
            </a:r>
            <a:r>
              <a:rPr lang="en-US" sz="2200" b="1" dirty="0" err="1"/>
              <a:t>AppendData</a:t>
            </a:r>
            <a:r>
              <a:rPr lang="en-US" sz="2200" b="1" dirty="0"/>
              <a:t>()</a:t>
            </a:r>
          </a:p>
          <a:p>
            <a:r>
              <a:rPr lang="en-US" sz="2200" b="1" dirty="0" err="1"/>
              <a:t>obj.add_data</a:t>
            </a:r>
            <a:r>
              <a:rPr lang="en-US" sz="2200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08622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399" y="114769"/>
            <a:ext cx="43929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JSON Serialization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2399" y="884210"/>
            <a:ext cx="7686440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What is JSON?</a:t>
            </a:r>
          </a:p>
          <a:p>
            <a:r>
              <a:rPr lang="en-US" sz="2200" b="1" dirty="0"/>
              <a:t>JSON stands for JavaScript Object Notation.</a:t>
            </a:r>
          </a:p>
          <a:p>
            <a:r>
              <a:rPr lang="en-US" sz="2200" b="1" dirty="0"/>
              <a:t>It is a lightweight format used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Store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Exchange data between applications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Save object information </a:t>
            </a:r>
          </a:p>
          <a:p>
            <a:r>
              <a:rPr lang="en-US" sz="2200" b="1" dirty="0"/>
              <a:t>JSON 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Human-readable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Easy to understand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Widely used in APIs and web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1395" y="884210"/>
            <a:ext cx="3967368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What is Serialization?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1395" y="1484374"/>
            <a:ext cx="57286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Converting an object into a format that can be stored or transferred.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1395" y="2492342"/>
            <a:ext cx="441460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What is Deserialization?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6315" y="3146367"/>
            <a:ext cx="573471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Converting JSON data back into Python objects.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031" y="4469806"/>
            <a:ext cx="6096000" cy="1785104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Save object data permanently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Transfer data between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Store records in readable form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Used in APIs and 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Easier than binary files for readable storage </a:t>
            </a:r>
          </a:p>
        </p:txBody>
      </p:sp>
    </p:spTree>
    <p:extLst>
      <p:ext uri="{BB962C8B-B14F-4D97-AF65-F5344CB8AC3E}">
        <p14:creationId xmlns:p14="http://schemas.microsoft.com/office/powerpoint/2010/main" val="3488576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910" y="101889"/>
            <a:ext cx="904144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Converting Python Dictionary to JSON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53284" y="871330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json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student = {</a:t>
            </a:r>
          </a:p>
          <a:p>
            <a:r>
              <a:rPr lang="en-US" sz="2200" b="1" dirty="0"/>
              <a:t>    "name": "Ali",</a:t>
            </a:r>
          </a:p>
          <a:p>
            <a:r>
              <a:rPr lang="en-US" sz="2200" b="1" dirty="0"/>
              <a:t>    "marks": 85</a:t>
            </a:r>
          </a:p>
          <a:p>
            <a:r>
              <a:rPr lang="en-US" sz="2200" b="1" dirty="0"/>
              <a:t>}</a:t>
            </a:r>
          </a:p>
          <a:p>
            <a:endParaRPr lang="en-US" sz="2200" b="1" dirty="0"/>
          </a:p>
          <a:p>
            <a:r>
              <a:rPr lang="en-US" sz="2200" b="1" dirty="0" err="1"/>
              <a:t>json_data</a:t>
            </a:r>
            <a:r>
              <a:rPr lang="en-US" sz="2200" b="1" dirty="0"/>
              <a:t> = </a:t>
            </a:r>
            <a:r>
              <a:rPr lang="en-US" sz="2200" b="1" dirty="0" err="1"/>
              <a:t>json.dumps</a:t>
            </a:r>
            <a:r>
              <a:rPr lang="en-US" sz="2200" b="1" dirty="0"/>
              <a:t>(student)</a:t>
            </a:r>
          </a:p>
          <a:p>
            <a:endParaRPr lang="en-US" sz="2200" b="1" dirty="0"/>
          </a:p>
          <a:p>
            <a:r>
              <a:rPr lang="en-US" sz="2200" b="1" dirty="0"/>
              <a:t>print(</a:t>
            </a:r>
            <a:r>
              <a:rPr lang="en-US" sz="2200" b="1" dirty="0" err="1"/>
              <a:t>json_data</a:t>
            </a:r>
            <a:r>
              <a:rPr lang="en-US" sz="2200" b="1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253284" y="5118646"/>
            <a:ext cx="3513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{"</a:t>
            </a:r>
            <a:r>
              <a:rPr lang="en-US" sz="2200" b="1" dirty="0"/>
              <a:t>name": "Ali", "marks": 85}</a:t>
            </a:r>
          </a:p>
        </p:txBody>
      </p:sp>
      <p:sp>
        <p:nvSpPr>
          <p:cNvPr id="5" name="Rectangle 4"/>
          <p:cNvSpPr/>
          <p:nvPr/>
        </p:nvSpPr>
        <p:spPr>
          <a:xfrm>
            <a:off x="253284" y="871330"/>
            <a:ext cx="4202806" cy="347787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284" y="5118646"/>
            <a:ext cx="4202806" cy="769441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57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6667" y="0"/>
            <a:ext cx="325165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>
                <a:solidFill>
                  <a:schemeClr val="bg1"/>
                </a:solidFill>
              </a:rPr>
              <a:t>json.dumps</a:t>
            </a:r>
            <a:r>
              <a:rPr lang="en-US" sz="4400" b="1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3" name="Rectangle 2"/>
          <p:cNvSpPr/>
          <p:nvPr/>
        </p:nvSpPr>
        <p:spPr>
          <a:xfrm>
            <a:off x="226667" y="874621"/>
            <a:ext cx="483767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Converts Python object into JSON string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26667" y="1410688"/>
            <a:ext cx="996067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2. Converting JSON Back to Python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6667" y="2285309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json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data = '{"name":"Sara","marks":92}'</a:t>
            </a:r>
          </a:p>
          <a:p>
            <a:endParaRPr lang="en-US" sz="2200" b="1" dirty="0"/>
          </a:p>
          <a:p>
            <a:r>
              <a:rPr lang="en-US" sz="2200" b="1" dirty="0" err="1"/>
              <a:t>python_object</a:t>
            </a:r>
            <a:r>
              <a:rPr lang="en-US" sz="2200" b="1" dirty="0"/>
              <a:t> = </a:t>
            </a:r>
            <a:r>
              <a:rPr lang="en-US" sz="2200" b="1" dirty="0" err="1"/>
              <a:t>json.loads</a:t>
            </a:r>
            <a:r>
              <a:rPr lang="en-US" sz="2200" b="1" dirty="0"/>
              <a:t>(data)</a:t>
            </a:r>
          </a:p>
          <a:p>
            <a:endParaRPr lang="en-US" sz="2200" b="1" dirty="0"/>
          </a:p>
          <a:p>
            <a:r>
              <a:rPr lang="en-US" sz="2200" b="1" dirty="0"/>
              <a:t>print(</a:t>
            </a:r>
            <a:r>
              <a:rPr lang="en-US" sz="2200" b="1" dirty="0" err="1"/>
              <a:t>python_object</a:t>
            </a:r>
            <a:r>
              <a:rPr lang="en-US" sz="2200" b="1" dirty="0"/>
              <a:t>)</a:t>
            </a:r>
          </a:p>
          <a:p>
            <a:r>
              <a:rPr lang="en-US" sz="2200" b="1" dirty="0"/>
              <a:t>print(type(</a:t>
            </a:r>
            <a:r>
              <a:rPr lang="en-US" sz="2200" b="1" dirty="0" err="1"/>
              <a:t>python_object</a:t>
            </a:r>
            <a:r>
              <a:rPr lang="en-US" sz="2200" b="1" dirty="0"/>
              <a:t>))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667" y="5514185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{</a:t>
            </a:r>
            <a:r>
              <a:rPr lang="en-US" sz="2200" b="1" dirty="0"/>
              <a:t>'name': 'Sara', 'marks': 92}</a:t>
            </a:r>
          </a:p>
          <a:p>
            <a:r>
              <a:rPr lang="en-US" sz="2200" b="1" dirty="0"/>
              <a:t>&lt;class '</a:t>
            </a:r>
            <a:r>
              <a:rPr lang="en-US" sz="2200" b="1" dirty="0" err="1"/>
              <a:t>dict</a:t>
            </a:r>
            <a:r>
              <a:rPr lang="en-US" sz="2200" b="1" dirty="0"/>
              <a:t>'&gt;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667" y="2285309"/>
            <a:ext cx="4641547" cy="2917756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6666" y="5514185"/>
            <a:ext cx="4641547" cy="115802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48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5396" y="114768"/>
            <a:ext cx="73345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Serializing an Object into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769" y="884209"/>
            <a:ext cx="4692203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json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marks):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self.marks</a:t>
            </a:r>
            <a:r>
              <a:rPr lang="en-US" sz="2200" b="1" dirty="0"/>
              <a:t> = marks</a:t>
            </a:r>
          </a:p>
          <a:p>
            <a:endParaRPr lang="en-US" sz="2200" b="1" dirty="0"/>
          </a:p>
          <a:p>
            <a:r>
              <a:rPr lang="en-US" sz="2200" b="1" dirty="0"/>
              <a:t># Object creation</a:t>
            </a:r>
          </a:p>
          <a:p>
            <a:r>
              <a:rPr lang="en-US" sz="2200" b="1" dirty="0"/>
              <a:t>s1 = Student("Ali", 85)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Convert object into dictionary</a:t>
            </a:r>
          </a:p>
          <a:p>
            <a:r>
              <a:rPr lang="en-US" sz="2200" b="1" dirty="0" err="1"/>
              <a:t>student_dict</a:t>
            </a:r>
            <a:r>
              <a:rPr lang="en-US" sz="2200" b="1" dirty="0"/>
              <a:t> = s1.__dict__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Serialize into JSON</a:t>
            </a:r>
          </a:p>
          <a:p>
            <a:r>
              <a:rPr lang="en-US" sz="2200" b="1" dirty="0" err="1"/>
              <a:t>json_data</a:t>
            </a:r>
            <a:r>
              <a:rPr lang="en-US" sz="2200" b="1" dirty="0"/>
              <a:t> = </a:t>
            </a:r>
            <a:r>
              <a:rPr lang="en-US" sz="2200" b="1" dirty="0" err="1"/>
              <a:t>json.dumps</a:t>
            </a:r>
            <a:r>
              <a:rPr lang="en-US" sz="2200" b="1" dirty="0"/>
              <a:t>(</a:t>
            </a:r>
            <a:r>
              <a:rPr lang="en-US" sz="2200" b="1" dirty="0" err="1"/>
              <a:t>student_dict</a:t>
            </a:r>
            <a:r>
              <a:rPr lang="en-US" sz="2200" b="1" dirty="0"/>
              <a:t>)</a:t>
            </a:r>
          </a:p>
          <a:p>
            <a:endParaRPr lang="en-US" sz="2200" b="1" dirty="0"/>
          </a:p>
          <a:p>
            <a:r>
              <a:rPr lang="en-US" sz="2200" b="1" dirty="0"/>
              <a:t>print(</a:t>
            </a:r>
            <a:r>
              <a:rPr lang="en-US" sz="2200" b="1" dirty="0" err="1"/>
              <a:t>json_data</a:t>
            </a:r>
            <a:r>
              <a:rPr lang="en-US" sz="2200" b="1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769" y="884209"/>
            <a:ext cx="4692203" cy="5847755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368653" y="884209"/>
            <a:ext cx="35133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{"</a:t>
            </a:r>
            <a:r>
              <a:rPr lang="en-US" sz="2200" b="1" dirty="0"/>
              <a:t>name": "Ali", "marks": 85}</a:t>
            </a:r>
          </a:p>
        </p:txBody>
      </p:sp>
      <p:sp>
        <p:nvSpPr>
          <p:cNvPr id="8" name="Rectangle 7"/>
          <p:cNvSpPr/>
          <p:nvPr/>
        </p:nvSpPr>
        <p:spPr>
          <a:xfrm>
            <a:off x="5368654" y="884210"/>
            <a:ext cx="3826862" cy="86731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68653" y="2220886"/>
            <a:ext cx="166584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__</a:t>
            </a:r>
            <a:r>
              <a:rPr lang="en-US" sz="3300" b="1" dirty="0" err="1">
                <a:solidFill>
                  <a:schemeClr val="bg1"/>
                </a:solidFill>
              </a:rPr>
              <a:t>dict</a:t>
            </a:r>
            <a:r>
              <a:rPr lang="en-US" sz="3300" b="1" dirty="0">
                <a:solidFill>
                  <a:schemeClr val="bg1"/>
                </a:solidFill>
              </a:rPr>
              <a:t>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87295" y="2921077"/>
            <a:ext cx="620804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__</a:t>
            </a:r>
            <a:r>
              <a:rPr lang="en-US" sz="2200" b="1" dirty="0" err="1"/>
              <a:t>dict</a:t>
            </a:r>
            <a:r>
              <a:rPr lang="en-US" sz="2200" b="1" dirty="0"/>
              <a:t>__ stores object attributes in dictionary 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87295" y="3726839"/>
            <a:ext cx="22579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print(s1.__dict__)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68653" y="4473197"/>
            <a:ext cx="316708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{'name</a:t>
            </a:r>
            <a:r>
              <a:rPr lang="en-US" sz="2200" b="1" dirty="0"/>
              <a:t>': 'Ali', 'marks': 85}</a:t>
            </a:r>
          </a:p>
        </p:txBody>
      </p:sp>
    </p:spTree>
    <p:extLst>
      <p:ext uri="{BB962C8B-B14F-4D97-AF65-F5344CB8AC3E}">
        <p14:creationId xmlns:p14="http://schemas.microsoft.com/office/powerpoint/2010/main" val="3036772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371" y="140527"/>
            <a:ext cx="646074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Writing JSON Data to a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371" y="1086607"/>
            <a:ext cx="6096000" cy="38164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json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Employee: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salary):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self.salary</a:t>
            </a:r>
            <a:r>
              <a:rPr lang="en-US" sz="2200" b="1" dirty="0"/>
              <a:t> = salary</a:t>
            </a:r>
          </a:p>
          <a:p>
            <a:endParaRPr lang="en-US" sz="2200" b="1" dirty="0"/>
          </a:p>
          <a:p>
            <a:r>
              <a:rPr lang="en-US" sz="2200" b="1" dirty="0"/>
              <a:t>e1 = Employee("Ahmed", 50000)</a:t>
            </a:r>
          </a:p>
          <a:p>
            <a:endParaRPr lang="en-US" sz="2200" b="1" dirty="0"/>
          </a:p>
          <a:p>
            <a:r>
              <a:rPr lang="en-US" sz="2200" b="1" dirty="0"/>
              <a:t>with open("</a:t>
            </a:r>
            <a:r>
              <a:rPr lang="en-US" sz="2200" b="1" dirty="0" err="1"/>
              <a:t>employee.json</a:t>
            </a:r>
            <a:r>
              <a:rPr lang="en-US" sz="2200" b="1" dirty="0"/>
              <a:t>", "w") as file: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json.dump</a:t>
            </a:r>
            <a:r>
              <a:rPr lang="en-US" sz="2200" b="1" dirty="0"/>
              <a:t>(e1.__dict__, file)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28596" y="1820702"/>
            <a:ext cx="231986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json.dump()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28596" y="2420866"/>
            <a:ext cx="307436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Writes JSON into a file</a:t>
            </a:r>
          </a:p>
        </p:txBody>
      </p:sp>
    </p:spTree>
    <p:extLst>
      <p:ext uri="{BB962C8B-B14F-4D97-AF65-F5344CB8AC3E}">
        <p14:creationId xmlns:p14="http://schemas.microsoft.com/office/powerpoint/2010/main" val="3039631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0526"/>
            <a:ext cx="72456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schemeClr val="bg1"/>
                </a:solidFill>
              </a:rPr>
              <a:t>Reading </a:t>
            </a:r>
            <a:r>
              <a:rPr lang="en-US" sz="4400" b="1" dirty="0">
                <a:solidFill>
                  <a:schemeClr val="bg1"/>
                </a:solidFill>
              </a:rPr>
              <a:t>JSON Data from a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163133" y="909967"/>
            <a:ext cx="6096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json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with open("</a:t>
            </a:r>
            <a:r>
              <a:rPr lang="en-US" sz="2200" b="1" dirty="0" err="1"/>
              <a:t>employee.json</a:t>
            </a:r>
            <a:r>
              <a:rPr lang="en-US" sz="2200" b="1" dirty="0"/>
              <a:t>", "r") as file:</a:t>
            </a:r>
          </a:p>
          <a:p>
            <a:r>
              <a:rPr lang="en-US" sz="2200" b="1" dirty="0"/>
              <a:t>    data = </a:t>
            </a:r>
            <a:r>
              <a:rPr lang="en-US" sz="2200" b="1" dirty="0" err="1"/>
              <a:t>json.load</a:t>
            </a:r>
            <a:r>
              <a:rPr lang="en-US" sz="2200" b="1" dirty="0"/>
              <a:t>(file)</a:t>
            </a:r>
          </a:p>
          <a:p>
            <a:endParaRPr lang="en-US" sz="2200" b="1" dirty="0"/>
          </a:p>
          <a:p>
            <a:r>
              <a:rPr lang="en-US" sz="2200" b="1" dirty="0"/>
              <a:t>print(data)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3132" y="3418345"/>
            <a:ext cx="411163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 smtClean="0">
                <a:solidFill>
                  <a:schemeClr val="bg1"/>
                </a:solidFill>
              </a:rPr>
              <a:t>OUTPUT</a:t>
            </a:r>
          </a:p>
          <a:p>
            <a:r>
              <a:rPr lang="en-US" sz="2200" b="1" dirty="0" smtClean="0"/>
              <a:t>{</a:t>
            </a:r>
            <a:r>
              <a:rPr lang="en-US" sz="2200" b="1" dirty="0"/>
              <a:t>'name': 'Ahmed', 'salary': 50000}</a:t>
            </a:r>
          </a:p>
        </p:txBody>
      </p:sp>
      <p:sp>
        <p:nvSpPr>
          <p:cNvPr id="5" name="Rectangle 4"/>
          <p:cNvSpPr/>
          <p:nvPr/>
        </p:nvSpPr>
        <p:spPr>
          <a:xfrm>
            <a:off x="163133" y="909967"/>
            <a:ext cx="5001295" cy="2123658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3133" y="3322309"/>
            <a:ext cx="4111638" cy="865477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245638" y="991039"/>
            <a:ext cx="2060179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 err="1">
                <a:solidFill>
                  <a:schemeClr val="bg1"/>
                </a:solidFill>
              </a:rPr>
              <a:t>json.load</a:t>
            </a:r>
            <a:r>
              <a:rPr lang="en-US" sz="3300" b="1" dirty="0">
                <a:solidFill>
                  <a:schemeClr val="bg1"/>
                </a:solidFill>
              </a:rPr>
              <a:t>()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68365" y="1743964"/>
            <a:ext cx="320459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Reads JSON data from file</a:t>
            </a:r>
          </a:p>
        </p:txBody>
      </p:sp>
    </p:spTree>
    <p:extLst>
      <p:ext uri="{BB962C8B-B14F-4D97-AF65-F5344CB8AC3E}">
        <p14:creationId xmlns:p14="http://schemas.microsoft.com/office/powerpoint/2010/main" val="3618786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6037" y="114767"/>
            <a:ext cx="4621778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>
                <a:solidFill>
                  <a:schemeClr val="bg1"/>
                </a:solidFill>
              </a:rPr>
              <a:t>Deserializing</a:t>
            </a:r>
            <a:r>
              <a:rPr lang="en-US" sz="4400" b="1" dirty="0">
                <a:solidFill>
                  <a:schemeClr val="bg1"/>
                </a:solidFill>
              </a:rPr>
              <a:t> JSON </a:t>
            </a:r>
            <a:endParaRPr lang="en-US" sz="4400" b="1" dirty="0" smtClean="0">
              <a:solidFill>
                <a:schemeClr val="bg1"/>
              </a:solidFill>
            </a:endParaRPr>
          </a:p>
          <a:p>
            <a:r>
              <a:rPr lang="en-US" sz="4400" b="1" dirty="0" smtClean="0">
                <a:solidFill>
                  <a:schemeClr val="bg1"/>
                </a:solidFill>
              </a:rPr>
              <a:t>into </a:t>
            </a:r>
            <a:r>
              <a:rPr lang="en-US" sz="4400" b="1" dirty="0">
                <a:solidFill>
                  <a:schemeClr val="bg1"/>
                </a:solidFill>
              </a:rPr>
              <a:t>an Object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507864" y="114767"/>
            <a:ext cx="6096000" cy="65248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</a:t>
            </a:r>
            <a:r>
              <a:rPr lang="en-US" sz="2200" b="1" dirty="0" err="1"/>
              <a:t>json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marks):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self.marks</a:t>
            </a:r>
            <a:r>
              <a:rPr lang="en-US" sz="2200" b="1" dirty="0"/>
              <a:t> = marks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JSON string</a:t>
            </a:r>
          </a:p>
          <a:p>
            <a:r>
              <a:rPr lang="en-US" sz="2200" b="1" dirty="0"/>
              <a:t>data = '{"name":"Sara","marks":90}'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Convert JSON into dictionary</a:t>
            </a:r>
          </a:p>
          <a:p>
            <a:r>
              <a:rPr lang="en-US" sz="2200" b="1" dirty="0"/>
              <a:t>dictionary = </a:t>
            </a:r>
            <a:r>
              <a:rPr lang="en-US" sz="2200" b="1" dirty="0" err="1"/>
              <a:t>json.loads</a:t>
            </a:r>
            <a:r>
              <a:rPr lang="en-US" sz="2200" b="1" dirty="0"/>
              <a:t>(data)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Create object from dictionary</a:t>
            </a:r>
          </a:p>
          <a:p>
            <a:r>
              <a:rPr lang="en-US" sz="2200" b="1" dirty="0"/>
              <a:t>s1 = Student(dictionary["name"], dictionary["marks"])</a:t>
            </a:r>
          </a:p>
          <a:p>
            <a:endParaRPr lang="en-US" sz="2200" b="1" dirty="0"/>
          </a:p>
          <a:p>
            <a:r>
              <a:rPr lang="en-US" sz="2200" b="1" dirty="0"/>
              <a:t>print(s1.name)</a:t>
            </a:r>
          </a:p>
          <a:p>
            <a:r>
              <a:rPr lang="en-US" sz="2200" b="1" dirty="0"/>
              <a:t>print(s1.marks)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507864" y="114767"/>
            <a:ext cx="4679325" cy="652486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30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949" y="217799"/>
            <a:ext cx="494750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Pickle module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948" y="987240"/>
            <a:ext cx="1175849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The pickle module in Python is used for: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Converting Python objects into binary format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Saving objects into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Restoring objects from files</a:t>
            </a:r>
          </a:p>
          <a:p>
            <a:endParaRPr lang="en-US" sz="2200" b="1" dirty="0"/>
          </a:p>
          <a:p>
            <a:r>
              <a:rPr lang="en-US" sz="2200" b="1" dirty="0"/>
              <a:t>It is mainly used in Object-Oriented </a:t>
            </a:r>
            <a:r>
              <a:rPr lang="en-US" sz="2200" b="1" dirty="0" smtClean="0"/>
              <a:t>Programming </a:t>
            </a:r>
            <a:r>
              <a:rPr lang="en-US" sz="2200" b="1" dirty="0"/>
              <a:t>to store complete objects permanently.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013398"/>
              </p:ext>
            </p:extLst>
          </p:nvPr>
        </p:nvGraphicFramePr>
        <p:xfrm>
          <a:off x="247919" y="4332128"/>
          <a:ext cx="10131424" cy="8534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2200" b="1" dirty="0"/>
                        <a:t>Pickling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Converting object into binary data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Unpickling</a:t>
                      </a:r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Converting binary data back into object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389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0406" y="146243"/>
            <a:ext cx="7641464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Why Use Pickle in OOP?</a:t>
            </a:r>
          </a:p>
          <a:p>
            <a:endParaRPr lang="en-US" sz="2200" b="1" dirty="0"/>
          </a:p>
          <a:p>
            <a:r>
              <a:rPr lang="en-US" sz="2200" b="1" dirty="0"/>
              <a:t>Objects contain: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Attributes (data)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Methods (behavior)</a:t>
            </a:r>
          </a:p>
          <a:p>
            <a:endParaRPr lang="en-US" sz="2200" b="1" dirty="0"/>
          </a:p>
          <a:p>
            <a:r>
              <a:rPr lang="en-US" sz="2200" b="1" dirty="0"/>
              <a:t>The pickle module allows us to save object data easily.</a:t>
            </a:r>
          </a:p>
          <a:p>
            <a:endParaRPr lang="en-US" sz="2200" b="1" dirty="0"/>
          </a:p>
          <a:p>
            <a:r>
              <a:rPr lang="en-US" sz="4400" b="1" dirty="0">
                <a:solidFill>
                  <a:schemeClr val="bg1"/>
                </a:solidFill>
              </a:rPr>
              <a:t>Uses:</a:t>
            </a:r>
          </a:p>
          <a:p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Save student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Save employee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Save game progress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Store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2723171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0526"/>
            <a:ext cx="568226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Binary File Modes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323868"/>
              </p:ext>
            </p:extLst>
          </p:nvPr>
        </p:nvGraphicFramePr>
        <p:xfrm>
          <a:off x="441101" y="1187109"/>
          <a:ext cx="10131424" cy="12801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65712"/>
                <a:gridCol w="5065712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wb</a:t>
                      </a:r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Write binary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b="1" dirty="0" err="1"/>
                        <a:t>rb</a:t>
                      </a:r>
                      <a:endParaRPr lang="en-US" sz="2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/>
                        <a:t>Read binary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2200" b="1" dirty="0"/>
                        <a:t>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Append binary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097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0526"/>
            <a:ext cx="80233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Pickling an Object (Saving Object)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921" y="909967"/>
            <a:ext cx="6096000" cy="58477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pickle</a:t>
            </a:r>
          </a:p>
          <a:p>
            <a:endParaRPr lang="en-US" sz="2200" b="1" dirty="0"/>
          </a:p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marks):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self.marks</a:t>
            </a:r>
            <a:r>
              <a:rPr lang="en-US" sz="2200" b="1" dirty="0"/>
              <a:t> = marks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Create object</a:t>
            </a:r>
          </a:p>
          <a:p>
            <a:r>
              <a:rPr lang="en-US" sz="2200" b="1" dirty="0"/>
              <a:t>s1 = Student("Ali", 85)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Open binary file</a:t>
            </a:r>
          </a:p>
          <a:p>
            <a:r>
              <a:rPr lang="en-US" sz="2200" b="1" dirty="0"/>
              <a:t>with open("student.dat", "</a:t>
            </a:r>
            <a:r>
              <a:rPr lang="en-US" sz="2200" b="1" dirty="0" err="1"/>
              <a:t>wb</a:t>
            </a:r>
            <a:r>
              <a:rPr lang="en-US" sz="2200" b="1" dirty="0"/>
              <a:t>") as file: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    # Save object into file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pickle.dump</a:t>
            </a:r>
            <a:r>
              <a:rPr lang="en-US" sz="2200" b="1" dirty="0"/>
              <a:t>(s1, file)</a:t>
            </a:r>
          </a:p>
          <a:p>
            <a:endParaRPr lang="en-US" sz="2200" b="1" dirty="0"/>
          </a:p>
          <a:p>
            <a:r>
              <a:rPr lang="en-US" sz="2200" b="1" dirty="0"/>
              <a:t>print("Object stored successfully")</a:t>
            </a:r>
          </a:p>
        </p:txBody>
      </p:sp>
      <p:sp>
        <p:nvSpPr>
          <p:cNvPr id="5" name="Rectangle 4"/>
          <p:cNvSpPr/>
          <p:nvPr/>
        </p:nvSpPr>
        <p:spPr>
          <a:xfrm>
            <a:off x="7424423" y="1531444"/>
            <a:ext cx="447911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pickle.dump(object, file)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24423" y="2131608"/>
            <a:ext cx="41923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Serialize object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Store object into binary file</a:t>
            </a:r>
          </a:p>
        </p:txBody>
      </p:sp>
    </p:spTree>
    <p:extLst>
      <p:ext uri="{BB962C8B-B14F-4D97-AF65-F5344CB8AC3E}">
        <p14:creationId xmlns:p14="http://schemas.microsoft.com/office/powerpoint/2010/main" val="2111359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152" y="140527"/>
            <a:ext cx="901721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>
                <a:solidFill>
                  <a:schemeClr val="bg1"/>
                </a:solidFill>
              </a:rPr>
              <a:t>Unpickling</a:t>
            </a:r>
            <a:r>
              <a:rPr lang="en-US" sz="4400" b="1" dirty="0">
                <a:solidFill>
                  <a:schemeClr val="bg1"/>
                </a:solidFill>
              </a:rPr>
              <a:t> an Object (Loading Object)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0152" y="909968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pickle</a:t>
            </a:r>
          </a:p>
          <a:p>
            <a:endParaRPr lang="en-US" sz="2200" b="1" dirty="0"/>
          </a:p>
          <a:p>
            <a:r>
              <a:rPr lang="en-US" sz="2200" b="1" dirty="0"/>
              <a:t>class Student: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marks):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self.marks</a:t>
            </a:r>
            <a:r>
              <a:rPr lang="en-US" sz="2200" b="1" dirty="0"/>
              <a:t> = marks</a:t>
            </a:r>
          </a:p>
          <a:p>
            <a:endParaRPr lang="en-US" sz="2200" b="1" dirty="0"/>
          </a:p>
          <a:p>
            <a:r>
              <a:rPr lang="en-US" sz="2200" b="1" dirty="0">
                <a:solidFill>
                  <a:schemeClr val="bg1"/>
                </a:solidFill>
              </a:rPr>
              <a:t># Read object from file</a:t>
            </a:r>
          </a:p>
          <a:p>
            <a:r>
              <a:rPr lang="en-US" sz="2200" b="1" dirty="0"/>
              <a:t>with open("student.dat", "</a:t>
            </a:r>
            <a:r>
              <a:rPr lang="en-US" sz="2200" b="1" dirty="0" err="1"/>
              <a:t>rb</a:t>
            </a:r>
            <a:r>
              <a:rPr lang="en-US" sz="2200" b="1" dirty="0"/>
              <a:t>") as file:</a:t>
            </a:r>
          </a:p>
          <a:p>
            <a:endParaRPr lang="en-US" sz="2200" b="1" dirty="0"/>
          </a:p>
          <a:p>
            <a:r>
              <a:rPr lang="en-US" sz="2200" b="1" dirty="0"/>
              <a:t>    </a:t>
            </a:r>
            <a:r>
              <a:rPr lang="en-US" sz="2200" b="1" dirty="0" err="1"/>
              <a:t>obj</a:t>
            </a:r>
            <a:r>
              <a:rPr lang="en-US" sz="2200" b="1" dirty="0"/>
              <a:t> = </a:t>
            </a:r>
            <a:r>
              <a:rPr lang="en-US" sz="2200" b="1" dirty="0" err="1"/>
              <a:t>pickle.load</a:t>
            </a:r>
            <a:r>
              <a:rPr lang="en-US" sz="2200" b="1" dirty="0"/>
              <a:t>(file)</a:t>
            </a:r>
          </a:p>
          <a:p>
            <a:endParaRPr lang="en-US" sz="2200" b="1" dirty="0"/>
          </a:p>
          <a:p>
            <a:r>
              <a:rPr lang="en-US" sz="2200" b="1" dirty="0"/>
              <a:t>print("Name:", obj.name)</a:t>
            </a:r>
          </a:p>
          <a:p>
            <a:r>
              <a:rPr lang="en-US" sz="2200" b="1" dirty="0"/>
              <a:t>print("Marks:", </a:t>
            </a:r>
            <a:r>
              <a:rPr lang="en-US" sz="2200" b="1" dirty="0" err="1"/>
              <a:t>obj.marks</a:t>
            </a:r>
            <a:r>
              <a:rPr lang="en-US" sz="2200" b="1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6641206" y="1595838"/>
            <a:ext cx="291458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pickle.load(file)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641206" y="2281314"/>
            <a:ext cx="6096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Read binary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Convert binary data back into object</a:t>
            </a:r>
          </a:p>
        </p:txBody>
      </p:sp>
    </p:spTree>
    <p:extLst>
      <p:ext uri="{BB962C8B-B14F-4D97-AF65-F5344CB8AC3E}">
        <p14:creationId xmlns:p14="http://schemas.microsoft.com/office/powerpoint/2010/main" val="553096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770" y="110334"/>
            <a:ext cx="586981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Storing Multiple Objects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770" y="871330"/>
            <a:ext cx="6096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/>
              <a:t>import pickle</a:t>
            </a:r>
          </a:p>
          <a:p>
            <a:endParaRPr lang="en-US" sz="2200" b="1" dirty="0"/>
          </a:p>
          <a:p>
            <a:r>
              <a:rPr lang="en-US" sz="2200" b="1" dirty="0"/>
              <a:t>class Employee: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salary):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self.salary</a:t>
            </a:r>
            <a:r>
              <a:rPr lang="en-US" sz="2200" b="1" dirty="0"/>
              <a:t> = salary</a:t>
            </a:r>
          </a:p>
          <a:p>
            <a:endParaRPr lang="en-US" sz="2200" b="1" dirty="0"/>
          </a:p>
          <a:p>
            <a:r>
              <a:rPr lang="en-US" sz="2200" b="1" dirty="0"/>
              <a:t>e1 = Employee("Ahmed", 50000)</a:t>
            </a:r>
          </a:p>
          <a:p>
            <a:r>
              <a:rPr lang="en-US" sz="2200" b="1" dirty="0"/>
              <a:t>e2 = Employee("Sara", 60000)</a:t>
            </a:r>
          </a:p>
          <a:p>
            <a:endParaRPr lang="en-US" sz="2200" b="1" dirty="0"/>
          </a:p>
          <a:p>
            <a:r>
              <a:rPr lang="en-US" sz="2200" b="1" dirty="0"/>
              <a:t>with open("employees.dat", "</a:t>
            </a:r>
            <a:r>
              <a:rPr lang="en-US" sz="2200" b="1" dirty="0" err="1"/>
              <a:t>wb</a:t>
            </a:r>
            <a:r>
              <a:rPr lang="en-US" sz="2200" b="1" dirty="0"/>
              <a:t>") as file:</a:t>
            </a:r>
          </a:p>
          <a:p>
            <a:endParaRPr lang="en-US" sz="2200" b="1" dirty="0"/>
          </a:p>
          <a:p>
            <a:r>
              <a:rPr lang="en-US" sz="2200" b="1" dirty="0"/>
              <a:t>    pickle.dump(e1, file)</a:t>
            </a:r>
          </a:p>
          <a:p>
            <a:r>
              <a:rPr lang="en-US" sz="2200" b="1" dirty="0"/>
              <a:t>    pickle.dump(e2, file)</a:t>
            </a:r>
          </a:p>
          <a:p>
            <a:endParaRPr lang="en-US" sz="2200" b="1" dirty="0"/>
          </a:p>
          <a:p>
            <a:r>
              <a:rPr lang="en-US" sz="2200" b="1" dirty="0"/>
              <a:t>print("Multiple objects stored")</a:t>
            </a:r>
          </a:p>
        </p:txBody>
      </p:sp>
    </p:spTree>
    <p:extLst>
      <p:ext uri="{BB962C8B-B14F-4D97-AF65-F5344CB8AC3E}">
        <p14:creationId xmlns:p14="http://schemas.microsoft.com/office/powerpoint/2010/main" val="3307277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727" y="153404"/>
            <a:ext cx="60850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Reading Multiple Objects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7727" y="922845"/>
            <a:ext cx="5929586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import pickle</a:t>
            </a:r>
          </a:p>
          <a:p>
            <a:endParaRPr lang="en-US" sz="2200" b="1" dirty="0"/>
          </a:p>
          <a:p>
            <a:r>
              <a:rPr lang="en-US" sz="2200" b="1" dirty="0"/>
              <a:t>class Employee:</a:t>
            </a:r>
          </a:p>
          <a:p>
            <a:r>
              <a:rPr lang="en-US" sz="2200" b="1" dirty="0"/>
              <a:t>    </a:t>
            </a:r>
            <a:r>
              <a:rPr lang="en-US" sz="2200" b="1" dirty="0" err="1"/>
              <a:t>def</a:t>
            </a:r>
            <a:r>
              <a:rPr lang="en-US" sz="2200" b="1" dirty="0"/>
              <a:t> __</a:t>
            </a:r>
            <a:r>
              <a:rPr lang="en-US" sz="2200" b="1" dirty="0" err="1"/>
              <a:t>init</a:t>
            </a:r>
            <a:r>
              <a:rPr lang="en-US" sz="2200" b="1" dirty="0"/>
              <a:t>__(self, name, salary):</a:t>
            </a:r>
          </a:p>
          <a:p>
            <a:r>
              <a:rPr lang="en-US" sz="2200" b="1" dirty="0"/>
              <a:t>        self.name = name</a:t>
            </a:r>
          </a:p>
          <a:p>
            <a:r>
              <a:rPr lang="en-US" sz="2200" b="1" dirty="0"/>
              <a:t>        </a:t>
            </a:r>
            <a:r>
              <a:rPr lang="en-US" sz="2200" b="1" dirty="0" err="1"/>
              <a:t>self.salary</a:t>
            </a:r>
            <a:r>
              <a:rPr lang="en-US" sz="2200" b="1" dirty="0"/>
              <a:t> = salary</a:t>
            </a:r>
          </a:p>
          <a:p>
            <a:endParaRPr lang="en-US" sz="2200" b="1" dirty="0"/>
          </a:p>
          <a:p>
            <a:r>
              <a:rPr lang="en-US" sz="2200" b="1" dirty="0"/>
              <a:t>with open("employees.dat", "</a:t>
            </a:r>
            <a:r>
              <a:rPr lang="en-US" sz="2200" b="1" dirty="0" err="1"/>
              <a:t>rb</a:t>
            </a:r>
            <a:r>
              <a:rPr lang="en-US" sz="2200" b="1" dirty="0"/>
              <a:t>") as file:</a:t>
            </a:r>
          </a:p>
          <a:p>
            <a:endParaRPr lang="en-US" sz="2200" b="1" dirty="0"/>
          </a:p>
          <a:p>
            <a:r>
              <a:rPr lang="en-US" sz="2200" b="1" dirty="0"/>
              <a:t>    while True:</a:t>
            </a:r>
          </a:p>
          <a:p>
            <a:r>
              <a:rPr lang="en-US" sz="2200" b="1" dirty="0"/>
              <a:t>        try:</a:t>
            </a:r>
          </a:p>
          <a:p>
            <a:r>
              <a:rPr lang="en-US" sz="2200" b="1" dirty="0"/>
              <a:t>            </a:t>
            </a:r>
            <a:r>
              <a:rPr lang="en-US" sz="2200" b="1" dirty="0" err="1"/>
              <a:t>obj</a:t>
            </a:r>
            <a:r>
              <a:rPr lang="en-US" sz="2200" b="1" dirty="0"/>
              <a:t> = pickle.load(file)</a:t>
            </a:r>
          </a:p>
          <a:p>
            <a:endParaRPr lang="en-US" sz="2200" b="1" dirty="0"/>
          </a:p>
          <a:p>
            <a:r>
              <a:rPr lang="en-US" sz="2200" b="1" dirty="0"/>
              <a:t>            print(obj.name, </a:t>
            </a:r>
            <a:r>
              <a:rPr lang="en-US" sz="2200" b="1" dirty="0" err="1"/>
              <a:t>obj.salary</a:t>
            </a:r>
            <a:r>
              <a:rPr lang="en-US" sz="2200" b="1" dirty="0"/>
              <a:t>)</a:t>
            </a:r>
          </a:p>
          <a:p>
            <a:endParaRPr lang="en-US" sz="2200" b="1" dirty="0"/>
          </a:p>
          <a:p>
            <a:r>
              <a:rPr lang="en-US" sz="2200" b="1" dirty="0"/>
              <a:t>        except EOFError:</a:t>
            </a:r>
          </a:p>
          <a:p>
            <a:r>
              <a:rPr lang="en-US" sz="2200" b="1" dirty="0"/>
              <a:t>            break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7156152" y="922845"/>
            <a:ext cx="1746376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chemeClr val="bg1"/>
                </a:solidFill>
              </a:rPr>
              <a:t>EOFError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56152" y="1631183"/>
            <a:ext cx="244977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End Of File reached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56152" y="2187579"/>
            <a:ext cx="468897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/>
              <a:t>Used when all objects have been read.</a:t>
            </a:r>
          </a:p>
        </p:txBody>
      </p:sp>
    </p:spTree>
    <p:extLst>
      <p:ext uri="{BB962C8B-B14F-4D97-AF65-F5344CB8AC3E}">
        <p14:creationId xmlns:p14="http://schemas.microsoft.com/office/powerpoint/2010/main" val="36994080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61DDDE80-2DFA-4F2A-B66F-72059846BD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3416</TotalTime>
  <Words>1674</Words>
  <Application>Microsoft Office PowerPoint</Application>
  <PresentationFormat>Widescreen</PresentationFormat>
  <Paragraphs>461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Celestial</vt:lpstr>
      <vt:lpstr>Object 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user</dc:creator>
  <cp:lastModifiedBy>user</cp:lastModifiedBy>
  <cp:revision>212</cp:revision>
  <dcterms:created xsi:type="dcterms:W3CDTF">2026-03-02T19:00:22Z</dcterms:created>
  <dcterms:modified xsi:type="dcterms:W3CDTF">2026-05-14T10:59:06Z</dcterms:modified>
</cp:coreProperties>
</file>