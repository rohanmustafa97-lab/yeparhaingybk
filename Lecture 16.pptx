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67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FA72522E-ADF5-4C39-B302-A7CB76F9D3C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4405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183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86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674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256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90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214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272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567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400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5052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102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686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7936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8389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2042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615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A72522E-ADF5-4C39-B302-A7CB76F9D3C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9026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Object Oriented Programming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Semester II</a:t>
            </a:r>
            <a:br>
              <a:rPr lang="en-US" dirty="0" smtClean="0"/>
            </a:br>
            <a:r>
              <a:rPr lang="en-US" dirty="0" smtClean="0"/>
              <a:t>Lecturer: Sir </a:t>
            </a:r>
            <a:r>
              <a:rPr lang="en-US" dirty="0" err="1" smtClean="0"/>
              <a:t>Talha</a:t>
            </a:r>
            <a:r>
              <a:rPr lang="en-US" dirty="0" smtClean="0"/>
              <a:t> </a:t>
            </a:r>
            <a:r>
              <a:rPr lang="en-US" dirty="0" err="1" smtClean="0"/>
              <a:t>Ghouri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038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5910" y="0"/>
            <a:ext cx="234564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Callbacks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115910" y="713255"/>
            <a:ext cx="3569503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300" b="1" dirty="0">
                <a:solidFill>
                  <a:schemeClr val="bg1"/>
                </a:solidFill>
              </a:rPr>
              <a:t>What is a Callback?</a:t>
            </a:r>
          </a:p>
        </p:txBody>
      </p:sp>
      <p:sp>
        <p:nvSpPr>
          <p:cNvPr id="4" name="Rectangle 3"/>
          <p:cNvSpPr/>
          <p:nvPr/>
        </p:nvSpPr>
        <p:spPr>
          <a:xfrm>
            <a:off x="115910" y="1257233"/>
            <a:ext cx="1195159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A callback is a function or method that is passed as an argument to another function or object and is executed (called back) at a later time when a specific event or condition occurs.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8519" y="2311049"/>
            <a:ext cx="6096000" cy="212365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/>
              <a:t>Callbacks are commonly used in: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Event-driven programming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Graphical User Interfaces (GUI)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Asynchronous programming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Frameworks and libraries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Object-Oriented Programming (OOP)</a:t>
            </a:r>
          </a:p>
        </p:txBody>
      </p:sp>
      <p:sp>
        <p:nvSpPr>
          <p:cNvPr id="6" name="Rectangle 5"/>
          <p:cNvSpPr/>
          <p:nvPr/>
        </p:nvSpPr>
        <p:spPr>
          <a:xfrm>
            <a:off x="231819" y="2311049"/>
            <a:ext cx="4997003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err="1"/>
              <a:t>def</a:t>
            </a:r>
            <a:r>
              <a:rPr lang="en-US" sz="2200" b="1" dirty="0"/>
              <a:t> greet():</a:t>
            </a:r>
          </a:p>
          <a:p>
            <a:r>
              <a:rPr lang="en-US" sz="2200" b="1" dirty="0"/>
              <a:t>    print("Hello, World!")</a:t>
            </a:r>
          </a:p>
          <a:p>
            <a:endParaRPr lang="en-US" sz="2200" b="1" dirty="0"/>
          </a:p>
          <a:p>
            <a:r>
              <a:rPr lang="en-US" sz="2200" b="1" dirty="0" err="1"/>
              <a:t>def</a:t>
            </a:r>
            <a:r>
              <a:rPr lang="en-US" sz="2200" b="1" dirty="0"/>
              <a:t> </a:t>
            </a:r>
            <a:r>
              <a:rPr lang="en-US" sz="2200" b="1" dirty="0" err="1"/>
              <a:t>execute_callback</a:t>
            </a:r>
            <a:r>
              <a:rPr lang="en-US" sz="2200" b="1" dirty="0"/>
              <a:t>(callback):</a:t>
            </a:r>
          </a:p>
          <a:p>
            <a:r>
              <a:rPr lang="en-US" sz="2200" b="1" dirty="0"/>
              <a:t>    callback()</a:t>
            </a:r>
          </a:p>
          <a:p>
            <a:endParaRPr lang="en-US" sz="2200" b="1" dirty="0"/>
          </a:p>
          <a:p>
            <a:r>
              <a:rPr lang="en-US" sz="2200" b="1" dirty="0" err="1"/>
              <a:t>execute_callback</a:t>
            </a:r>
            <a:r>
              <a:rPr lang="en-US" sz="2200" b="1" dirty="0"/>
              <a:t>(greet)</a:t>
            </a:r>
          </a:p>
        </p:txBody>
      </p:sp>
      <p:sp>
        <p:nvSpPr>
          <p:cNvPr id="7" name="Rectangle 6"/>
          <p:cNvSpPr/>
          <p:nvPr/>
        </p:nvSpPr>
        <p:spPr>
          <a:xfrm>
            <a:off x="231819" y="2311049"/>
            <a:ext cx="3799268" cy="246221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31819" y="5057637"/>
            <a:ext cx="173727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Hello</a:t>
            </a:r>
            <a:r>
              <a:rPr lang="en-US" sz="2200" b="1" dirty="0"/>
              <a:t>, World!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31087" y="5238360"/>
            <a:ext cx="727147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Here, greet() is passed as a callback to </a:t>
            </a:r>
            <a:r>
              <a:rPr lang="en-US" sz="2200" b="1" dirty="0" err="1"/>
              <a:t>execute_callback</a:t>
            </a:r>
            <a:r>
              <a:rPr lang="en-US" sz="2200" b="1" dirty="0"/>
              <a:t>().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819" y="5080531"/>
            <a:ext cx="1868814" cy="746547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054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4056" y="-16170"/>
            <a:ext cx="388600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Callback in 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194056" y="769441"/>
            <a:ext cx="638302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/>
              <a:t>A method of an object can also be used as a callback.</a:t>
            </a:r>
          </a:p>
        </p:txBody>
      </p:sp>
      <p:sp>
        <p:nvSpPr>
          <p:cNvPr id="4" name="Rectangle 3"/>
          <p:cNvSpPr/>
          <p:nvPr/>
        </p:nvSpPr>
        <p:spPr>
          <a:xfrm>
            <a:off x="194056" y="1384336"/>
            <a:ext cx="7383887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class Student: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</a:t>
            </a:r>
            <a:r>
              <a:rPr lang="en-US" sz="2200" b="1" dirty="0" err="1"/>
              <a:t>show_message</a:t>
            </a:r>
            <a:r>
              <a:rPr lang="en-US" sz="2200" b="1" dirty="0"/>
              <a:t>(self):</a:t>
            </a:r>
          </a:p>
          <a:p>
            <a:r>
              <a:rPr lang="en-US" sz="2200" b="1" dirty="0"/>
              <a:t>        print("Assignment submitted successfully!")</a:t>
            </a:r>
          </a:p>
          <a:p>
            <a:endParaRPr lang="en-US" sz="2200" b="1" dirty="0"/>
          </a:p>
          <a:p>
            <a:r>
              <a:rPr lang="en-US" sz="2200" b="1" dirty="0"/>
              <a:t>class Assignment: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submit(self, callback):</a:t>
            </a:r>
          </a:p>
          <a:p>
            <a:r>
              <a:rPr lang="en-US" sz="2200" b="1" dirty="0"/>
              <a:t>        print("Processing submission...")</a:t>
            </a:r>
          </a:p>
          <a:p>
            <a:r>
              <a:rPr lang="en-US" sz="2200" b="1" dirty="0"/>
              <a:t>        callback()</a:t>
            </a:r>
          </a:p>
          <a:p>
            <a:endParaRPr lang="en-US" sz="2200" b="1" dirty="0"/>
          </a:p>
          <a:p>
            <a:r>
              <a:rPr lang="en-US" sz="2200" b="1" dirty="0"/>
              <a:t>student = Student()</a:t>
            </a:r>
          </a:p>
          <a:p>
            <a:r>
              <a:rPr lang="en-US" sz="2200" b="1" dirty="0"/>
              <a:t>assignment = Assignment()</a:t>
            </a:r>
          </a:p>
          <a:p>
            <a:endParaRPr lang="en-US" sz="2200" b="1" dirty="0"/>
          </a:p>
          <a:p>
            <a:r>
              <a:rPr lang="en-US" sz="2200" b="1" dirty="0" err="1"/>
              <a:t>assignment.submit</a:t>
            </a:r>
            <a:r>
              <a:rPr lang="en-US" sz="2200" b="1" dirty="0"/>
              <a:t>(</a:t>
            </a:r>
            <a:r>
              <a:rPr lang="en-US" sz="2200" b="1" dirty="0" err="1"/>
              <a:t>student.show_message</a:t>
            </a:r>
            <a:r>
              <a:rPr lang="en-US" sz="2200" b="1" dirty="0"/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6320107" y="1384336"/>
            <a:ext cx="4524777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Processing </a:t>
            </a:r>
            <a:r>
              <a:rPr lang="en-US" sz="2200" b="1" dirty="0"/>
              <a:t>submission...</a:t>
            </a:r>
          </a:p>
          <a:p>
            <a:r>
              <a:rPr lang="en-US" sz="2200" b="1" dirty="0"/>
              <a:t>Assignment submitted successfully!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056" y="1384336"/>
            <a:ext cx="5871893" cy="4493538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320107" y="1384336"/>
            <a:ext cx="4292085" cy="1107996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477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2683" y="0"/>
            <a:ext cx="610205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Callback with Parameters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98738" y="769441"/>
            <a:ext cx="6096000" cy="34778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/>
              <a:t>class Calculator: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calculate(self, a, b, callback):</a:t>
            </a:r>
          </a:p>
          <a:p>
            <a:r>
              <a:rPr lang="en-US" sz="2200" b="1" dirty="0"/>
              <a:t>        result = a + b</a:t>
            </a:r>
          </a:p>
          <a:p>
            <a:r>
              <a:rPr lang="en-US" sz="2200" b="1" dirty="0"/>
              <a:t>        callback(result)</a:t>
            </a:r>
          </a:p>
          <a:p>
            <a:endParaRPr lang="en-US" sz="2200" b="1" dirty="0"/>
          </a:p>
          <a:p>
            <a:r>
              <a:rPr lang="en-US" sz="2200" b="1" dirty="0" err="1"/>
              <a:t>def</a:t>
            </a:r>
            <a:r>
              <a:rPr lang="en-US" sz="2200" b="1" dirty="0"/>
              <a:t> display(result):</a:t>
            </a:r>
          </a:p>
          <a:p>
            <a:r>
              <a:rPr lang="en-US" sz="2200" b="1" dirty="0"/>
              <a:t>    print("Result =", result)</a:t>
            </a:r>
          </a:p>
          <a:p>
            <a:endParaRPr lang="en-US" sz="2200" b="1" dirty="0"/>
          </a:p>
          <a:p>
            <a:r>
              <a:rPr lang="en-US" sz="2200" b="1" dirty="0" err="1"/>
              <a:t>calc</a:t>
            </a:r>
            <a:r>
              <a:rPr lang="en-US" sz="2200" b="1" dirty="0"/>
              <a:t> = Calculator()</a:t>
            </a:r>
          </a:p>
          <a:p>
            <a:r>
              <a:rPr lang="en-US" sz="2200" b="1" dirty="0" err="1"/>
              <a:t>calc.calculate</a:t>
            </a:r>
            <a:r>
              <a:rPr lang="en-US" sz="2200" b="1" dirty="0"/>
              <a:t>(10, 20, display)</a:t>
            </a:r>
          </a:p>
        </p:txBody>
      </p:sp>
      <p:sp>
        <p:nvSpPr>
          <p:cNvPr id="5" name="Rectangle 4"/>
          <p:cNvSpPr/>
          <p:nvPr/>
        </p:nvSpPr>
        <p:spPr>
          <a:xfrm>
            <a:off x="92683" y="4879951"/>
            <a:ext cx="146617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Result </a:t>
            </a:r>
            <a:r>
              <a:rPr lang="en-US" sz="2200" b="1" dirty="0"/>
              <a:t>= 30</a:t>
            </a:r>
          </a:p>
        </p:txBody>
      </p:sp>
      <p:sp>
        <p:nvSpPr>
          <p:cNvPr id="6" name="Rectangle 5"/>
          <p:cNvSpPr/>
          <p:nvPr/>
        </p:nvSpPr>
        <p:spPr>
          <a:xfrm>
            <a:off x="92683" y="769441"/>
            <a:ext cx="4170224" cy="347787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2684" y="4862639"/>
            <a:ext cx="1633086" cy="78675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376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56127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GUI (Graphical User Interface</a:t>
            </a:r>
            <a:r>
              <a:rPr lang="en-US" sz="4400" b="1" dirty="0" smtClean="0">
                <a:solidFill>
                  <a:schemeClr val="bg1"/>
                </a:solidFill>
              </a:rPr>
              <a:t>) </a:t>
            </a:r>
            <a:r>
              <a:rPr lang="en-US" sz="4400" b="1" dirty="0">
                <a:solidFill>
                  <a:schemeClr val="bg1"/>
                </a:solidFill>
              </a:rPr>
              <a:t>Concepts 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69441"/>
            <a:ext cx="2769604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300" b="1" dirty="0">
                <a:solidFill>
                  <a:schemeClr val="bg1"/>
                </a:solidFill>
              </a:rPr>
              <a:t>What is a GUI?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69605"/>
            <a:ext cx="11990231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A Graphical User Interface (GUI) allows users to interact with a program through graphical elements such as windows, buttons, menus, icons, and text boxes instead of typing commands.</a:t>
            </a:r>
          </a:p>
          <a:p>
            <a:r>
              <a:rPr lang="en-US" sz="2200" b="1" dirty="0"/>
              <a:t>Examples of GUI applications: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Web browsers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Calculator applications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Microsoft Word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Media players </a:t>
            </a:r>
          </a:p>
          <a:p>
            <a:r>
              <a:rPr lang="en-US" sz="2200" b="1" dirty="0"/>
              <a:t>In Python, GUI applications are commonly developed using libraries such 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err="1"/>
              <a:t>Tkinter</a:t>
            </a:r>
            <a:r>
              <a:rPr lang="en-US" sz="2200" b="1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err="1"/>
              <a:t>PyQt</a:t>
            </a:r>
            <a:r>
              <a:rPr lang="en-US" sz="2200" b="1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err="1"/>
              <a:t>PySide</a:t>
            </a:r>
            <a:r>
              <a:rPr lang="en-US" sz="2200" b="1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err="1"/>
              <a:t>Kivy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4016228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51928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Main Components of a GUI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69441"/>
            <a:ext cx="2094612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300" b="1" dirty="0">
                <a:solidFill>
                  <a:schemeClr val="bg1"/>
                </a:solidFill>
              </a:rPr>
              <a:t>1. Window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3438"/>
            <a:ext cx="720928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/>
              <a:t>A window is the main container that holds all GUI elements.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617" y="2046393"/>
            <a:ext cx="6096000" cy="178510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/>
              <a:t>import </a:t>
            </a:r>
            <a:r>
              <a:rPr lang="en-US" sz="2200" b="1" dirty="0" err="1"/>
              <a:t>tkinter</a:t>
            </a:r>
            <a:r>
              <a:rPr lang="en-US" sz="2200" b="1" dirty="0"/>
              <a:t> as </a:t>
            </a:r>
            <a:r>
              <a:rPr lang="en-US" sz="2200" b="1" dirty="0" err="1"/>
              <a:t>tk</a:t>
            </a:r>
            <a:endParaRPr lang="en-US" sz="2200" b="1" dirty="0"/>
          </a:p>
          <a:p>
            <a:endParaRPr lang="en-US" sz="2200" b="1" dirty="0"/>
          </a:p>
          <a:p>
            <a:r>
              <a:rPr lang="en-US" sz="2200" b="1" dirty="0"/>
              <a:t>window = </a:t>
            </a:r>
            <a:r>
              <a:rPr lang="en-US" sz="2200" b="1" dirty="0" err="1"/>
              <a:t>tk.Tk</a:t>
            </a:r>
            <a:r>
              <a:rPr lang="en-US" sz="2200" b="1" dirty="0"/>
              <a:t>()</a:t>
            </a:r>
          </a:p>
          <a:p>
            <a:r>
              <a:rPr lang="en-US" sz="2200" b="1" dirty="0" err="1"/>
              <a:t>window.title</a:t>
            </a:r>
            <a:r>
              <a:rPr lang="en-US" sz="2200" b="1" dirty="0"/>
              <a:t>("My First GUI")</a:t>
            </a:r>
          </a:p>
          <a:p>
            <a:r>
              <a:rPr lang="en-US" sz="2200" b="1" dirty="0" err="1"/>
              <a:t>window.mainloop</a:t>
            </a:r>
            <a:r>
              <a:rPr lang="en-US" sz="2200" b="1" dirty="0"/>
              <a:t>()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9641" y="2127276"/>
            <a:ext cx="3362996" cy="170422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11617" y="2046393"/>
            <a:ext cx="3584620" cy="1785104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448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834" y="128789"/>
            <a:ext cx="2046329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300" b="1" dirty="0">
                <a:solidFill>
                  <a:schemeClr val="bg1"/>
                </a:solidFill>
              </a:rPr>
              <a:t>2. Widgets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833" y="728953"/>
            <a:ext cx="8450253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Widgets are graphical controls placed inside a window.</a:t>
            </a:r>
          </a:p>
          <a:p>
            <a:endParaRPr lang="en-US" sz="2200" b="1" dirty="0" smtClean="0"/>
          </a:p>
          <a:p>
            <a:r>
              <a:rPr lang="en-US" sz="2200" b="1" dirty="0" smtClean="0"/>
              <a:t>Common </a:t>
            </a:r>
            <a:r>
              <a:rPr lang="en-US" sz="2200" b="1" dirty="0"/>
              <a:t>widgets include: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781504"/>
              </p:ext>
            </p:extLst>
          </p:nvPr>
        </p:nvGraphicFramePr>
        <p:xfrm>
          <a:off x="724437" y="1985598"/>
          <a:ext cx="10131424" cy="38404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065712"/>
                <a:gridCol w="5065712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Widget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Purpose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Label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Display text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Button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Perform an action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Entry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Accept user input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Multi-line text input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Checkbutton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Checkbox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Radiobutton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Multiple-choice selection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Listbox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Display a list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Menu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Menu bar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0451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736" y="101889"/>
            <a:ext cx="2907142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300" b="1" dirty="0">
                <a:solidFill>
                  <a:schemeClr val="bg1"/>
                </a:solidFill>
              </a:rPr>
              <a:t>3. Label Widget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212821" y="702053"/>
            <a:ext cx="351493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/>
              <a:t>Displays text or information.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212820" y="1463470"/>
            <a:ext cx="7810717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import </a:t>
            </a:r>
            <a:r>
              <a:rPr lang="en-US" sz="2200" b="1" dirty="0" err="1"/>
              <a:t>tkinter</a:t>
            </a:r>
            <a:r>
              <a:rPr lang="en-US" sz="2200" b="1" dirty="0"/>
              <a:t> as </a:t>
            </a:r>
            <a:r>
              <a:rPr lang="en-US" sz="2200" b="1" dirty="0" err="1"/>
              <a:t>tk</a:t>
            </a:r>
            <a:endParaRPr lang="en-US" sz="2200" b="1" dirty="0"/>
          </a:p>
          <a:p>
            <a:endParaRPr lang="en-US" sz="2200" b="1" dirty="0"/>
          </a:p>
          <a:p>
            <a:r>
              <a:rPr lang="en-US" sz="2200" b="1" dirty="0"/>
              <a:t>window = </a:t>
            </a:r>
            <a:r>
              <a:rPr lang="en-US" sz="2200" b="1" dirty="0" err="1"/>
              <a:t>tk.Tk</a:t>
            </a:r>
            <a:r>
              <a:rPr lang="en-US" sz="2200" b="1" dirty="0"/>
              <a:t>()</a:t>
            </a:r>
          </a:p>
          <a:p>
            <a:endParaRPr lang="en-US" sz="2200" b="1" dirty="0"/>
          </a:p>
          <a:p>
            <a:r>
              <a:rPr lang="en-US" sz="2200" b="1" dirty="0"/>
              <a:t>label = </a:t>
            </a:r>
            <a:r>
              <a:rPr lang="en-US" sz="2200" b="1" dirty="0" err="1"/>
              <a:t>tk.Label</a:t>
            </a:r>
            <a:r>
              <a:rPr lang="en-US" sz="2200" b="1" dirty="0"/>
              <a:t>(window, text="Welcome to GUI Programming")</a:t>
            </a:r>
          </a:p>
          <a:p>
            <a:r>
              <a:rPr lang="en-US" sz="2200" b="1" dirty="0" err="1"/>
              <a:t>label.pack</a:t>
            </a:r>
            <a:r>
              <a:rPr lang="en-US" sz="2200" b="1" dirty="0"/>
              <a:t>()</a:t>
            </a:r>
          </a:p>
          <a:p>
            <a:endParaRPr lang="en-US" sz="2200" b="1" dirty="0"/>
          </a:p>
          <a:p>
            <a:r>
              <a:rPr lang="en-US" sz="2200" b="1" dirty="0" err="1"/>
              <a:t>window.mainloop</a:t>
            </a:r>
            <a:r>
              <a:rPr lang="en-US" sz="2200" b="1" dirty="0"/>
              <a:t>()</a:t>
            </a:r>
          </a:p>
        </p:txBody>
      </p:sp>
      <p:sp>
        <p:nvSpPr>
          <p:cNvPr id="6" name="Rectangle 5"/>
          <p:cNvSpPr/>
          <p:nvPr/>
        </p:nvSpPr>
        <p:spPr>
          <a:xfrm>
            <a:off x="212820" y="1463470"/>
            <a:ext cx="7527383" cy="2800767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8237" y="1631121"/>
            <a:ext cx="2794716" cy="86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17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776" y="127646"/>
            <a:ext cx="3180230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300" b="1" dirty="0">
                <a:solidFill>
                  <a:schemeClr val="bg1"/>
                </a:solidFill>
              </a:rPr>
              <a:t>4. Button Widget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776" y="727810"/>
            <a:ext cx="405380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/>
              <a:t>Performs an action when clicked.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776" y="1327974"/>
            <a:ext cx="7792852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import </a:t>
            </a:r>
            <a:r>
              <a:rPr lang="en-US" sz="2200" b="1" dirty="0" err="1"/>
              <a:t>tkinter</a:t>
            </a:r>
            <a:r>
              <a:rPr lang="en-US" sz="2200" b="1" dirty="0"/>
              <a:t> as </a:t>
            </a:r>
            <a:r>
              <a:rPr lang="en-US" sz="2200" b="1" dirty="0" err="1"/>
              <a:t>tk</a:t>
            </a:r>
            <a:endParaRPr lang="en-US" sz="2200" b="1" dirty="0"/>
          </a:p>
          <a:p>
            <a:endParaRPr lang="en-US" sz="2200" b="1" dirty="0"/>
          </a:p>
          <a:p>
            <a:r>
              <a:rPr lang="en-US" sz="2200" b="1" dirty="0" err="1"/>
              <a:t>def</a:t>
            </a:r>
            <a:r>
              <a:rPr lang="en-US" sz="2200" b="1" dirty="0"/>
              <a:t> greet():</a:t>
            </a:r>
          </a:p>
          <a:p>
            <a:r>
              <a:rPr lang="en-US" sz="2200" b="1" dirty="0"/>
              <a:t>    print("Hello!")</a:t>
            </a:r>
          </a:p>
          <a:p>
            <a:endParaRPr lang="en-US" sz="2200" b="1" dirty="0"/>
          </a:p>
          <a:p>
            <a:r>
              <a:rPr lang="en-US" sz="2200" b="1" dirty="0"/>
              <a:t>window = </a:t>
            </a:r>
            <a:r>
              <a:rPr lang="en-US" sz="2200" b="1" dirty="0" err="1"/>
              <a:t>tk.Tk</a:t>
            </a:r>
            <a:r>
              <a:rPr lang="en-US" sz="2200" b="1" dirty="0"/>
              <a:t>()</a:t>
            </a:r>
          </a:p>
          <a:p>
            <a:endParaRPr lang="en-US" sz="2200" b="1" dirty="0"/>
          </a:p>
          <a:p>
            <a:r>
              <a:rPr lang="en-US" sz="2200" b="1" dirty="0"/>
              <a:t>button = </a:t>
            </a:r>
            <a:r>
              <a:rPr lang="en-US" sz="2200" b="1" dirty="0" err="1"/>
              <a:t>tk.Button</a:t>
            </a:r>
            <a:r>
              <a:rPr lang="en-US" sz="2200" b="1" dirty="0"/>
              <a:t>(window, text="Click Me", command=greet)</a:t>
            </a:r>
          </a:p>
          <a:p>
            <a:r>
              <a:rPr lang="en-US" sz="2200" b="1" dirty="0" err="1"/>
              <a:t>button.pack</a:t>
            </a:r>
            <a:r>
              <a:rPr lang="en-US" sz="2200" b="1" dirty="0"/>
              <a:t>()</a:t>
            </a:r>
          </a:p>
          <a:p>
            <a:endParaRPr lang="en-US" sz="2200" b="1" dirty="0"/>
          </a:p>
          <a:p>
            <a:r>
              <a:rPr lang="en-US" sz="2200" b="1" dirty="0" err="1"/>
              <a:t>window.mainloop</a:t>
            </a:r>
            <a:r>
              <a:rPr lang="en-US" sz="2200" b="1" dirty="0"/>
              <a:t>()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776" y="1327974"/>
            <a:ext cx="7419365" cy="3816429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7842" y="5313680"/>
            <a:ext cx="1706719" cy="112863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393" y="5313680"/>
            <a:ext cx="6181725" cy="12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342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0258" y="121362"/>
            <a:ext cx="2905091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300" b="1" dirty="0">
                <a:solidFill>
                  <a:schemeClr val="bg1"/>
                </a:solidFill>
              </a:rPr>
              <a:t>5. Entry Widget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240258" y="702053"/>
            <a:ext cx="242457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/>
              <a:t>Accepts user input.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240258" y="1302217"/>
            <a:ext cx="3636283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import </a:t>
            </a:r>
            <a:r>
              <a:rPr lang="en-US" sz="2200" b="1" dirty="0" err="1"/>
              <a:t>tkinter</a:t>
            </a:r>
            <a:r>
              <a:rPr lang="en-US" sz="2200" b="1" dirty="0"/>
              <a:t> as </a:t>
            </a:r>
            <a:r>
              <a:rPr lang="en-US" sz="2200" b="1" dirty="0" err="1"/>
              <a:t>tk</a:t>
            </a:r>
            <a:endParaRPr lang="en-US" sz="2200" b="1" dirty="0"/>
          </a:p>
          <a:p>
            <a:endParaRPr lang="en-US" sz="2200" b="1" dirty="0"/>
          </a:p>
          <a:p>
            <a:r>
              <a:rPr lang="en-US" sz="2200" b="1" dirty="0"/>
              <a:t>window = </a:t>
            </a:r>
            <a:r>
              <a:rPr lang="en-US" sz="2200" b="1" dirty="0" err="1"/>
              <a:t>tk.Tk</a:t>
            </a:r>
            <a:r>
              <a:rPr lang="en-US" sz="2200" b="1" dirty="0"/>
              <a:t>()</a:t>
            </a:r>
          </a:p>
          <a:p>
            <a:endParaRPr lang="en-US" sz="2200" b="1" dirty="0"/>
          </a:p>
          <a:p>
            <a:r>
              <a:rPr lang="en-US" sz="2200" b="1" dirty="0"/>
              <a:t>entry = </a:t>
            </a:r>
            <a:r>
              <a:rPr lang="en-US" sz="2200" b="1" dirty="0" err="1"/>
              <a:t>tk.Entry</a:t>
            </a:r>
            <a:r>
              <a:rPr lang="en-US" sz="2200" b="1" dirty="0"/>
              <a:t>(window)</a:t>
            </a:r>
          </a:p>
          <a:p>
            <a:r>
              <a:rPr lang="en-US" sz="2200" b="1" dirty="0" err="1"/>
              <a:t>entry.pack</a:t>
            </a:r>
            <a:r>
              <a:rPr lang="en-US" sz="2200" b="1" dirty="0"/>
              <a:t>()</a:t>
            </a:r>
          </a:p>
          <a:p>
            <a:endParaRPr lang="en-US" sz="2200" b="1" dirty="0"/>
          </a:p>
          <a:p>
            <a:r>
              <a:rPr lang="en-US" sz="2200" b="1" dirty="0" err="1"/>
              <a:t>window.mainloop</a:t>
            </a:r>
            <a:r>
              <a:rPr lang="en-US" sz="2200" b="1" dirty="0" smtClean="0"/>
              <a:t>()</a:t>
            </a:r>
            <a:endParaRPr lang="en-US" sz="22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6541" y="1302217"/>
            <a:ext cx="2258923" cy="93115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40258" y="1302217"/>
            <a:ext cx="3146886" cy="2800767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963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8738" y="0"/>
            <a:ext cx="648613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Event-Driven Programming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98737" y="769441"/>
            <a:ext cx="1174982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Event-Driven </a:t>
            </a:r>
            <a:r>
              <a:rPr lang="en-US" sz="2200" b="1" dirty="0" smtClean="0"/>
              <a:t>Programming </a:t>
            </a:r>
            <a:r>
              <a:rPr lang="en-US" sz="2200" b="1" dirty="0"/>
              <a:t>is a programming paradigm in which the flow of a program is controlled by events. The program waits for events to occur and then responds by executing specific code called event handlers or callbacks.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8737" y="2055691"/>
            <a:ext cx="6096000" cy="449353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/>
              <a:t>An event can be: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A mouse click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A key press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A button click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A file opening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A timer expiring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A network message arriving </a:t>
            </a:r>
            <a:endParaRPr lang="en-US" sz="2200" b="1" dirty="0" smtClean="0"/>
          </a:p>
          <a:p>
            <a:endParaRPr lang="en-US" sz="2200" b="1" dirty="0"/>
          </a:p>
          <a:p>
            <a:r>
              <a:rPr lang="en-US" sz="2200" b="1" dirty="0"/>
              <a:t>Event-driven programming is widely used in: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GUI applications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Web applications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Games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Mobile applications</a:t>
            </a:r>
          </a:p>
        </p:txBody>
      </p:sp>
    </p:spTree>
    <p:extLst>
      <p:ext uri="{BB962C8B-B14F-4D97-AF65-F5344CB8AC3E}">
        <p14:creationId xmlns:p14="http://schemas.microsoft.com/office/powerpoint/2010/main" val="3690696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68009" y="204919"/>
            <a:ext cx="4976491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300" b="1" dirty="0">
                <a:solidFill>
                  <a:schemeClr val="bg1"/>
                </a:solidFill>
              </a:rPr>
              <a:t>Event-Driven Program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1438140" y="986538"/>
            <a:ext cx="3597499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/>
              <a:t>Program Starts</a:t>
            </a:r>
          </a:p>
          <a:p>
            <a:r>
              <a:rPr lang="en-US" sz="2200" b="1" dirty="0" smtClean="0"/>
              <a:t>            │</a:t>
            </a:r>
          </a:p>
          <a:p>
            <a:r>
              <a:rPr lang="en-US" sz="2200" b="1" dirty="0" smtClean="0"/>
              <a:t>Event Loop Starts</a:t>
            </a:r>
          </a:p>
          <a:p>
            <a:r>
              <a:rPr lang="en-US" sz="2200" b="1" dirty="0" smtClean="0"/>
              <a:t>            │</a:t>
            </a:r>
          </a:p>
          <a:p>
            <a:r>
              <a:rPr lang="en-US" sz="2200" b="1" dirty="0" smtClean="0"/>
              <a:t>Wait for Event</a:t>
            </a:r>
          </a:p>
          <a:p>
            <a:r>
              <a:rPr lang="en-US" sz="2200" b="1" dirty="0" smtClean="0"/>
              <a:t>            │</a:t>
            </a:r>
          </a:p>
          <a:p>
            <a:r>
              <a:rPr lang="en-US" sz="2200" b="1" dirty="0" smtClean="0"/>
              <a:t>Event Occurs</a:t>
            </a:r>
          </a:p>
          <a:p>
            <a:r>
              <a:rPr lang="en-US" sz="2200" b="1" dirty="0" smtClean="0"/>
              <a:t>            │</a:t>
            </a:r>
          </a:p>
          <a:p>
            <a:r>
              <a:rPr lang="en-US" sz="2200" b="1" dirty="0" smtClean="0"/>
              <a:t>Event Handler Executes</a:t>
            </a:r>
          </a:p>
          <a:p>
            <a:r>
              <a:rPr lang="en-US" sz="2200" b="1" dirty="0" smtClean="0"/>
              <a:t>            │</a:t>
            </a:r>
          </a:p>
          <a:p>
            <a:r>
              <a:rPr lang="en-US" sz="2200" b="1" dirty="0" smtClean="0"/>
              <a:t>Program Continues Waiting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4176178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705" y="204919"/>
            <a:ext cx="5544916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300" b="1" dirty="0">
                <a:solidFill>
                  <a:schemeClr val="bg1"/>
                </a:solidFill>
              </a:rPr>
              <a:t>Simple Example (Without GUI)</a:t>
            </a:r>
          </a:p>
        </p:txBody>
      </p:sp>
      <p:sp>
        <p:nvSpPr>
          <p:cNvPr id="3" name="Rectangle 2"/>
          <p:cNvSpPr/>
          <p:nvPr/>
        </p:nvSpPr>
        <p:spPr>
          <a:xfrm>
            <a:off x="197857" y="948314"/>
            <a:ext cx="3910504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err="1"/>
              <a:t>def</a:t>
            </a:r>
            <a:r>
              <a:rPr lang="en-US" sz="2200" b="1" dirty="0"/>
              <a:t> greet():</a:t>
            </a:r>
          </a:p>
          <a:p>
            <a:r>
              <a:rPr lang="en-US" sz="2200" b="1" dirty="0"/>
              <a:t>    print("Welcome!")</a:t>
            </a:r>
          </a:p>
          <a:p>
            <a:endParaRPr lang="en-US" sz="2200" b="1" dirty="0"/>
          </a:p>
          <a:p>
            <a:r>
              <a:rPr lang="en-US" sz="2200" b="1" dirty="0" err="1"/>
              <a:t>def</a:t>
            </a:r>
            <a:r>
              <a:rPr lang="en-US" sz="2200" b="1" dirty="0"/>
              <a:t> </a:t>
            </a:r>
            <a:r>
              <a:rPr lang="en-US" sz="2200" b="1" dirty="0" err="1"/>
              <a:t>trigger_event</a:t>
            </a:r>
            <a:r>
              <a:rPr lang="en-US" sz="2200" b="1" dirty="0"/>
              <a:t>(callback):</a:t>
            </a:r>
          </a:p>
          <a:p>
            <a:r>
              <a:rPr lang="en-US" sz="2200" b="1" dirty="0"/>
              <a:t>    print("Event Occurred")</a:t>
            </a:r>
          </a:p>
          <a:p>
            <a:r>
              <a:rPr lang="en-US" sz="2200" b="1" dirty="0"/>
              <a:t>    callback()</a:t>
            </a:r>
          </a:p>
          <a:p>
            <a:endParaRPr lang="en-US" sz="2200" b="1" dirty="0"/>
          </a:p>
          <a:p>
            <a:r>
              <a:rPr lang="en-US" sz="2200" b="1" dirty="0" err="1"/>
              <a:t>trigger_event</a:t>
            </a:r>
            <a:r>
              <a:rPr lang="en-US" sz="2200" b="1" dirty="0"/>
              <a:t>(greet)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627" y="4387121"/>
            <a:ext cx="9016557" cy="72579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97857" y="948314"/>
            <a:ext cx="3421106" cy="2800767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794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3015" y="854746"/>
            <a:ext cx="7127791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import </a:t>
            </a:r>
            <a:r>
              <a:rPr lang="en-US" sz="2200" b="1" dirty="0" err="1"/>
              <a:t>tkinter</a:t>
            </a:r>
            <a:r>
              <a:rPr lang="en-US" sz="2200" b="1" dirty="0"/>
              <a:t> as </a:t>
            </a:r>
            <a:r>
              <a:rPr lang="en-US" sz="2200" b="1" dirty="0" err="1"/>
              <a:t>tk</a:t>
            </a:r>
            <a:endParaRPr lang="en-US" sz="2200" b="1" dirty="0"/>
          </a:p>
          <a:p>
            <a:endParaRPr lang="en-US" sz="2200" b="1" dirty="0"/>
          </a:p>
          <a:p>
            <a:r>
              <a:rPr lang="en-US" sz="2200" b="1" dirty="0" err="1"/>
              <a:t>def</a:t>
            </a:r>
            <a:r>
              <a:rPr lang="en-US" sz="2200" b="1" dirty="0"/>
              <a:t> </a:t>
            </a:r>
            <a:r>
              <a:rPr lang="en-US" sz="2200" b="1" dirty="0" err="1"/>
              <a:t>button_clicked</a:t>
            </a:r>
            <a:r>
              <a:rPr lang="en-US" sz="2200" b="1" dirty="0"/>
              <a:t>():</a:t>
            </a:r>
          </a:p>
          <a:p>
            <a:r>
              <a:rPr lang="en-US" sz="2200" b="1" dirty="0"/>
              <a:t>    print("Button was clicked")</a:t>
            </a:r>
          </a:p>
          <a:p>
            <a:endParaRPr lang="en-US" sz="2200" b="1" dirty="0"/>
          </a:p>
          <a:p>
            <a:r>
              <a:rPr lang="en-US" sz="2200" b="1" dirty="0"/>
              <a:t>window = </a:t>
            </a:r>
            <a:r>
              <a:rPr lang="en-US" sz="2200" b="1" dirty="0" err="1"/>
              <a:t>tk.Tk</a:t>
            </a:r>
            <a:r>
              <a:rPr lang="en-US" sz="2200" b="1" dirty="0"/>
              <a:t>()</a:t>
            </a:r>
          </a:p>
          <a:p>
            <a:endParaRPr lang="en-US" sz="2200" b="1" dirty="0"/>
          </a:p>
          <a:p>
            <a:r>
              <a:rPr lang="en-US" sz="2200" b="1" dirty="0"/>
              <a:t>button = </a:t>
            </a:r>
            <a:r>
              <a:rPr lang="en-US" sz="2200" b="1" dirty="0" err="1"/>
              <a:t>tk.Button</a:t>
            </a:r>
            <a:r>
              <a:rPr lang="en-US" sz="2200" b="1" dirty="0"/>
              <a:t>(</a:t>
            </a:r>
          </a:p>
          <a:p>
            <a:r>
              <a:rPr lang="en-US" sz="2200" b="1" dirty="0"/>
              <a:t>    window,</a:t>
            </a:r>
          </a:p>
          <a:p>
            <a:r>
              <a:rPr lang="en-US" sz="2200" b="1" dirty="0"/>
              <a:t>    text="Click",</a:t>
            </a:r>
          </a:p>
          <a:p>
            <a:r>
              <a:rPr lang="en-US" sz="2200" b="1" dirty="0"/>
              <a:t>    command=</a:t>
            </a:r>
            <a:r>
              <a:rPr lang="en-US" sz="2200" b="1" dirty="0" err="1"/>
              <a:t>button_clicked</a:t>
            </a:r>
            <a:endParaRPr lang="en-US" sz="2200" b="1" dirty="0"/>
          </a:p>
          <a:p>
            <a:r>
              <a:rPr lang="en-US" sz="2200" b="1" dirty="0"/>
              <a:t>)</a:t>
            </a:r>
          </a:p>
          <a:p>
            <a:endParaRPr lang="en-US" sz="2200" b="1" dirty="0"/>
          </a:p>
          <a:p>
            <a:r>
              <a:rPr lang="en-US" sz="2200" b="1" dirty="0" err="1"/>
              <a:t>button.pack</a:t>
            </a:r>
            <a:r>
              <a:rPr lang="en-US" sz="2200" b="1" dirty="0"/>
              <a:t>()</a:t>
            </a:r>
          </a:p>
          <a:p>
            <a:endParaRPr lang="en-US" sz="2200" b="1" dirty="0"/>
          </a:p>
          <a:p>
            <a:r>
              <a:rPr lang="en-US" sz="2200" b="1" dirty="0" err="1"/>
              <a:t>window.mainloop</a:t>
            </a:r>
            <a:r>
              <a:rPr lang="en-US" sz="2200" b="1" dirty="0"/>
              <a:t>()</a:t>
            </a:r>
          </a:p>
        </p:txBody>
      </p:sp>
      <p:sp>
        <p:nvSpPr>
          <p:cNvPr id="3" name="Rectangle 2"/>
          <p:cNvSpPr/>
          <p:nvPr/>
        </p:nvSpPr>
        <p:spPr>
          <a:xfrm>
            <a:off x="123015" y="295071"/>
            <a:ext cx="674774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/>
              <a:t>The GUI waits for events and responds when they occur.</a:t>
            </a:r>
            <a:endParaRPr lang="en-US" sz="2200" b="1" dirty="0"/>
          </a:p>
        </p:txBody>
      </p:sp>
      <p:sp>
        <p:nvSpPr>
          <p:cNvPr id="4" name="Rectangle 3"/>
          <p:cNvSpPr/>
          <p:nvPr/>
        </p:nvSpPr>
        <p:spPr>
          <a:xfrm>
            <a:off x="123015" y="854746"/>
            <a:ext cx="3740647" cy="550920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7893" y="2900148"/>
            <a:ext cx="7515449" cy="5425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7893" y="1861232"/>
            <a:ext cx="1730310" cy="82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275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40526"/>
            <a:ext cx="4846520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300" b="1" dirty="0">
                <a:solidFill>
                  <a:schemeClr val="bg1"/>
                </a:solidFill>
              </a:rPr>
              <a:t>GUI Example Using </a:t>
            </a:r>
            <a:r>
              <a:rPr lang="en-US" sz="3300" b="1" dirty="0" err="1">
                <a:solidFill>
                  <a:schemeClr val="bg1"/>
                </a:solidFill>
              </a:rPr>
              <a:t>Tkinter</a:t>
            </a:r>
            <a:endParaRPr lang="en-US" sz="3300" b="1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88890" y="896387"/>
            <a:ext cx="3842197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import </a:t>
            </a:r>
            <a:r>
              <a:rPr lang="en-US" sz="2200" b="1" dirty="0" err="1"/>
              <a:t>tkinter</a:t>
            </a:r>
            <a:r>
              <a:rPr lang="en-US" sz="2200" b="1" dirty="0"/>
              <a:t> as </a:t>
            </a:r>
            <a:r>
              <a:rPr lang="en-US" sz="2200" b="1" dirty="0" err="1"/>
              <a:t>tk</a:t>
            </a:r>
            <a:endParaRPr lang="en-US" sz="2200" b="1" dirty="0"/>
          </a:p>
          <a:p>
            <a:endParaRPr lang="en-US" sz="2200" b="1" dirty="0"/>
          </a:p>
          <a:p>
            <a:r>
              <a:rPr lang="en-US" sz="2200" b="1" dirty="0" err="1"/>
              <a:t>def</a:t>
            </a:r>
            <a:r>
              <a:rPr lang="en-US" sz="2200" b="1" dirty="0"/>
              <a:t> </a:t>
            </a:r>
            <a:r>
              <a:rPr lang="en-US" sz="2200" b="1" dirty="0" err="1"/>
              <a:t>button_clicked</a:t>
            </a:r>
            <a:r>
              <a:rPr lang="en-US" sz="2200" b="1" dirty="0"/>
              <a:t>():</a:t>
            </a:r>
          </a:p>
          <a:p>
            <a:r>
              <a:rPr lang="en-US" sz="2200" b="1" dirty="0"/>
              <a:t>    print("Button Clicked!")</a:t>
            </a:r>
          </a:p>
          <a:p>
            <a:endParaRPr lang="en-US" sz="2200" b="1" dirty="0"/>
          </a:p>
          <a:p>
            <a:r>
              <a:rPr lang="en-US" sz="2200" b="1" dirty="0"/>
              <a:t>window = </a:t>
            </a:r>
            <a:r>
              <a:rPr lang="en-US" sz="2200" b="1" dirty="0" err="1"/>
              <a:t>tk.Tk</a:t>
            </a:r>
            <a:r>
              <a:rPr lang="en-US" sz="2200" b="1" dirty="0"/>
              <a:t>()</a:t>
            </a:r>
          </a:p>
          <a:p>
            <a:endParaRPr lang="en-US" sz="2200" b="1" dirty="0"/>
          </a:p>
          <a:p>
            <a:r>
              <a:rPr lang="en-US" sz="2200" b="1" dirty="0"/>
              <a:t>button = </a:t>
            </a:r>
            <a:r>
              <a:rPr lang="en-US" sz="2200" b="1" dirty="0" err="1"/>
              <a:t>tk.Button</a:t>
            </a:r>
            <a:r>
              <a:rPr lang="en-US" sz="2200" b="1" dirty="0"/>
              <a:t>(</a:t>
            </a:r>
          </a:p>
          <a:p>
            <a:r>
              <a:rPr lang="en-US" sz="2200" b="1" dirty="0"/>
              <a:t>    window,</a:t>
            </a:r>
          </a:p>
          <a:p>
            <a:r>
              <a:rPr lang="en-US" sz="2200" b="1" dirty="0"/>
              <a:t>    text="Click Me",</a:t>
            </a:r>
          </a:p>
          <a:p>
            <a:r>
              <a:rPr lang="en-US" sz="2200" b="1" dirty="0"/>
              <a:t>    command=</a:t>
            </a:r>
            <a:r>
              <a:rPr lang="en-US" sz="2200" b="1" dirty="0" err="1"/>
              <a:t>button_clicked</a:t>
            </a:r>
            <a:endParaRPr lang="en-US" sz="2200" b="1" dirty="0"/>
          </a:p>
          <a:p>
            <a:r>
              <a:rPr lang="en-US" sz="2200" b="1" dirty="0"/>
              <a:t>)</a:t>
            </a:r>
          </a:p>
          <a:p>
            <a:endParaRPr lang="en-US" sz="2200" b="1" dirty="0"/>
          </a:p>
          <a:p>
            <a:r>
              <a:rPr lang="en-US" sz="2200" b="1" dirty="0" err="1"/>
              <a:t>button.pack</a:t>
            </a:r>
            <a:r>
              <a:rPr lang="en-US" sz="2200" b="1" dirty="0"/>
              <a:t>()</a:t>
            </a:r>
          </a:p>
          <a:p>
            <a:endParaRPr lang="en-US" sz="2200" b="1" dirty="0"/>
          </a:p>
          <a:p>
            <a:r>
              <a:rPr lang="en-US" sz="2200" b="1" dirty="0" err="1"/>
              <a:t>window.mainloop</a:t>
            </a:r>
            <a:r>
              <a:rPr lang="en-US" sz="2200" b="1" dirty="0"/>
              <a:t>()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4466" y="1201049"/>
            <a:ext cx="6324600" cy="20764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88890" y="896387"/>
            <a:ext cx="3468710" cy="550920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234466" y="3918162"/>
            <a:ext cx="6096000" cy="1785104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User clicks the button.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The click generates an event.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err="1"/>
              <a:t>Tkinter</a:t>
            </a:r>
            <a:r>
              <a:rPr lang="en-US" sz="2200" b="1" dirty="0"/>
              <a:t> detects the event.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err="1"/>
              <a:t>button_clicked</a:t>
            </a:r>
            <a:r>
              <a:rPr lang="en-US" sz="2200" b="1" dirty="0"/>
              <a:t>() executes.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The message is displayed.</a:t>
            </a:r>
          </a:p>
        </p:txBody>
      </p:sp>
    </p:spTree>
    <p:extLst>
      <p:ext uri="{BB962C8B-B14F-4D97-AF65-F5344CB8AC3E}">
        <p14:creationId xmlns:p14="http://schemas.microsoft.com/office/powerpoint/2010/main" val="620784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61DDDE80-2DFA-4F2A-B66F-72059846BD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4361</TotalTime>
  <Words>726</Words>
  <Application>Microsoft Office PowerPoint</Application>
  <PresentationFormat>Widescreen</PresentationFormat>
  <Paragraphs>203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Celestial</vt:lpstr>
      <vt:lpstr>Object Oriented Programming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Programming</dc:title>
  <dc:creator>user</dc:creator>
  <cp:lastModifiedBy>user</cp:lastModifiedBy>
  <cp:revision>299</cp:revision>
  <dcterms:created xsi:type="dcterms:W3CDTF">2026-03-02T19:00:22Z</dcterms:created>
  <dcterms:modified xsi:type="dcterms:W3CDTF">2026-05-31T17:14:31Z</dcterms:modified>
</cp:coreProperties>
</file>