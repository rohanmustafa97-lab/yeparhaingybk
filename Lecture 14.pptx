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180992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Generics and Type Hinting Using typing Module 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253" y="1446550"/>
            <a:ext cx="1165967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Python provides the:</a:t>
            </a:r>
          </a:p>
          <a:p>
            <a:endParaRPr lang="en-US" sz="2200" b="1" dirty="0" smtClean="0"/>
          </a:p>
          <a:p>
            <a:r>
              <a:rPr lang="en-US" sz="2200" b="1" dirty="0"/>
              <a:t>S</a:t>
            </a:r>
            <a:r>
              <a:rPr lang="en-US" sz="2200" b="1" dirty="0" smtClean="0"/>
              <a:t>yntax</a:t>
            </a:r>
          </a:p>
          <a:p>
            <a:r>
              <a:rPr lang="en-US" sz="2200" b="1" dirty="0" smtClean="0"/>
              <a:t>typing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module to support: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type hinting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generics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better code readability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safer programming</a:t>
            </a:r>
          </a:p>
          <a:p>
            <a:endParaRPr lang="en-US" sz="2200" b="1" dirty="0"/>
          </a:p>
          <a:p>
            <a:r>
              <a:rPr lang="en-US" sz="2200" b="1" dirty="0"/>
              <a:t>These features help programmers write clearer and more maintainable code.</a:t>
            </a:r>
          </a:p>
        </p:txBody>
      </p:sp>
    </p:spTree>
    <p:extLst>
      <p:ext uri="{BB962C8B-B14F-4D97-AF65-F5344CB8AC3E}">
        <p14:creationId xmlns:p14="http://schemas.microsoft.com/office/powerpoint/2010/main" val="311847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241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Type </a:t>
            </a:r>
            <a:r>
              <a:rPr lang="en-US" sz="4400" b="1" dirty="0" smtClean="0">
                <a:solidFill>
                  <a:schemeClr val="bg1"/>
                </a:solidFill>
              </a:rPr>
              <a:t>Hinting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4495" y="769441"/>
            <a:ext cx="1115739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specifying the expected data type of variables, parameters, and return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495" y="1538882"/>
            <a:ext cx="363613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smtClean="0"/>
              <a:t>def add(a: int, b: int) -&gt; int:</a:t>
            </a:r>
          </a:p>
          <a:p>
            <a:r>
              <a:rPr lang="en-US" sz="2200" b="1" smtClean="0"/>
              <a:t>    return a + b</a:t>
            </a:r>
          </a:p>
          <a:p>
            <a:endParaRPr lang="en-US" sz="2200" b="1" smtClean="0"/>
          </a:p>
          <a:p>
            <a:r>
              <a:rPr lang="en-US" sz="2200" b="1" smtClean="0"/>
              <a:t>result = add(5, 3)</a:t>
            </a:r>
          </a:p>
          <a:p>
            <a:endParaRPr lang="en-US" sz="2200" b="1" smtClean="0"/>
          </a:p>
          <a:p>
            <a:r>
              <a:rPr lang="en-US" sz="2200" b="1" smtClean="0"/>
              <a:t>print(result)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3629897" y="1585048"/>
            <a:ext cx="11737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8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124495" y="1538882"/>
            <a:ext cx="3339922" cy="212365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612523" y="1538882"/>
            <a:ext cx="1191093" cy="81560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652184"/>
              </p:ext>
            </p:extLst>
          </p:nvPr>
        </p:nvGraphicFramePr>
        <p:xfrm>
          <a:off x="376707" y="4239401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Meaning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a: int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 should be integer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b: int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 should be integer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-&gt; int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function returns integer</a:t>
                      </a:r>
                      <a:endParaRPr lang="en-US" sz="22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98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703639"/>
              </p:ext>
            </p:extLst>
          </p:nvPr>
        </p:nvGraphicFramePr>
        <p:xfrm>
          <a:off x="170644" y="769441"/>
          <a:ext cx="10131424" cy="3413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Example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int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Integer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float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Decimal number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str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String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bool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Boolean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list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List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tuple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Tuple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 err="1"/>
                        <a:t>dict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Dictionary</a:t>
                      </a:r>
                      <a:endParaRPr lang="en-US" sz="22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0"/>
            <a:ext cx="68318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Common Build-in Type Hints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9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008" y="0"/>
            <a:ext cx="23407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Generics 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648" y="76944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smtClean="0"/>
              <a:t>writing </a:t>
            </a:r>
            <a:r>
              <a:rPr lang="en-US" sz="2200" b="1" dirty="0"/>
              <a:t>reusable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that works with multiple data types.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008" y="1721253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Without generics: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separate </a:t>
            </a:r>
            <a:r>
              <a:rPr lang="en-US" sz="2200" b="1" dirty="0"/>
              <a:t>code may be needed for each type. </a:t>
            </a:r>
          </a:p>
          <a:p>
            <a:r>
              <a:rPr lang="en-US" sz="2200" b="1" dirty="0"/>
              <a:t>With generics: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one class/function works for all types.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789" y="4342978"/>
            <a:ext cx="44482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from typing import </a:t>
            </a:r>
            <a:r>
              <a:rPr lang="en-US" sz="2200" b="1" dirty="0" err="1"/>
              <a:t>TypeVar</a:t>
            </a:r>
            <a:r>
              <a:rPr lang="en-US" sz="2200" b="1" dirty="0"/>
              <a:t>, Generic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008" y="3573537"/>
            <a:ext cx="47884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Importing Generics 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82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7296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Type Variable (</a:t>
            </a:r>
            <a:r>
              <a:rPr lang="en-US" sz="4400" b="1" dirty="0" err="1">
                <a:solidFill>
                  <a:schemeClr val="bg1"/>
                </a:solidFill>
              </a:rPr>
              <a:t>TypeVar</a:t>
            </a:r>
            <a:r>
              <a:rPr lang="en-US" sz="44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254" y="100974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from typing import </a:t>
            </a:r>
            <a:r>
              <a:rPr lang="en-US" sz="2200" b="1" dirty="0" err="1"/>
              <a:t>TypeVar</a:t>
            </a:r>
            <a:r>
              <a:rPr lang="en-US" sz="2200" b="1" dirty="0"/>
              <a:t/>
            </a:r>
            <a:br>
              <a:rPr lang="en-US" sz="2200" b="1" dirty="0"/>
            </a:br>
            <a:r>
              <a:rPr lang="en-US" sz="2200" b="1" dirty="0"/>
              <a:t/>
            </a:r>
            <a:br>
              <a:rPr lang="en-US" sz="2200" b="1" dirty="0"/>
            </a:br>
            <a:r>
              <a:rPr lang="en-US" sz="2200" b="1" dirty="0"/>
              <a:t>T = </a:t>
            </a:r>
            <a:r>
              <a:rPr lang="en-US" sz="2200" b="1" dirty="0" err="1"/>
              <a:t>TypeVar</a:t>
            </a:r>
            <a:r>
              <a:rPr lang="en-US" sz="2200" b="1" dirty="0"/>
              <a:t>('T')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254" y="2481230"/>
            <a:ext cx="40701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 can represent any data 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254" y="1009747"/>
            <a:ext cx="3636135" cy="123117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0254" y="3152423"/>
            <a:ext cx="433159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typing import </a:t>
            </a:r>
            <a:r>
              <a:rPr lang="en-US" sz="2200" b="1" dirty="0" err="1"/>
              <a:t>TypeVar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T = </a:t>
            </a:r>
            <a:r>
              <a:rPr lang="en-US" sz="2200" b="1" dirty="0" err="1"/>
              <a:t>TypeVar</a:t>
            </a:r>
            <a:r>
              <a:rPr lang="en-US" sz="2200" b="1" dirty="0"/>
              <a:t>('T')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display(value: T) -&gt; T:</a:t>
            </a:r>
          </a:p>
          <a:p>
            <a:r>
              <a:rPr lang="en-US" sz="2200" b="1" dirty="0"/>
              <a:t>    return value</a:t>
            </a:r>
          </a:p>
          <a:p>
            <a:endParaRPr lang="en-US" sz="2200" b="1" dirty="0"/>
          </a:p>
          <a:p>
            <a:r>
              <a:rPr lang="en-US" sz="2200" b="1" dirty="0"/>
              <a:t>print(display(10))</a:t>
            </a:r>
          </a:p>
          <a:p>
            <a:r>
              <a:rPr lang="en-US" sz="2200" b="1" dirty="0"/>
              <a:t>print(display("Hello"))</a:t>
            </a:r>
          </a:p>
          <a:p>
            <a:r>
              <a:rPr lang="en-US" sz="2200" b="1" dirty="0"/>
              <a:t>print(display(3.14))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1578" y="3152423"/>
            <a:ext cx="131724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10</a:t>
            </a:r>
            <a:endParaRPr lang="en-US" sz="2200" b="1" dirty="0"/>
          </a:p>
          <a:p>
            <a:r>
              <a:rPr lang="en-US" sz="2200" b="1" dirty="0"/>
              <a:t>Hello</a:t>
            </a:r>
          </a:p>
          <a:p>
            <a:r>
              <a:rPr lang="en-US" sz="2200" b="1" dirty="0"/>
              <a:t>3.14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253" y="3134998"/>
            <a:ext cx="3636136" cy="34953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911577" y="3134998"/>
            <a:ext cx="1149820" cy="14639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911662" y="860053"/>
            <a:ext cx="415129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same function works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integers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strings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floats </a:t>
            </a:r>
          </a:p>
          <a:p>
            <a:r>
              <a:rPr lang="en-US" sz="2200" b="1" dirty="0"/>
              <a:t>This is generic programming.</a:t>
            </a:r>
          </a:p>
        </p:txBody>
      </p:sp>
    </p:spTree>
    <p:extLst>
      <p:ext uri="{BB962C8B-B14F-4D97-AF65-F5344CB8AC3E}">
        <p14:creationId xmlns:p14="http://schemas.microsoft.com/office/powerpoint/2010/main" val="246813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374" y="155749"/>
            <a:ext cx="458917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typing import Generic, </a:t>
            </a:r>
            <a:r>
              <a:rPr lang="en-US" sz="2200" b="1" dirty="0" err="1"/>
              <a:t>TypeVar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T = </a:t>
            </a:r>
            <a:r>
              <a:rPr lang="en-US" sz="2200" b="1" dirty="0" err="1"/>
              <a:t>TypeVar</a:t>
            </a:r>
            <a:r>
              <a:rPr lang="en-US" sz="2200" b="1" dirty="0"/>
              <a:t>('T')</a:t>
            </a:r>
          </a:p>
          <a:p>
            <a:endParaRPr lang="en-US" sz="2200" b="1" dirty="0"/>
          </a:p>
          <a:p>
            <a:r>
              <a:rPr lang="en-US" sz="2200" b="1" dirty="0"/>
              <a:t>class Box(Generic[T]):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value: T):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self.value</a:t>
            </a:r>
            <a:r>
              <a:rPr lang="en-US" sz="2200" b="1" dirty="0"/>
              <a:t> = value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get_value</a:t>
            </a:r>
            <a:r>
              <a:rPr lang="en-US" sz="2200" b="1" dirty="0"/>
              <a:t>(self) -&gt; T:</a:t>
            </a:r>
          </a:p>
          <a:p>
            <a:r>
              <a:rPr lang="en-US" sz="2200" b="1" dirty="0"/>
              <a:t>        return </a:t>
            </a:r>
            <a:r>
              <a:rPr lang="en-US" sz="2200" b="1" dirty="0" err="1"/>
              <a:t>self.value</a:t>
            </a:r>
            <a:endParaRPr lang="en-US" sz="2200" b="1" dirty="0"/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b1 = Box(100)</a:t>
            </a:r>
          </a:p>
          <a:p>
            <a:r>
              <a:rPr lang="en-US" sz="2200" b="1" dirty="0"/>
              <a:t>b2 = Box("Python")</a:t>
            </a:r>
          </a:p>
          <a:p>
            <a:endParaRPr lang="en-US" sz="2200" b="1" dirty="0"/>
          </a:p>
          <a:p>
            <a:r>
              <a:rPr lang="en-US" sz="2200" b="1" dirty="0"/>
              <a:t>print(b1.get_value())</a:t>
            </a:r>
          </a:p>
          <a:p>
            <a:r>
              <a:rPr lang="en-US" sz="2200" b="1" dirty="0"/>
              <a:t>print(b2.get_value())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1774" y="155748"/>
            <a:ext cx="120202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200" b="1" dirty="0" smtClean="0"/>
              <a:t>100</a:t>
            </a:r>
            <a:r>
              <a:rPr lang="en-US" sz="2200" b="1" dirty="0"/>
              <a:t/>
            </a:r>
            <a:br>
              <a:rPr lang="en-US" sz="2200" b="1" dirty="0"/>
            </a:br>
            <a:r>
              <a:rPr lang="en-US" sz="2200" b="1" dirty="0"/>
              <a:t>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374" y="155749"/>
            <a:ext cx="4589172" cy="618630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861774" y="155748"/>
            <a:ext cx="1202027" cy="12094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61774" y="1679242"/>
            <a:ext cx="3200401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class:</a:t>
            </a:r>
          </a:p>
          <a:p>
            <a:endParaRPr lang="en-US" sz="2200" b="1" dirty="0"/>
          </a:p>
          <a:p>
            <a:r>
              <a:rPr lang="en-US" sz="2200" b="1" dirty="0"/>
              <a:t>Box</a:t>
            </a:r>
          </a:p>
          <a:p>
            <a:endParaRPr lang="en-US" sz="2200" b="1" dirty="0"/>
          </a:p>
          <a:p>
            <a:r>
              <a:rPr lang="en-US" sz="2200" b="1" dirty="0"/>
              <a:t>can store:</a:t>
            </a:r>
          </a:p>
          <a:p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integers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any type</a:t>
            </a:r>
          </a:p>
          <a:p>
            <a:endParaRPr lang="en-US" sz="2200" b="1" dirty="0"/>
          </a:p>
          <a:p>
            <a:r>
              <a:rPr lang="en-US" sz="2200" b="1" dirty="0"/>
              <a:t>using the generic type T.</a:t>
            </a:r>
          </a:p>
        </p:txBody>
      </p:sp>
    </p:spTree>
    <p:extLst>
      <p:ext uri="{BB962C8B-B14F-4D97-AF65-F5344CB8AC3E}">
        <p14:creationId xmlns:p14="http://schemas.microsoft.com/office/powerpoint/2010/main" val="251063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75" y="101889"/>
            <a:ext cx="34670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Optional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92775" y="78109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Used when a value may be:</a:t>
            </a:r>
          </a:p>
          <a:p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or None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2775" y="2426217"/>
            <a:ext cx="572847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typing import Optional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show_name</a:t>
            </a:r>
            <a:r>
              <a:rPr lang="en-US" sz="2200" b="1" dirty="0"/>
              <a:t>(name: Optional[</a:t>
            </a:r>
            <a:r>
              <a:rPr lang="en-US" sz="2200" b="1" dirty="0" err="1"/>
              <a:t>str</a:t>
            </a:r>
            <a:r>
              <a:rPr lang="en-US" sz="2200" b="1" dirty="0"/>
              <a:t>]) -&gt; None:</a:t>
            </a:r>
          </a:p>
          <a:p>
            <a:r>
              <a:rPr lang="en-US" sz="2200" b="1" dirty="0"/>
              <a:t>    print(name)</a:t>
            </a:r>
          </a:p>
          <a:p>
            <a:endParaRPr lang="en-US" sz="2200" b="1" dirty="0"/>
          </a:p>
          <a:p>
            <a:r>
              <a:rPr lang="en-US" sz="2200" b="1" dirty="0" err="1"/>
              <a:t>show_name</a:t>
            </a:r>
            <a:r>
              <a:rPr lang="en-US" sz="2200" b="1" dirty="0"/>
              <a:t>("Ali")</a:t>
            </a:r>
          </a:p>
          <a:p>
            <a:r>
              <a:rPr lang="en-US" sz="2200" b="1" dirty="0" err="1" smtClean="0"/>
              <a:t>show_name</a:t>
            </a:r>
            <a:r>
              <a:rPr lang="en-US" sz="2200" b="1" dirty="0" smtClean="0"/>
              <a:t>(None)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92775" y="2426217"/>
            <a:ext cx="5728476" cy="2462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7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614" y="192041"/>
            <a:ext cx="28440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Union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614" y="961482"/>
            <a:ext cx="38066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Allows multiple possible types.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614" y="1730923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from typing import Union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square(value: Union[</a:t>
            </a:r>
            <a:r>
              <a:rPr lang="en-US" sz="2200" b="1" dirty="0" err="1"/>
              <a:t>int</a:t>
            </a:r>
            <a:r>
              <a:rPr lang="en-US" sz="2200" b="1" dirty="0"/>
              <a:t>, float]) -&gt; float:</a:t>
            </a:r>
          </a:p>
          <a:p>
            <a:r>
              <a:rPr lang="en-US" sz="2200" b="1" dirty="0"/>
              <a:t>    return value * value</a:t>
            </a:r>
          </a:p>
          <a:p>
            <a:endParaRPr lang="en-US" sz="2200" b="1" dirty="0"/>
          </a:p>
          <a:p>
            <a:r>
              <a:rPr lang="en-US" sz="2200" b="1" dirty="0"/>
              <a:t>print(square(5))</a:t>
            </a:r>
          </a:p>
          <a:p>
            <a:r>
              <a:rPr lang="en-US" sz="2200" b="1" dirty="0"/>
              <a:t>print(square(2.5))</a:t>
            </a:r>
          </a:p>
        </p:txBody>
      </p:sp>
    </p:spTree>
    <p:extLst>
      <p:ext uri="{BB962C8B-B14F-4D97-AF65-F5344CB8AC3E}">
        <p14:creationId xmlns:p14="http://schemas.microsoft.com/office/powerpoint/2010/main" val="345518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68286"/>
              </p:ext>
            </p:extLst>
          </p:nvPr>
        </p:nvGraphicFramePr>
        <p:xfrm>
          <a:off x="928612" y="1030976"/>
          <a:ext cx="10109438" cy="42652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54719"/>
                <a:gridCol w="5054719"/>
              </a:tblGrid>
              <a:tr h="36496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Component</a:t>
                      </a:r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Purpose</a:t>
                      </a:r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List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Typed list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Tuple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Typed tuple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Dict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Typed dictionary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Set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Typed set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Optional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Value or None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Union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Multiple types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Any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Any type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/>
                        <a:t>TypeVar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Generic type variable</a:t>
                      </a:r>
                      <a:endParaRPr lang="en-US" sz="2200" b="1"/>
                    </a:p>
                  </a:txBody>
                  <a:tcPr marL="91242" marR="91242" marT="45621" marB="45621" anchor="ctr"/>
                </a:tc>
              </a:tr>
              <a:tr h="364966">
                <a:tc>
                  <a:txBody>
                    <a:bodyPr/>
                    <a:lstStyle/>
                    <a:p>
                      <a:r>
                        <a:rPr lang="en-US" sz="2200" dirty="0"/>
                        <a:t>Generic</a:t>
                      </a:r>
                      <a:endParaRPr lang="en-US" sz="2200" b="1" dirty="0"/>
                    </a:p>
                  </a:txBody>
                  <a:tcPr marL="91242" marR="91242" marT="45621" marB="45621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Generic classes</a:t>
                      </a:r>
                      <a:endParaRPr lang="en-US" sz="2200" b="1" dirty="0"/>
                    </a:p>
                  </a:txBody>
                  <a:tcPr marL="91242" marR="91242" marT="45621" marB="4562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10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10" y="0"/>
            <a:ext cx="523136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Function </a:t>
            </a:r>
            <a:r>
              <a:rPr lang="en-US" sz="4400" b="1" dirty="0" smtClean="0">
                <a:solidFill>
                  <a:schemeClr val="bg1"/>
                </a:solidFill>
              </a:rPr>
              <a:t>Annotations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5910" y="804786"/>
            <a:ext cx="937582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Function annotations are used to attach information about: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function parameters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return values </a:t>
            </a:r>
          </a:p>
          <a:p>
            <a:r>
              <a:rPr lang="en-US" sz="2200" b="1" dirty="0"/>
              <a:t>They are mainly used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type hinting </a:t>
            </a: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documentation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code </a:t>
            </a:r>
            <a:r>
              <a:rPr lang="en-US" sz="2200" b="1" dirty="0"/>
              <a:t>readability </a:t>
            </a:r>
          </a:p>
          <a:p>
            <a:r>
              <a:rPr lang="en-US" sz="2200" b="1" dirty="0"/>
              <a:t>Function annotations do not change how the program 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910" y="4149023"/>
            <a:ext cx="752126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Syntax</a:t>
            </a:r>
          </a:p>
          <a:p>
            <a:r>
              <a:rPr lang="en-US" sz="2200" b="1" dirty="0" err="1" smtClean="0"/>
              <a:t>def</a:t>
            </a:r>
            <a:r>
              <a:rPr lang="en-US" sz="2200" b="1" dirty="0" smtClean="0"/>
              <a:t> </a:t>
            </a:r>
            <a:r>
              <a:rPr lang="en-US" sz="2200" b="1" dirty="0" err="1"/>
              <a:t>function_name</a:t>
            </a:r>
            <a:r>
              <a:rPr lang="en-US" sz="2200" b="1" dirty="0"/>
              <a:t>(parameter: </a:t>
            </a:r>
            <a:r>
              <a:rPr lang="en-US" sz="2200" b="1" dirty="0" err="1"/>
              <a:t>datatype</a:t>
            </a:r>
            <a:r>
              <a:rPr lang="en-US" sz="2200" b="1" dirty="0"/>
              <a:t>) -&gt; </a:t>
            </a:r>
            <a:r>
              <a:rPr lang="en-US" sz="2200" b="1" dirty="0" err="1"/>
              <a:t>return_datatype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3993086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011" y="111394"/>
            <a:ext cx="364901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Example</a:t>
            </a:r>
          </a:p>
          <a:p>
            <a:endParaRPr lang="en-US" sz="3300" b="1" dirty="0" smtClean="0">
              <a:solidFill>
                <a:schemeClr val="bg1"/>
              </a:solidFill>
            </a:endParaRPr>
          </a:p>
          <a:p>
            <a:r>
              <a:rPr lang="en-US" sz="2200" b="1" dirty="0" err="1" smtClean="0"/>
              <a:t>def</a:t>
            </a:r>
            <a:r>
              <a:rPr lang="en-US" sz="2200" b="1" dirty="0" smtClean="0"/>
              <a:t> </a:t>
            </a:r>
            <a:r>
              <a:rPr lang="en-US" sz="2200" b="1" dirty="0"/>
              <a:t>add(a: </a:t>
            </a:r>
            <a:r>
              <a:rPr lang="en-US" sz="2200" b="1" dirty="0" err="1"/>
              <a:t>int</a:t>
            </a:r>
            <a:r>
              <a:rPr lang="en-US" sz="2200" b="1" dirty="0"/>
              <a:t>, b: </a:t>
            </a:r>
            <a:r>
              <a:rPr lang="en-US" sz="2200" b="1" dirty="0" err="1"/>
              <a:t>int</a:t>
            </a:r>
            <a:r>
              <a:rPr lang="en-US" sz="2200" b="1" dirty="0"/>
              <a:t>) -&gt; </a:t>
            </a:r>
            <a:r>
              <a:rPr lang="en-US" sz="2200" b="1" dirty="0" err="1"/>
              <a:t>int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return a + b</a:t>
            </a:r>
          </a:p>
          <a:p>
            <a:endParaRPr lang="en-US" sz="2200" b="1" dirty="0"/>
          </a:p>
          <a:p>
            <a:r>
              <a:rPr lang="en-US" sz="2200" b="1" dirty="0"/>
              <a:t>print(add(5, 3))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110602"/>
              </p:ext>
            </p:extLst>
          </p:nvPr>
        </p:nvGraphicFramePr>
        <p:xfrm>
          <a:off x="956256" y="3325001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8411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Annotation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Meaning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/>
                        <a:t>a: </a:t>
                      </a:r>
                      <a:r>
                        <a:rPr lang="en-US" sz="2200" dirty="0" err="1"/>
                        <a:t>int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 should be integer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b: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 should be integer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-&gt;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function returns integer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54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591" y="183082"/>
            <a:ext cx="113337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Function Annotations with Different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622" y="1077309"/>
            <a:ext cx="591599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student_info</a:t>
            </a:r>
            <a:r>
              <a:rPr lang="en-US" sz="2200" b="1" dirty="0"/>
              <a:t>(name: </a:t>
            </a:r>
            <a:r>
              <a:rPr lang="en-US" sz="2200" b="1" dirty="0" err="1"/>
              <a:t>str</a:t>
            </a:r>
            <a:r>
              <a:rPr lang="en-US" sz="2200" b="1" dirty="0"/>
              <a:t>, age: </a:t>
            </a:r>
            <a:r>
              <a:rPr lang="en-US" sz="2200" b="1" dirty="0" err="1"/>
              <a:t>int</a:t>
            </a:r>
            <a:r>
              <a:rPr lang="en-US" sz="2200" b="1" dirty="0"/>
              <a:t>) -&gt; </a:t>
            </a:r>
            <a:r>
              <a:rPr lang="en-US" sz="2200" b="1" dirty="0" err="1"/>
              <a:t>str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return f"{name} is {age} years old"</a:t>
            </a:r>
          </a:p>
          <a:p>
            <a:endParaRPr lang="en-US" sz="2200" b="1" dirty="0"/>
          </a:p>
          <a:p>
            <a:r>
              <a:rPr lang="en-US" sz="2200" b="1" dirty="0"/>
              <a:t>print(</a:t>
            </a:r>
            <a:r>
              <a:rPr lang="en-US" sz="2200" b="1" dirty="0" err="1"/>
              <a:t>student_info</a:t>
            </a:r>
            <a:r>
              <a:rPr lang="en-US" sz="2200" b="1" dirty="0"/>
              <a:t>("Ali", 16))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475" y="2710780"/>
            <a:ext cx="2210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Ali </a:t>
            </a:r>
            <a:r>
              <a:rPr lang="en-US" sz="2200" b="1" dirty="0"/>
              <a:t>is 16 years 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91622" y="1077309"/>
            <a:ext cx="516902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475" y="2710780"/>
            <a:ext cx="2337815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8591" y="3912784"/>
            <a:ext cx="530254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Python does not force the types at runtime.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19" y="4470712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multiply(a: </a:t>
            </a:r>
            <a:r>
              <a:rPr lang="en-US" sz="2200" b="1" dirty="0" err="1"/>
              <a:t>int</a:t>
            </a:r>
            <a:r>
              <a:rPr lang="en-US" sz="2200" b="1" dirty="0"/>
              <a:t>, b: </a:t>
            </a:r>
            <a:r>
              <a:rPr lang="en-US" sz="2200" b="1" dirty="0" err="1"/>
              <a:t>int</a:t>
            </a:r>
            <a:r>
              <a:rPr lang="en-US" sz="2200" b="1" dirty="0"/>
              <a:t>) -&gt; </a:t>
            </a:r>
            <a:r>
              <a:rPr lang="en-US" sz="2200" b="1" dirty="0" err="1"/>
              <a:t>int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return a * b</a:t>
            </a:r>
          </a:p>
          <a:p>
            <a:endParaRPr lang="en-US" sz="2200" b="1" dirty="0"/>
          </a:p>
          <a:p>
            <a:r>
              <a:rPr lang="en-US" sz="2200" b="1" dirty="0"/>
              <a:t>print(multiply("Hi ", 3))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619" y="4470712"/>
            <a:ext cx="3932499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331370" y="4435876"/>
            <a:ext cx="11737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Hi </a:t>
            </a:r>
            <a:r>
              <a:rPr lang="en-US" sz="2200" b="1" dirty="0" err="1"/>
              <a:t>Hi</a:t>
            </a:r>
            <a:r>
              <a:rPr lang="en-US" sz="2200" b="1" dirty="0"/>
              <a:t> </a:t>
            </a:r>
            <a:r>
              <a:rPr lang="en-US" sz="2200" b="1" dirty="0" err="1"/>
              <a:t>Hi</a:t>
            </a:r>
            <a:endParaRPr lang="en-US" sz="2200" b="1" dirty="0"/>
          </a:p>
        </p:txBody>
      </p:sp>
      <p:sp>
        <p:nvSpPr>
          <p:cNvPr id="11" name="Rectangle 10"/>
          <p:cNvSpPr/>
          <p:nvPr/>
        </p:nvSpPr>
        <p:spPr>
          <a:xfrm>
            <a:off x="4331370" y="4482042"/>
            <a:ext cx="1876248" cy="79519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20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9269"/>
              </p:ext>
            </p:extLst>
          </p:nvPr>
        </p:nvGraphicFramePr>
        <p:xfrm>
          <a:off x="428223" y="1084077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Normal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Annotated Function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No type information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Includes type information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Less readable</a:t>
                      </a:r>
                      <a:endParaRPr lang="en-US" sz="2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More readable</a:t>
                      </a:r>
                      <a:endParaRPr lang="en-US" sz="2200" b="1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/>
                        <a:t>Harder for tools to analyze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Easier for tools to analyze</a:t>
                      </a:r>
                      <a:endParaRPr lang="en-US" sz="22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3553" y="127647"/>
            <a:ext cx="96732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Function Annotation vs Normal Function</a:t>
            </a:r>
          </a:p>
        </p:txBody>
      </p:sp>
    </p:spTree>
    <p:extLst>
      <p:ext uri="{BB962C8B-B14F-4D97-AF65-F5344CB8AC3E}">
        <p14:creationId xmlns:p14="http://schemas.microsoft.com/office/powerpoint/2010/main" val="2361721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031" y="101889"/>
            <a:ext cx="9047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Decorators and Reusable Abstractions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31" y="871330"/>
            <a:ext cx="778671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Decorators are a powerful feature in Python used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modify functions or methods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add extra behavior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create reusable abstractions </a:t>
            </a:r>
          </a:p>
          <a:p>
            <a:r>
              <a:rPr lang="en-US" sz="2200" b="1" dirty="0"/>
              <a:t>They help make code: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cleaner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reusable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modular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30" y="4441538"/>
            <a:ext cx="678216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 decorator is</a:t>
            </a:r>
            <a:r>
              <a:rPr lang="en-US" sz="2200" b="1" dirty="0" smtClean="0"/>
              <a:t>:</a:t>
            </a:r>
            <a:endParaRPr lang="en-US" sz="2200" b="1" dirty="0"/>
          </a:p>
          <a:p>
            <a:r>
              <a:rPr lang="en-US" sz="2200" b="1" dirty="0"/>
              <a:t>a function that takes another function and extends its behavior without changing the original function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63013" y="4441538"/>
            <a:ext cx="318537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SIMPLE SYNTAX</a:t>
            </a:r>
          </a:p>
          <a:p>
            <a:r>
              <a:rPr lang="en-US" sz="2200" b="1" dirty="0" smtClean="0"/>
              <a:t>@</a:t>
            </a:r>
            <a:r>
              <a:rPr lang="en-US" sz="2200" b="1" dirty="0" err="1"/>
              <a:t>decorator_name</a:t>
            </a:r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function_name</a:t>
            </a:r>
            <a:r>
              <a:rPr lang="en-US" sz="2200" b="1" dirty="0"/>
              <a:t>():</a:t>
            </a:r>
          </a:p>
          <a:p>
            <a:r>
              <a:rPr lang="en-US" sz="2200" b="1" dirty="0"/>
              <a:t>    </a:t>
            </a:r>
            <a:r>
              <a:rPr lang="en-US" sz="2200" b="1" dirty="0" smtClean="0"/>
              <a:t>pass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766929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406" y="484262"/>
            <a:ext cx="448614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my_decorator</a:t>
            </a:r>
            <a:r>
              <a:rPr lang="en-US" sz="2200" b="1" dirty="0"/>
              <a:t>(</a:t>
            </a:r>
            <a:r>
              <a:rPr lang="en-US" sz="2200" b="1" dirty="0" err="1"/>
              <a:t>func</a:t>
            </a:r>
            <a:r>
              <a:rPr lang="en-US" sz="2200" b="1" dirty="0"/>
              <a:t>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wrapper():</a:t>
            </a:r>
          </a:p>
          <a:p>
            <a:r>
              <a:rPr lang="en-US" sz="2200" b="1" dirty="0"/>
              <a:t>        print("Before function call")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func</a:t>
            </a:r>
            <a:r>
              <a:rPr lang="en-US" sz="2200" b="1" dirty="0"/>
              <a:t>()</a:t>
            </a:r>
          </a:p>
          <a:p>
            <a:r>
              <a:rPr lang="en-US" sz="2200" b="1" dirty="0"/>
              <a:t>        print("After function call")</a:t>
            </a:r>
          </a:p>
          <a:p>
            <a:endParaRPr lang="en-US" sz="2200" b="1" dirty="0"/>
          </a:p>
          <a:p>
            <a:r>
              <a:rPr lang="en-US" sz="2200" b="1" dirty="0"/>
              <a:t>    return </a:t>
            </a:r>
            <a:r>
              <a:rPr lang="en-US" sz="2200" b="1" dirty="0" smtClean="0"/>
              <a:t>wrapper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@</a:t>
            </a:r>
            <a:r>
              <a:rPr lang="en-US" sz="2200" b="1" dirty="0" err="1"/>
              <a:t>my_decorator</a:t>
            </a:r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greet():</a:t>
            </a:r>
          </a:p>
          <a:p>
            <a:r>
              <a:rPr lang="en-US" sz="2200" b="1" dirty="0"/>
              <a:t>    print("Hello</a:t>
            </a:r>
            <a:r>
              <a:rPr lang="en-US" sz="2200" b="1" dirty="0" smtClean="0"/>
              <a:t>")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greet()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39803" y="356092"/>
            <a:ext cx="323689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Before </a:t>
            </a:r>
            <a:r>
              <a:rPr lang="en-US" sz="2200" b="1" dirty="0"/>
              <a:t>function call</a:t>
            </a:r>
          </a:p>
          <a:p>
            <a:r>
              <a:rPr lang="en-US" sz="2200" b="1" dirty="0"/>
              <a:t>Hello</a:t>
            </a:r>
          </a:p>
          <a:p>
            <a:r>
              <a:rPr lang="en-US" sz="2200" b="1" dirty="0"/>
              <a:t>After function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406" y="356092"/>
            <a:ext cx="4048259" cy="513030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39803" y="356092"/>
            <a:ext cx="2685245" cy="160149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51419" y="2528975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The decorator: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smtClean="0"/>
              <a:t>adds </a:t>
            </a:r>
            <a:r>
              <a:rPr lang="en-US" sz="2200" b="1" dirty="0"/>
              <a:t>extra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before and after the function call.</a:t>
            </a:r>
          </a:p>
        </p:txBody>
      </p:sp>
    </p:spTree>
    <p:extLst>
      <p:ext uri="{BB962C8B-B14F-4D97-AF65-F5344CB8AC3E}">
        <p14:creationId xmlns:p14="http://schemas.microsoft.com/office/powerpoint/2010/main" val="2009067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6477" y="230678"/>
            <a:ext cx="4454809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Without Using @ 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66477" y="830842"/>
            <a:ext cx="484376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Decorators can also be applied manually.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6477" y="1431006"/>
            <a:ext cx="417370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greet():</a:t>
            </a:r>
          </a:p>
          <a:p>
            <a:r>
              <a:rPr lang="en-US" sz="2200" b="1" dirty="0"/>
              <a:t>    print("Hello")</a:t>
            </a:r>
          </a:p>
          <a:p>
            <a:endParaRPr lang="en-US" sz="2200" b="1" dirty="0"/>
          </a:p>
          <a:p>
            <a:r>
              <a:rPr lang="en-US" sz="2200" b="1" dirty="0"/>
              <a:t>greet = </a:t>
            </a:r>
            <a:r>
              <a:rPr lang="en-US" sz="2200" b="1" dirty="0" err="1"/>
              <a:t>my_decorator</a:t>
            </a:r>
            <a:r>
              <a:rPr lang="en-US" sz="2200" b="1" dirty="0"/>
              <a:t>(greet)</a:t>
            </a:r>
          </a:p>
          <a:p>
            <a:endParaRPr lang="en-US" sz="2200" b="1" dirty="0"/>
          </a:p>
          <a:p>
            <a:r>
              <a:rPr lang="en-US" sz="2200" b="1" dirty="0"/>
              <a:t>greet()</a:t>
            </a:r>
          </a:p>
        </p:txBody>
      </p:sp>
    </p:spTree>
    <p:extLst>
      <p:ext uri="{BB962C8B-B14F-4D97-AF65-F5344CB8AC3E}">
        <p14:creationId xmlns:p14="http://schemas.microsoft.com/office/powerpoint/2010/main" val="1145226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435" y="671691"/>
            <a:ext cx="508414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smart_divide</a:t>
            </a:r>
            <a:r>
              <a:rPr lang="en-US" sz="2200" b="1" dirty="0"/>
              <a:t>(</a:t>
            </a:r>
            <a:r>
              <a:rPr lang="en-US" sz="2200" b="1" dirty="0" err="1"/>
              <a:t>func</a:t>
            </a:r>
            <a:r>
              <a:rPr lang="en-US" sz="2200" b="1" dirty="0"/>
              <a:t>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wrapper(a, b):</a:t>
            </a:r>
          </a:p>
          <a:p>
            <a:endParaRPr lang="en-US" sz="2200" b="1" dirty="0"/>
          </a:p>
          <a:p>
            <a:r>
              <a:rPr lang="en-US" sz="2200" b="1" dirty="0"/>
              <a:t>        if b == 0:</a:t>
            </a:r>
          </a:p>
          <a:p>
            <a:r>
              <a:rPr lang="en-US" sz="2200" b="1" dirty="0"/>
              <a:t>            print("Cannot divide by zero")</a:t>
            </a:r>
          </a:p>
          <a:p>
            <a:r>
              <a:rPr lang="en-US" sz="2200" b="1" dirty="0"/>
              <a:t>            return</a:t>
            </a:r>
          </a:p>
          <a:p>
            <a:endParaRPr lang="en-US" sz="2200" b="1" dirty="0"/>
          </a:p>
          <a:p>
            <a:r>
              <a:rPr lang="en-US" sz="2200" b="1" dirty="0"/>
              <a:t>        return </a:t>
            </a:r>
            <a:r>
              <a:rPr lang="en-US" sz="2200" b="1" dirty="0" err="1"/>
              <a:t>func</a:t>
            </a:r>
            <a:r>
              <a:rPr lang="en-US" sz="2200" b="1" dirty="0"/>
              <a:t>(a, b)</a:t>
            </a:r>
          </a:p>
          <a:p>
            <a:endParaRPr lang="en-US" sz="2200" b="1" dirty="0"/>
          </a:p>
          <a:p>
            <a:r>
              <a:rPr lang="en-US" sz="2200" b="1" dirty="0"/>
              <a:t>    return wrapper</a:t>
            </a:r>
          </a:p>
          <a:p>
            <a:endParaRPr lang="en-US" sz="2200" b="1" dirty="0"/>
          </a:p>
          <a:p>
            <a:r>
              <a:rPr lang="en-US" sz="2200" b="1" dirty="0"/>
              <a:t>@</a:t>
            </a:r>
            <a:r>
              <a:rPr lang="en-US" sz="2200" b="1" dirty="0" err="1"/>
              <a:t>smart_divide</a:t>
            </a:r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divide(a, b):</a:t>
            </a:r>
          </a:p>
          <a:p>
            <a:r>
              <a:rPr lang="en-US" sz="2200" b="1" dirty="0"/>
              <a:t>    print(a / b)</a:t>
            </a:r>
          </a:p>
          <a:p>
            <a:endParaRPr lang="en-US" sz="2200" b="1" dirty="0" smtClean="0"/>
          </a:p>
          <a:p>
            <a:r>
              <a:rPr lang="en-US" sz="2200" b="1" dirty="0" smtClean="0"/>
              <a:t>divide(10</a:t>
            </a:r>
            <a:r>
              <a:rPr lang="en-US" sz="2200" b="1" dirty="0"/>
              <a:t>, 2)</a:t>
            </a:r>
          </a:p>
          <a:p>
            <a:r>
              <a:rPr lang="en-US" sz="2200" b="1" dirty="0"/>
              <a:t>divide(10, 0)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435" y="104978"/>
            <a:ext cx="5084149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Decorators with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4211" y="671691"/>
            <a:ext cx="281188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5.0</a:t>
            </a:r>
            <a:endParaRPr lang="en-US" sz="2200" b="1" dirty="0"/>
          </a:p>
          <a:p>
            <a:r>
              <a:rPr lang="en-US" sz="2200" b="1" dirty="0"/>
              <a:t>Cannot divide by 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4211" y="2346400"/>
            <a:ext cx="5962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Decorator adds validation without modifying original function.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435" y="679384"/>
            <a:ext cx="4577233" cy="604338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44211" y="671691"/>
            <a:ext cx="2811887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59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179410"/>
              </p:ext>
            </p:extLst>
          </p:nvPr>
        </p:nvGraphicFramePr>
        <p:xfrm>
          <a:off x="196402" y="221193"/>
          <a:ext cx="11600646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800323"/>
                <a:gridCol w="5800323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Decorator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Purpose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@staticmethod</a:t>
                      </a:r>
                      <a:endParaRPr lang="en-US" sz="2200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Static method</a:t>
                      </a:r>
                      <a:endParaRPr lang="en-US" sz="2200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@classmethod</a:t>
                      </a:r>
                      <a:endParaRPr lang="en-US" sz="2200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Class method</a:t>
                      </a:r>
                      <a:endParaRPr lang="en-US" sz="2200" b="1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/>
                        <a:t>@property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Getter method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01769" y="2055898"/>
            <a:ext cx="267022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Math: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staticmethod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add(a, b):</a:t>
            </a:r>
          </a:p>
          <a:p>
            <a:r>
              <a:rPr lang="en-US" sz="2200" b="1" dirty="0"/>
              <a:t>        return a + b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print(</a:t>
            </a:r>
            <a:r>
              <a:rPr lang="en-US" sz="2200" b="1" dirty="0" err="1"/>
              <a:t>Math.add</a:t>
            </a:r>
            <a:r>
              <a:rPr lang="en-US" sz="2200" b="1" dirty="0"/>
              <a:t>(5, 3))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4760" y="2055897"/>
            <a:ext cx="361037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Student:</a:t>
            </a:r>
          </a:p>
          <a:p>
            <a:endParaRPr lang="en-US" sz="2200" b="1" dirty="0"/>
          </a:p>
          <a:p>
            <a:r>
              <a:rPr lang="en-US" sz="2200" b="1" dirty="0"/>
              <a:t>    school = "ABC School"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classmethod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show_school</a:t>
            </a:r>
            <a:r>
              <a:rPr lang="en-US" sz="2200" b="1" dirty="0"/>
              <a:t>(</a:t>
            </a:r>
            <a:r>
              <a:rPr lang="en-US" sz="2200" b="1" dirty="0" err="1"/>
              <a:t>cls</a:t>
            </a:r>
            <a:r>
              <a:rPr lang="en-US" sz="2200" b="1" dirty="0"/>
              <a:t>):</a:t>
            </a:r>
          </a:p>
          <a:p>
            <a:r>
              <a:rPr lang="en-US" sz="2200" b="1" dirty="0"/>
              <a:t>        print(</a:t>
            </a:r>
            <a:r>
              <a:rPr lang="en-US" sz="2200" b="1" dirty="0" err="1"/>
              <a:t>cls.school</a:t>
            </a:r>
            <a:r>
              <a:rPr lang="en-US" sz="2200" b="1" dirty="0"/>
              <a:t>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 err="1"/>
              <a:t>Student.show_school</a:t>
            </a:r>
            <a:r>
              <a:rPr lang="en-US" sz="2200" b="1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3634" y="2055898"/>
            <a:ext cx="386795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Person: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self._name</a:t>
            </a:r>
            <a:r>
              <a:rPr lang="en-US" sz="2200" b="1" dirty="0"/>
              <a:t> = name</a:t>
            </a:r>
          </a:p>
          <a:p>
            <a:endParaRPr lang="en-US" sz="2200" b="1" dirty="0"/>
          </a:p>
          <a:p>
            <a:r>
              <a:rPr lang="en-US" sz="2200" b="1" dirty="0"/>
              <a:t>    @property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name(self):</a:t>
            </a:r>
          </a:p>
          <a:p>
            <a:r>
              <a:rPr lang="en-US" sz="2200" b="1" dirty="0"/>
              <a:t>        return </a:t>
            </a:r>
            <a:r>
              <a:rPr lang="en-US" sz="2200" b="1" dirty="0" err="1"/>
              <a:t>self._name</a:t>
            </a:r>
            <a:endParaRPr lang="en-US" sz="2200" b="1" dirty="0"/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p = Person("Ali")</a:t>
            </a:r>
          </a:p>
          <a:p>
            <a:endParaRPr lang="en-US" sz="2200" b="1" dirty="0"/>
          </a:p>
          <a:p>
            <a:r>
              <a:rPr lang="en-US" sz="2200" b="1" dirty="0"/>
              <a:t>print(p.name)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769" y="2055898"/>
            <a:ext cx="2670220" cy="290246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247623" y="2055896"/>
            <a:ext cx="3218645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0" y="2055897"/>
            <a:ext cx="3754192" cy="449353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64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3891</TotalTime>
  <Words>910</Words>
  <Application>Microsoft Office PowerPoint</Application>
  <PresentationFormat>Widescreen</PresentationFormat>
  <Paragraphs>308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264</cp:revision>
  <dcterms:created xsi:type="dcterms:W3CDTF">2026-03-02T19:00:22Z</dcterms:created>
  <dcterms:modified xsi:type="dcterms:W3CDTF">2026-05-23T09:48:15Z</dcterms:modified>
</cp:coreProperties>
</file>